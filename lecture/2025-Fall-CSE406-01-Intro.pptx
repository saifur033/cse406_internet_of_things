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4.jpg" ContentType="image/jpg"/>
  <Override PartName="/ppt/media/image5.jpg" ContentType="image/jpg"/>
  <Override PartName="/ppt/media/image6.jpg" ContentType="image/jpg"/>
  <Override PartName="/ppt/media/image10.jpg" ContentType="image/jpg"/>
  <Override PartName="/ppt/media/image11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51"/>
  </p:notesMasterIdLst>
  <p:handoutMasterIdLst>
    <p:handoutMasterId r:id="rId52"/>
  </p:handoutMasterIdLst>
  <p:sldIdLst>
    <p:sldId id="264" r:id="rId2"/>
    <p:sldId id="486" r:id="rId3"/>
    <p:sldId id="487" r:id="rId4"/>
    <p:sldId id="470" r:id="rId5"/>
    <p:sldId id="471" r:id="rId6"/>
    <p:sldId id="472" r:id="rId7"/>
    <p:sldId id="473" r:id="rId8"/>
    <p:sldId id="474" r:id="rId9"/>
    <p:sldId id="475" r:id="rId10"/>
    <p:sldId id="47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477" r:id="rId20"/>
    <p:sldId id="478" r:id="rId21"/>
    <p:sldId id="479" r:id="rId22"/>
    <p:sldId id="481" r:id="rId23"/>
    <p:sldId id="480" r:id="rId24"/>
    <p:sldId id="280" r:id="rId25"/>
    <p:sldId id="281" r:id="rId26"/>
    <p:sldId id="282" r:id="rId27"/>
    <p:sldId id="483" r:id="rId28"/>
    <p:sldId id="484" r:id="rId29"/>
    <p:sldId id="482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468" r:id="rId5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8" autoAdjust="0"/>
    <p:restoredTop sz="92131" autoAdjust="0"/>
  </p:normalViewPr>
  <p:slideViewPr>
    <p:cSldViewPr showGuides="1">
      <p:cViewPr varScale="1">
        <p:scale>
          <a:sx n="79" d="100"/>
          <a:sy n="79" d="100"/>
        </p:scale>
        <p:origin x="1122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29-Jun-25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29-Jun-25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0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9822-BAB7-4368-8F24-B53B3A05D627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8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42B6-08B4-44C6-AB01-4B32D9E60F6B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DCF0-EEE2-4CCE-A57D-009BC34499C4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48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3" y="1845734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8FFC-599B-4678-A0EF-54173C5E941B}" type="datetime1">
              <a:rPr lang="en-US" smtClean="0"/>
              <a:t>29-Jun-25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AE2B2-6B71-48AB-A931-E8697405F8CE}" type="datetime1">
              <a:rPr lang="en-US" smtClean="0"/>
              <a:t>29-Jun-25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D7DC-6AFC-4BD3-8485-0F402D55AED0}" type="datetime1">
              <a:rPr lang="en-US" smtClean="0"/>
              <a:t>29-Jun-25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5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B948-3677-4F19-BE0D-E138A2E07B97}" type="datetime1">
              <a:rPr lang="en-US" smtClean="0"/>
              <a:t>29-Jun-25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fld id="{B19E39D1-8478-41A4-843D-9C98DA7A5533}" type="datetime1">
              <a:rPr lang="en-US" smtClean="0"/>
              <a:t>29-Jun-25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4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5074920"/>
            <a:ext cx="10110630" cy="822960"/>
          </a:xfrm>
        </p:spPr>
        <p:txBody>
          <a:bodyPr lIns="91440" tIns="0" rIns="9144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3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B3BD-D38A-41D0-8783-0D4C201EF8EE}" type="datetime1">
              <a:rPr lang="en-US" smtClean="0"/>
              <a:t>29-Jun-25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9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FAF-8F6B-49B5-A761-A35D4D3E14DB}" type="datetime1">
              <a:rPr lang="en-US" smtClean="0"/>
              <a:t>29-Jun-25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6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4779"/>
            <a:ext cx="262821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4778"/>
            <a:ext cx="7732286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8F7C-861B-4B3E-B3B7-41A3299C3875}" type="datetime1">
              <a:rPr lang="en-US" smtClean="0"/>
              <a:t>29-Jun-25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0450" y="1"/>
            <a:ext cx="11998375" cy="1419225"/>
          </a:xfrm>
          <a:custGeom>
            <a:avLst/>
            <a:gdLst/>
            <a:ahLst/>
            <a:cxnLst/>
            <a:rect l="l" t="t" r="r" b="b"/>
            <a:pathLst>
              <a:path w="12001500" h="1419225">
                <a:moveTo>
                  <a:pt x="0" y="1419225"/>
                </a:moveTo>
                <a:lnTo>
                  <a:pt x="12001500" y="1419225"/>
                </a:lnTo>
                <a:lnTo>
                  <a:pt x="12001500" y="0"/>
                </a:lnTo>
                <a:lnTo>
                  <a:pt x="0" y="0"/>
                </a:lnTo>
                <a:lnTo>
                  <a:pt x="0" y="1419225"/>
                </a:lnTo>
                <a:close/>
              </a:path>
            </a:pathLst>
          </a:custGeom>
          <a:solidFill>
            <a:srgbClr val="DAF3FD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90450" cy="6858000"/>
          </a:xfrm>
          <a:custGeom>
            <a:avLst/>
            <a:gdLst/>
            <a:ahLst/>
            <a:cxnLst/>
            <a:rect l="l" t="t" r="r" b="b"/>
            <a:pathLst>
              <a:path w="190500" h="6858000">
                <a:moveTo>
                  <a:pt x="0" y="6857999"/>
                </a:moveTo>
                <a:lnTo>
                  <a:pt x="190500" y="6857999"/>
                </a:lnTo>
                <a:lnTo>
                  <a:pt x="1905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DBC09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700" y="756638"/>
            <a:ext cx="9245732" cy="580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99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59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99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2CFB5-7DCC-4F00-8575-CCB5FB1068D0}" type="datetime1">
              <a:rPr lang="en-US" smtClean="0"/>
              <a:t>29-Jun-25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101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88826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8233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176090"/>
            <a:ext cx="10055781" cy="46930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77EC56-6D43-4DF6-9473-9F94D77662AE}" type="datetime1">
              <a:rPr lang="en-US" smtClean="0"/>
              <a:t>29-Jun-25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12230" y="1143000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01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aihan.islam@ewubd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rnet-of-things-book.com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rnet-of-things-book.com/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1930399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Internet of Things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419600"/>
            <a:ext cx="7008574" cy="1752600"/>
          </a:xfrm>
        </p:spPr>
        <p:txBody>
          <a:bodyPr>
            <a:noAutofit/>
          </a:bodyPr>
          <a:lstStyle/>
          <a:p>
            <a:pPr algn="r"/>
            <a:r>
              <a:rPr lang="en-US" sz="1400" b="1" dirty="0"/>
              <a:t>Dr. Raihan Ul Islam</a:t>
            </a:r>
          </a:p>
          <a:p>
            <a:pPr algn="r"/>
            <a:r>
              <a:rPr lang="en-US" sz="1400" dirty="0"/>
              <a:t>Associate Professor</a:t>
            </a:r>
          </a:p>
          <a:p>
            <a:pPr algn="r"/>
            <a:r>
              <a:rPr lang="en-US" sz="1400" dirty="0"/>
              <a:t>Department of Computer Science &amp; Engineering</a:t>
            </a:r>
          </a:p>
          <a:p>
            <a:pPr algn="r"/>
            <a:r>
              <a:rPr lang="en-US" sz="1400" dirty="0"/>
              <a:t>Room No# AB3-1003</a:t>
            </a:r>
            <a:br>
              <a:rPr lang="en-US" sz="1400" dirty="0"/>
            </a:br>
            <a:r>
              <a:rPr lang="en-US" sz="1400" dirty="0"/>
              <a:t>Email: </a:t>
            </a:r>
            <a:r>
              <a:rPr lang="en-US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raihan.islam@ewubd.edu</a:t>
            </a:r>
            <a:endParaRPr lang="en-US" sz="1400" dirty="0"/>
          </a:p>
          <a:p>
            <a:pPr algn="r"/>
            <a:r>
              <a:rPr lang="en-US" sz="1400" dirty="0"/>
              <a:t>Mobile: +8801992392611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F9BB5-1CF4-61ED-83F2-36817058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6DD03-69E0-4D1A-89C2-9CA7435B8379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4383C-64C0-69F5-19AD-E13611CF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7854-01B8-8253-0000-E5B92FCA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522" y="152400"/>
            <a:ext cx="10055780" cy="1069757"/>
          </a:xfrm>
        </p:spPr>
        <p:txBody>
          <a:bodyPr>
            <a:normAutofit/>
          </a:bodyPr>
          <a:lstStyle/>
          <a:p>
            <a:r>
              <a:rPr lang="en-US" dirty="0"/>
              <a:t>Course Outline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531FA-8EE1-3075-2156-EEE5345E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94" y="6459785"/>
            <a:ext cx="24716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BBE045F-A772-43AE-AD23-C68F130F5B0F}" type="datetime1">
              <a:rPr lang="en-US" smtClean="0"/>
              <a:pPr>
                <a:spcAft>
                  <a:spcPts val="600"/>
                </a:spcAft>
              </a:pPr>
              <a:t>29-Jun-25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F1D9D-226B-B38F-DDB2-850DD4D7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5225" y="6459785"/>
            <a:ext cx="482154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Artificial Intelligence (CSE366/ETE475/ICE475/ICE476/ETE476)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FF299-4AE5-8BB8-57A3-DFE77535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7879" y="6459785"/>
            <a:ext cx="131168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A60BA0E-20D0-4E7C-B286-26C960A6788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3C28636-95E5-8CC2-A8E4-14FE92B1B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41269"/>
              </p:ext>
            </p:extLst>
          </p:nvPr>
        </p:nvGraphicFramePr>
        <p:xfrm>
          <a:off x="1522412" y="1535956"/>
          <a:ext cx="8806934" cy="3786087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12466">
                  <a:extLst>
                    <a:ext uri="{9D8B030D-6E8A-4147-A177-3AD203B41FA5}">
                      <a16:colId xmlns:a16="http://schemas.microsoft.com/office/drawing/2014/main" val="1283332273"/>
                    </a:ext>
                  </a:extLst>
                </a:gridCol>
                <a:gridCol w="814485">
                  <a:extLst>
                    <a:ext uri="{9D8B030D-6E8A-4147-A177-3AD203B41FA5}">
                      <a16:colId xmlns:a16="http://schemas.microsoft.com/office/drawing/2014/main" val="4098123678"/>
                    </a:ext>
                  </a:extLst>
                </a:gridCol>
                <a:gridCol w="814485">
                  <a:extLst>
                    <a:ext uri="{9D8B030D-6E8A-4147-A177-3AD203B41FA5}">
                      <a16:colId xmlns:a16="http://schemas.microsoft.com/office/drawing/2014/main" val="2489905685"/>
                    </a:ext>
                  </a:extLst>
                </a:gridCol>
                <a:gridCol w="814485">
                  <a:extLst>
                    <a:ext uri="{9D8B030D-6E8A-4147-A177-3AD203B41FA5}">
                      <a16:colId xmlns:a16="http://schemas.microsoft.com/office/drawing/2014/main" val="1259079746"/>
                    </a:ext>
                  </a:extLst>
                </a:gridCol>
                <a:gridCol w="882674">
                  <a:extLst>
                    <a:ext uri="{9D8B030D-6E8A-4147-A177-3AD203B41FA5}">
                      <a16:colId xmlns:a16="http://schemas.microsoft.com/office/drawing/2014/main" val="1876102672"/>
                    </a:ext>
                  </a:extLst>
                </a:gridCol>
                <a:gridCol w="1968339">
                  <a:extLst>
                    <a:ext uri="{9D8B030D-6E8A-4147-A177-3AD203B41FA5}">
                      <a16:colId xmlns:a16="http://schemas.microsoft.com/office/drawing/2014/main" val="2874544992"/>
                    </a:ext>
                  </a:extLst>
                </a:gridCol>
              </a:tblGrid>
              <a:tr h="323287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700" u="none" strike="noStrike" dirty="0">
                          <a:effectLst/>
                        </a:rPr>
                        <a:t>Assessment Area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CO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2909715458"/>
                  </a:ext>
                </a:extLst>
              </a:tr>
              <a:tr h="6229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CO1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CO2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CO3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CO4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Assessment Area Mark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3546497346"/>
                  </a:ext>
                </a:extLst>
              </a:tr>
              <a:tr h="323287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700" u="none" strike="noStrike" dirty="0">
                          <a:effectLst/>
                        </a:rPr>
                        <a:t>Class Participation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2 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2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1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 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5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80181232"/>
                  </a:ext>
                </a:extLst>
              </a:tr>
              <a:tr h="323287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700" u="none" strike="noStrike">
                          <a:effectLst/>
                        </a:rPr>
                        <a:t>Class Test/Quiz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 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10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1801910337"/>
                  </a:ext>
                </a:extLst>
              </a:tr>
              <a:tr h="323287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700" u="none" strike="noStrike">
                          <a:effectLst/>
                        </a:rPr>
                        <a:t>Midterm Assessment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20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10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 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30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1867951739"/>
                  </a:ext>
                </a:extLst>
              </a:tr>
              <a:tr h="323287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700" u="none" strike="noStrike">
                          <a:effectLst/>
                        </a:rPr>
                        <a:t>Final Exam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10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20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 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30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4141108704"/>
                  </a:ext>
                </a:extLst>
              </a:tr>
              <a:tr h="5768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700" u="none" strike="noStrike" dirty="0">
                          <a:effectLst/>
                        </a:rPr>
                        <a:t>Laboratory Performance and Lab Exam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10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10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597172733"/>
                  </a:ext>
                </a:extLst>
              </a:tr>
              <a:tr h="3232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700" u="none" strike="noStrike">
                          <a:effectLst/>
                        </a:rPr>
                        <a:t>Mini Project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15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15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2960635650"/>
                  </a:ext>
                </a:extLst>
              </a:tr>
              <a:tr h="3232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700" u="none" strike="noStrike">
                          <a:effectLst/>
                        </a:rPr>
                        <a:t>Assignment/Presentation/Viva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 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1513305544"/>
                  </a:ext>
                </a:extLst>
              </a:tr>
              <a:tr h="323287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700" u="none" strike="noStrike" dirty="0">
                          <a:effectLst/>
                        </a:rPr>
                        <a:t>Total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25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25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25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25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100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4407" marR="14407" marT="14407" marB="0" anchor="ctr"/>
                </a:tc>
                <a:extLst>
                  <a:ext uri="{0D108BD9-81ED-4DB2-BD59-A6C34878D82A}">
                    <a16:rowId xmlns:a16="http://schemas.microsoft.com/office/drawing/2014/main" val="4276598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02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56F9-398A-C22C-AD1A-AC28958F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62BE96-BB63-311C-80D6-A1B3559C3F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879531"/>
              </p:ext>
            </p:extLst>
          </p:nvPr>
        </p:nvGraphicFramePr>
        <p:xfrm>
          <a:off x="3122612" y="457200"/>
          <a:ext cx="4524963" cy="559900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4524963">
                  <a:extLst>
                    <a:ext uri="{9D8B030D-6E8A-4147-A177-3AD203B41FA5}">
                      <a16:colId xmlns:a16="http://schemas.microsoft.com/office/drawing/2014/main" val="1524201607"/>
                    </a:ext>
                  </a:extLst>
                </a:gridCol>
              </a:tblGrid>
              <a:tr h="1364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dirty="0">
                          <a:effectLst/>
                        </a:rPr>
                        <a:t>Course Topic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3481969815"/>
                  </a:ext>
                </a:extLst>
              </a:tr>
              <a:tr h="10100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Introduction to IoT</a:t>
                      </a:r>
                      <a:endParaRPr lang="en-US" sz="6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Basic Concepts and Definitions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Historical Context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Key Characteristics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Applications by Industry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Evolution of Devices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Modern IoT Applications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1114104230"/>
                  </a:ext>
                </a:extLst>
              </a:tr>
              <a:tr h="8644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Sensing and Actuation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Fundamentals of Sensing and Actuation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Types of Sensors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Types of Actuators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Sensor and Actuator Interface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Applications in IoT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1053942048"/>
                  </a:ext>
                </a:extLst>
              </a:tr>
              <a:tr h="8577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Connectivity Technologies in IoT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Short-Range Wireless Technologies (Wi-Fi, Bluetooth, ZigBee, Z-Wave)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Medium to Long-Range Wireless Technologies (LoRa and Lora WAN, NB-IoT, Sigfox)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Others (6LOWPAN, RFID, NFC)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2029423003"/>
                  </a:ext>
                </a:extLst>
              </a:tr>
              <a:tr h="4320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IoT Networking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Components of IoT Architecture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IoT Messaging Protocols (MQTT, CoAP, AMQP)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457839430"/>
                  </a:ext>
                </a:extLst>
              </a:tr>
              <a:tr h="9996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Interoperability in IoT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Importance of Interoperability in IoT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Types of Interoperability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User Interoperability Challenges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Syntactic Interoperability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Semantic Interoperability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1564685200"/>
                  </a:ext>
                </a:extLst>
              </a:tr>
              <a:tr h="7188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Cloud Computing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Definition &amp; Basics of Cloud Computing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Cloud Service Models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Cloud Deployment Models</a:t>
                      </a:r>
                      <a:br>
                        <a:rPr lang="en-US" sz="700">
                          <a:effectLst/>
                        </a:rPr>
                      </a:br>
                      <a:r>
                        <a:rPr lang="en-US" sz="700">
                          <a:effectLst/>
                        </a:rPr>
                        <a:t>Cloud Computing in IoT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4201757509"/>
                  </a:ext>
                </a:extLst>
              </a:tr>
              <a:tr h="1482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Connected Vehicles: Smart Grid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566422774"/>
                  </a:ext>
                </a:extLst>
              </a:tr>
              <a:tr h="1482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>
                          <a:effectLst/>
                        </a:rPr>
                        <a:t>Data Handling and Analytics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54687647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00" dirty="0">
                          <a:effectLst/>
                        </a:rPr>
                        <a:t>Industrial IoT: Agriculture, Healthcare, Activity Monitoring and related case studies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84" marR="41384" marT="0" marB="0" anchor="ctr"/>
                </a:tc>
                <a:extLst>
                  <a:ext uri="{0D108BD9-81ED-4DB2-BD59-A6C34878D82A}">
                    <a16:rowId xmlns:a16="http://schemas.microsoft.com/office/drawing/2014/main" val="139549418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2BCCD-22CE-229C-480D-7E472BCF6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42B6-08B4-44C6-AB01-4B32D9E60F6B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E0C5E-3F7C-E7F0-C65D-8C8B251A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3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E680-C05B-E58F-9C1B-6DE9D0D4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Internet</a:t>
            </a:r>
            <a:r>
              <a:rPr lang="en-US" sz="4800" spc="-45" dirty="0"/>
              <a:t> </a:t>
            </a:r>
            <a:r>
              <a:rPr lang="en-US" sz="4800" dirty="0"/>
              <a:t>of</a:t>
            </a:r>
            <a:r>
              <a:rPr lang="en-US" sz="4800" spc="-45" dirty="0"/>
              <a:t> </a:t>
            </a:r>
            <a:r>
              <a:rPr lang="en-US" sz="4800" dirty="0"/>
              <a:t>things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9E77-CF5D-4CED-78FC-51E56932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/>
              <a:t>Internet</a:t>
            </a:r>
            <a:r>
              <a:rPr lang="en-US" sz="2000" spc="-80" dirty="0"/>
              <a:t> </a:t>
            </a:r>
            <a:r>
              <a:rPr lang="en-US" sz="2000" dirty="0"/>
              <a:t>Of</a:t>
            </a:r>
            <a:r>
              <a:rPr lang="en-US" sz="2000" spc="-80" dirty="0"/>
              <a:t> </a:t>
            </a:r>
            <a:r>
              <a:rPr lang="en-US" sz="2000" dirty="0"/>
              <a:t>Things</a:t>
            </a:r>
            <a:r>
              <a:rPr lang="en-US" sz="2000" spc="-55" dirty="0"/>
              <a:t> </a:t>
            </a:r>
            <a:r>
              <a:rPr lang="en-US" sz="2000" dirty="0"/>
              <a:t>is</a:t>
            </a:r>
            <a:r>
              <a:rPr lang="en-US" sz="2000" spc="-80" dirty="0"/>
              <a:t> </a:t>
            </a:r>
            <a:r>
              <a:rPr lang="en-US" sz="2000" dirty="0"/>
              <a:t>Fully</a:t>
            </a:r>
            <a:r>
              <a:rPr lang="en-US" sz="2000" spc="-65" dirty="0"/>
              <a:t> </a:t>
            </a:r>
            <a:r>
              <a:rPr lang="en-US" sz="2000" spc="-20" dirty="0"/>
              <a:t>Networked</a:t>
            </a:r>
            <a:r>
              <a:rPr lang="en-US" sz="2000" spc="-80" dirty="0"/>
              <a:t> </a:t>
            </a:r>
            <a:r>
              <a:rPr lang="en-US" sz="2000" dirty="0"/>
              <a:t>and</a:t>
            </a:r>
            <a:r>
              <a:rPr lang="en-US" sz="2000" spc="-55" dirty="0"/>
              <a:t> </a:t>
            </a:r>
            <a:r>
              <a:rPr lang="en-US" sz="2000" dirty="0"/>
              <a:t>Connected</a:t>
            </a:r>
            <a:r>
              <a:rPr lang="en-US" sz="2000" spc="-70" dirty="0"/>
              <a:t> </a:t>
            </a:r>
            <a:r>
              <a:rPr lang="en-US" sz="2000" dirty="0"/>
              <a:t>Devices</a:t>
            </a:r>
            <a:r>
              <a:rPr lang="en-US" sz="2000" spc="-60" dirty="0"/>
              <a:t> </a:t>
            </a:r>
            <a:r>
              <a:rPr lang="en-US" sz="2000" spc="-10" dirty="0"/>
              <a:t>sending </a:t>
            </a:r>
            <a:r>
              <a:rPr lang="en-US" sz="2000" dirty="0"/>
              <a:t>analytics</a:t>
            </a:r>
            <a:r>
              <a:rPr lang="en-US" sz="2000" spc="-70" dirty="0"/>
              <a:t> </a:t>
            </a:r>
            <a:r>
              <a:rPr lang="en-US" sz="2000" dirty="0"/>
              <a:t>data</a:t>
            </a:r>
            <a:r>
              <a:rPr lang="en-US" sz="2000" spc="-80" dirty="0"/>
              <a:t> </a:t>
            </a:r>
            <a:r>
              <a:rPr lang="en-US" sz="2000" dirty="0"/>
              <a:t>back</a:t>
            </a:r>
            <a:r>
              <a:rPr lang="en-US" sz="2000" spc="-65" dirty="0"/>
              <a:t> </a:t>
            </a:r>
            <a:r>
              <a:rPr lang="en-US" sz="2000" dirty="0"/>
              <a:t>to</a:t>
            </a:r>
            <a:r>
              <a:rPr lang="en-US" sz="2000" spc="-80" dirty="0"/>
              <a:t> </a:t>
            </a:r>
            <a:r>
              <a:rPr lang="en-US" sz="2000" dirty="0"/>
              <a:t>cloud</a:t>
            </a:r>
            <a:r>
              <a:rPr lang="en-US" sz="2000" spc="-60" dirty="0"/>
              <a:t> </a:t>
            </a:r>
            <a:r>
              <a:rPr lang="en-US" sz="2000" dirty="0"/>
              <a:t>or</a:t>
            </a:r>
            <a:r>
              <a:rPr lang="en-US" sz="2000" spc="-85" dirty="0"/>
              <a:t> </a:t>
            </a:r>
            <a:r>
              <a:rPr lang="en-US" sz="2000" dirty="0"/>
              <a:t>data</a:t>
            </a:r>
            <a:r>
              <a:rPr lang="en-US" sz="2000" spc="-75" dirty="0"/>
              <a:t> </a:t>
            </a:r>
            <a:r>
              <a:rPr lang="en-US" sz="2000" spc="-10" dirty="0"/>
              <a:t>center.</a:t>
            </a:r>
            <a:endParaRPr lang="en-US" sz="2000" dirty="0"/>
          </a:p>
          <a:p>
            <a:pPr marL="240029" marR="324485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/>
              <a:t>The</a:t>
            </a:r>
            <a:r>
              <a:rPr lang="en-US" sz="2000" spc="-45" dirty="0"/>
              <a:t> </a:t>
            </a:r>
            <a:r>
              <a:rPr lang="en-US" sz="2000" dirty="0"/>
              <a:t>definition</a:t>
            </a:r>
            <a:r>
              <a:rPr lang="en-US" sz="2000" spc="-10" dirty="0"/>
              <a:t> </a:t>
            </a:r>
            <a:r>
              <a:rPr lang="en-US" sz="2000" dirty="0"/>
              <a:t>of</a:t>
            </a:r>
            <a:r>
              <a:rPr lang="en-US" sz="2000" spc="-45" dirty="0"/>
              <a:t> </a:t>
            </a:r>
            <a:r>
              <a:rPr lang="en-US" sz="2000" dirty="0"/>
              <a:t>Internet</a:t>
            </a:r>
            <a:r>
              <a:rPr lang="en-US" sz="2000" spc="-45" dirty="0"/>
              <a:t> </a:t>
            </a:r>
            <a:r>
              <a:rPr lang="en-US" sz="2000" dirty="0"/>
              <a:t>of</a:t>
            </a:r>
            <a:r>
              <a:rPr lang="en-US" sz="2000" spc="-45" dirty="0"/>
              <a:t> </a:t>
            </a:r>
            <a:r>
              <a:rPr lang="en-US" sz="2000" dirty="0"/>
              <a:t>things</a:t>
            </a:r>
            <a:r>
              <a:rPr lang="en-US" sz="2000" spc="-25" dirty="0"/>
              <a:t> </a:t>
            </a:r>
            <a:r>
              <a:rPr lang="en-US" sz="2000" dirty="0"/>
              <a:t>is</a:t>
            </a:r>
            <a:r>
              <a:rPr lang="en-US" sz="2000" spc="-40" dirty="0"/>
              <a:t> </a:t>
            </a:r>
            <a:r>
              <a:rPr lang="en-US" sz="2000" dirty="0"/>
              <a:t>that</a:t>
            </a:r>
            <a:r>
              <a:rPr lang="en-US" sz="2000" spc="-35" dirty="0"/>
              <a:t> </a:t>
            </a:r>
            <a:r>
              <a:rPr lang="en-US" sz="2000" dirty="0"/>
              <a:t>it</a:t>
            </a:r>
            <a:r>
              <a:rPr lang="en-US" sz="2000" spc="-50" dirty="0"/>
              <a:t> </a:t>
            </a:r>
            <a:r>
              <a:rPr lang="en-US" sz="2000" dirty="0"/>
              <a:t>is</a:t>
            </a:r>
            <a:r>
              <a:rPr lang="en-US" sz="2000" spc="-40" dirty="0"/>
              <a:t> </a:t>
            </a:r>
            <a:r>
              <a:rPr lang="en-US" sz="2000" dirty="0"/>
              <a:t>the</a:t>
            </a:r>
            <a:r>
              <a:rPr lang="en-US" sz="2000" spc="-40" dirty="0"/>
              <a:t> </a:t>
            </a:r>
            <a:r>
              <a:rPr lang="en-US" sz="2000" dirty="0"/>
              <a:t>network</a:t>
            </a:r>
            <a:r>
              <a:rPr lang="en-US" sz="2000" spc="-40" dirty="0"/>
              <a:t> </a:t>
            </a:r>
            <a:r>
              <a:rPr lang="en-US" sz="2000" dirty="0"/>
              <a:t>in</a:t>
            </a:r>
            <a:r>
              <a:rPr lang="en-US" sz="2000" spc="-35" dirty="0"/>
              <a:t> </a:t>
            </a:r>
            <a:r>
              <a:rPr lang="en-US" sz="2000" spc="-10" dirty="0"/>
              <a:t>which </a:t>
            </a:r>
            <a:r>
              <a:rPr lang="en-US" sz="2000" dirty="0"/>
              <a:t>every</a:t>
            </a:r>
            <a:r>
              <a:rPr lang="en-US" sz="2000" spc="-80" dirty="0"/>
              <a:t> </a:t>
            </a:r>
            <a:r>
              <a:rPr lang="en-US" sz="2000" dirty="0"/>
              <a:t>object</a:t>
            </a:r>
            <a:r>
              <a:rPr lang="en-US" sz="2000" spc="-60" dirty="0"/>
              <a:t> </a:t>
            </a:r>
            <a:r>
              <a:rPr lang="en-US" sz="2000" dirty="0"/>
              <a:t>or</a:t>
            </a:r>
            <a:r>
              <a:rPr lang="en-US" sz="2000" spc="-70" dirty="0"/>
              <a:t> </a:t>
            </a:r>
            <a:r>
              <a:rPr lang="en-US" sz="2000" b="1" dirty="0">
                <a:latin typeface="Calibri"/>
                <a:cs typeface="Calibri"/>
              </a:rPr>
              <a:t>thing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is</a:t>
            </a:r>
            <a:r>
              <a:rPr lang="en-US" sz="2000" b="1" spc="-7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provided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unique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identifier</a:t>
            </a:r>
            <a:r>
              <a:rPr lang="en-US" sz="2000" b="1" spc="-20" dirty="0">
                <a:latin typeface="Calibri"/>
                <a:cs typeface="Calibri"/>
              </a:rPr>
              <a:t> </a:t>
            </a:r>
            <a:r>
              <a:rPr lang="en-US" sz="2000" dirty="0"/>
              <a:t>and</a:t>
            </a:r>
            <a:r>
              <a:rPr lang="en-US" sz="2000" spc="-55" dirty="0"/>
              <a:t> </a:t>
            </a:r>
            <a:r>
              <a:rPr lang="en-US" sz="2000" dirty="0"/>
              <a:t>data</a:t>
            </a:r>
            <a:r>
              <a:rPr lang="en-US" sz="2000" spc="-70" dirty="0"/>
              <a:t> </a:t>
            </a:r>
            <a:r>
              <a:rPr lang="en-US" sz="2000" spc="-25" dirty="0"/>
              <a:t>is </a:t>
            </a:r>
            <a:r>
              <a:rPr lang="en-US" sz="2000" spc="-20" dirty="0"/>
              <a:t>transferred</a:t>
            </a:r>
            <a:r>
              <a:rPr lang="en-US" sz="2000" spc="-70" dirty="0"/>
              <a:t> </a:t>
            </a:r>
            <a:r>
              <a:rPr lang="en-US" sz="2000" dirty="0"/>
              <a:t>through</a:t>
            </a:r>
            <a:r>
              <a:rPr lang="en-US" sz="2000" spc="-55" dirty="0"/>
              <a:t> </a:t>
            </a:r>
            <a:r>
              <a:rPr lang="en-US" sz="2000" dirty="0"/>
              <a:t>a</a:t>
            </a:r>
            <a:r>
              <a:rPr lang="en-US" sz="2000" spc="-85" dirty="0"/>
              <a:t> </a:t>
            </a:r>
            <a:r>
              <a:rPr lang="en-US" sz="2000" dirty="0"/>
              <a:t>network</a:t>
            </a:r>
            <a:r>
              <a:rPr lang="en-US" sz="2000" spc="-85" dirty="0"/>
              <a:t> </a:t>
            </a:r>
            <a:r>
              <a:rPr lang="en-US" sz="2000" dirty="0"/>
              <a:t>without</a:t>
            </a:r>
            <a:r>
              <a:rPr lang="en-US" sz="2000" spc="-70" dirty="0"/>
              <a:t> </a:t>
            </a:r>
            <a:r>
              <a:rPr lang="en-US" sz="2000" dirty="0"/>
              <a:t>any</a:t>
            </a:r>
            <a:r>
              <a:rPr lang="en-US" sz="2000" spc="-80" dirty="0"/>
              <a:t> </a:t>
            </a:r>
            <a:r>
              <a:rPr lang="en-US" sz="2000" dirty="0"/>
              <a:t>verbal</a:t>
            </a:r>
            <a:r>
              <a:rPr lang="en-US" sz="2000" spc="-85" dirty="0"/>
              <a:t> </a:t>
            </a:r>
            <a:r>
              <a:rPr lang="en-US" sz="2000" spc="-10" dirty="0"/>
              <a:t>communication.</a:t>
            </a:r>
            <a:endParaRPr lang="en-US" sz="2000" dirty="0">
              <a:latin typeface="Calibri"/>
              <a:cs typeface="Calibri"/>
            </a:endParaRPr>
          </a:p>
          <a:p>
            <a:pPr marL="240029" marR="361950" indent="-227329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Scope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IoT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is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not</a:t>
            </a:r>
            <a:r>
              <a:rPr lang="en-US" sz="2000" b="1" spc="-6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just</a:t>
            </a:r>
            <a:r>
              <a:rPr lang="en-US" sz="2000" b="1" spc="-6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limited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to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just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connecting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things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to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spc="-25" dirty="0">
                <a:latin typeface="Calibri"/>
                <a:cs typeface="Calibri"/>
              </a:rPr>
              <a:t>the </a:t>
            </a:r>
            <a:r>
              <a:rPr lang="en-US" sz="2000" b="1" spc="-10" dirty="0">
                <a:latin typeface="Calibri"/>
                <a:cs typeface="Calibri"/>
              </a:rPr>
              <a:t>internet,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but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it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allows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these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things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to</a:t>
            </a:r>
            <a:r>
              <a:rPr lang="en-US" sz="2000" b="1" spc="-60" dirty="0">
                <a:latin typeface="Calibri"/>
                <a:cs typeface="Calibri"/>
              </a:rPr>
              <a:t> </a:t>
            </a:r>
            <a:r>
              <a:rPr lang="en-US" sz="2000" b="1" spc="-20" dirty="0">
                <a:latin typeface="Calibri"/>
                <a:cs typeface="Calibri"/>
              </a:rPr>
              <a:t>communicate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and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exchange </a:t>
            </a:r>
            <a:r>
              <a:rPr lang="en-US" sz="2000" b="1" dirty="0">
                <a:latin typeface="Calibri"/>
                <a:cs typeface="Calibri"/>
              </a:rPr>
              <a:t>data,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process</a:t>
            </a:r>
            <a:r>
              <a:rPr lang="en-US" sz="2000" b="1" spc="-8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them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as</a:t>
            </a:r>
            <a:r>
              <a:rPr lang="en-US" sz="2000" b="1" spc="-8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well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as</a:t>
            </a:r>
            <a:r>
              <a:rPr lang="en-US" sz="2000" b="1" spc="-8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control</a:t>
            </a:r>
            <a:r>
              <a:rPr lang="en-US" sz="2000" b="1" spc="-7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them</a:t>
            </a:r>
            <a:r>
              <a:rPr lang="en-US" sz="2000" b="1" spc="-7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while</a:t>
            </a:r>
            <a:r>
              <a:rPr lang="en-US" sz="2000" b="1" spc="-8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executing applications.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958F5-6E3E-29ED-3E2D-7C0342DC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9A5D2-1F9D-400E-9F90-84C74F767009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B7E52-F0AE-92B0-5481-8FD111F5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6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C8BD-857A-B963-7E62-94EF3B4F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9DE38-E316-AF06-5AC6-8200FD7CD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dynamic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global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network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infrastructure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self-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configuring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capabilities</a:t>
            </a:r>
            <a:endParaRPr lang="en-US" sz="2000" dirty="0">
              <a:latin typeface="Calibri"/>
              <a:cs typeface="Calibri"/>
            </a:endParaRPr>
          </a:p>
          <a:p>
            <a:pPr marL="241300" marR="434975">
              <a:lnSpc>
                <a:spcPct val="200000"/>
              </a:lnSpc>
            </a:pP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standard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interoperable</a:t>
            </a:r>
            <a:r>
              <a:rPr lang="en-US" sz="2000" b="1" spc="-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communication</a:t>
            </a:r>
            <a:r>
              <a:rPr lang="en-US" sz="2000" b="1" spc="-8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protocols,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where physical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virtual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“things”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identities,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physical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attributes,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use </a:t>
            </a:r>
            <a:r>
              <a:rPr lang="en-US" sz="2000" spc="-10" dirty="0">
                <a:latin typeface="Calibri"/>
                <a:cs typeface="Calibri"/>
              </a:rPr>
              <a:t>intelligent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interfaces,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seamlessly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b="1" spc="-20" dirty="0">
                <a:latin typeface="Calibri"/>
                <a:cs typeface="Calibri"/>
              </a:rPr>
              <a:t>integrated</a:t>
            </a:r>
            <a:r>
              <a:rPr lang="en-US" sz="2000" b="1" spc="-1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into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information </a:t>
            </a:r>
            <a:r>
              <a:rPr lang="en-US" sz="2000" b="1" dirty="0">
                <a:latin typeface="Calibri"/>
                <a:cs typeface="Calibri"/>
              </a:rPr>
              <a:t>network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communicate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users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environments.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D1C2-0117-EEB9-A8E7-6DA92B56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F3238-55D3-46BB-A67F-F3F697BD03DA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9CEFA-8247-7457-1AC2-2A8F1A9F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4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6FC6-8B41-355A-200F-8F0E4A6F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B9A0-4367-5544-ABA9-812BA51DA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b="1" dirty="0">
                <a:latin typeface="Calibri"/>
                <a:cs typeface="Calibri"/>
              </a:rPr>
              <a:t>Dynamic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Global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network</a:t>
            </a:r>
            <a:r>
              <a:rPr lang="en-US" sz="2400" b="1" spc="-5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&amp;</a:t>
            </a:r>
            <a:r>
              <a:rPr lang="en-US" sz="2400" b="1" spc="-80" dirty="0">
                <a:latin typeface="Calibri"/>
                <a:cs typeface="Calibri"/>
              </a:rPr>
              <a:t> </a:t>
            </a:r>
            <a:r>
              <a:rPr lang="en-US" sz="2400" b="1" spc="-20" dirty="0">
                <a:latin typeface="Calibri"/>
                <a:cs typeface="Calibri"/>
              </a:rPr>
              <a:t>Self-</a:t>
            </a:r>
            <a:r>
              <a:rPr lang="en-US" sz="2400" b="1" dirty="0">
                <a:latin typeface="Calibri"/>
                <a:cs typeface="Calibri"/>
              </a:rPr>
              <a:t>Adapting</a:t>
            </a:r>
            <a:r>
              <a:rPr lang="en-US" sz="2400" b="1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Adapt</a:t>
            </a:r>
            <a:r>
              <a:rPr lang="en-US" sz="2400" spc="-7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changes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w.r.t </a:t>
            </a:r>
            <a:r>
              <a:rPr lang="en-US" sz="2400" dirty="0">
                <a:latin typeface="Calibri"/>
                <a:cs typeface="Calibri"/>
              </a:rPr>
              <a:t>changing</a:t>
            </a:r>
            <a:r>
              <a:rPr lang="en-US" sz="2400" spc="-9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contexts</a:t>
            </a:r>
            <a:endParaRPr lang="en-US" sz="2400" dirty="0">
              <a:latin typeface="Calibri"/>
              <a:cs typeface="Calibri"/>
            </a:endParaRPr>
          </a:p>
          <a:p>
            <a:pPr marL="240029" marR="20066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3419475" algn="l"/>
              </a:tabLst>
            </a:pPr>
            <a:r>
              <a:rPr lang="en-US" sz="2400" b="1" dirty="0">
                <a:latin typeface="Calibri"/>
                <a:cs typeface="Calibri"/>
              </a:rPr>
              <a:t>Self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Configuring</a:t>
            </a:r>
            <a:r>
              <a:rPr lang="en-US" sz="2400" b="1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E.g. </a:t>
            </a:r>
            <a:r>
              <a:rPr lang="en-US" sz="2400" spc="-10" dirty="0">
                <a:latin typeface="Calibri"/>
                <a:cs typeface="Calibri"/>
              </a:rPr>
              <a:t>Fetching</a:t>
            </a:r>
            <a:r>
              <a:rPr lang="en-US" sz="2400" spc="-1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latest</a:t>
            </a:r>
            <a:r>
              <a:rPr lang="en-US" sz="2400" spc="-1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s/w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updates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without</a:t>
            </a:r>
            <a:r>
              <a:rPr lang="en-US" sz="2400" spc="-8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manual intervention.</a:t>
            </a:r>
            <a:endParaRPr lang="en-US" sz="2400" dirty="0">
              <a:latin typeface="Calibri"/>
              <a:cs typeface="Calibri"/>
            </a:endParaRPr>
          </a:p>
          <a:p>
            <a:pPr marL="240029" marR="31115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b="1" spc="-20" dirty="0">
                <a:latin typeface="Calibri"/>
                <a:cs typeface="Calibri"/>
              </a:rPr>
              <a:t>Interoperable</a:t>
            </a:r>
            <a:r>
              <a:rPr lang="en-US" sz="2400" b="1" spc="-50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Communication</a:t>
            </a:r>
            <a:r>
              <a:rPr lang="en-US" sz="2400" b="1" spc="-9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Protocols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9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Communicate</a:t>
            </a:r>
            <a:r>
              <a:rPr lang="en-US" sz="2400" spc="-8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through </a:t>
            </a:r>
            <a:r>
              <a:rPr lang="en-US" sz="2400" dirty="0">
                <a:latin typeface="Calibri"/>
                <a:cs typeface="Calibri"/>
              </a:rPr>
              <a:t>various</a:t>
            </a:r>
            <a:r>
              <a:rPr lang="en-US" sz="2400" spc="-1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protocols</a:t>
            </a:r>
            <a:endParaRPr lang="en-U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b="1" dirty="0">
                <a:latin typeface="Calibri"/>
                <a:cs typeface="Calibri"/>
              </a:rPr>
              <a:t>Unique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Identity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Such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Unique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IP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Address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or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URI</a:t>
            </a:r>
            <a:endParaRPr lang="en-US" sz="2400" dirty="0">
              <a:latin typeface="Calibri"/>
              <a:cs typeface="Calibri"/>
            </a:endParaRPr>
          </a:p>
          <a:p>
            <a:pPr marL="240029" marR="3683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b="1" spc="-20" dirty="0">
                <a:latin typeface="Calibri"/>
                <a:cs typeface="Calibri"/>
              </a:rPr>
              <a:t>Integrated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into</a:t>
            </a:r>
            <a:r>
              <a:rPr lang="en-US" sz="2400" b="1" spc="-8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Information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Network</a:t>
            </a:r>
            <a:r>
              <a:rPr lang="en-US" sz="2400" b="1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:</a:t>
            </a:r>
            <a:r>
              <a:rPr lang="en-US" sz="2400" spc="-8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This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allows</a:t>
            </a:r>
            <a:r>
              <a:rPr lang="en-US" sz="2400" spc="-9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9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communicate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9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exchange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data</a:t>
            </a:r>
            <a:r>
              <a:rPr lang="en-US" sz="2400" spc="-9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-9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other</a:t>
            </a:r>
            <a:r>
              <a:rPr lang="en-US" sz="2400" spc="-8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devices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9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perform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certain</a:t>
            </a:r>
            <a:r>
              <a:rPr lang="en-US" sz="2400" spc="-1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analysis.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45682-25B4-D94E-0C5A-6EFBC6FA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F9F9-0508-4042-ADE8-2682CD5D414F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8D651-2046-D641-4040-603097BA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7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23D58-6FC3-730E-21DC-A484323E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Design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5C8D1-475D-770C-A049-D33912575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0029" indent="-227329" algn="ctr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4800" dirty="0">
                <a:latin typeface="Calibri"/>
                <a:cs typeface="Calibri"/>
              </a:rPr>
              <a:t>Things</a:t>
            </a:r>
            <a:r>
              <a:rPr lang="en-US" sz="4800" spc="-40" dirty="0">
                <a:latin typeface="Calibri"/>
                <a:cs typeface="Calibri"/>
              </a:rPr>
              <a:t> </a:t>
            </a:r>
            <a:r>
              <a:rPr lang="en-US" sz="4800" dirty="0">
                <a:latin typeface="Calibri"/>
                <a:cs typeface="Calibri"/>
              </a:rPr>
              <a:t>in</a:t>
            </a:r>
            <a:r>
              <a:rPr lang="en-US" sz="4800" spc="-50" dirty="0">
                <a:latin typeface="Calibri"/>
                <a:cs typeface="Calibri"/>
              </a:rPr>
              <a:t> </a:t>
            </a:r>
            <a:r>
              <a:rPr lang="en-US" sz="4800" spc="-25" dirty="0">
                <a:latin typeface="Calibri"/>
                <a:cs typeface="Calibri"/>
              </a:rPr>
              <a:t>IoT</a:t>
            </a:r>
            <a:endParaRPr lang="en-US" sz="4800" dirty="0">
              <a:latin typeface="Calibri"/>
              <a:cs typeface="Calibri"/>
            </a:endParaRPr>
          </a:p>
          <a:p>
            <a:pPr marL="240029" indent="-227329" algn="ctr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4800" dirty="0">
                <a:latin typeface="Calibri"/>
                <a:cs typeface="Calibri"/>
              </a:rPr>
              <a:t>IoT</a:t>
            </a:r>
            <a:r>
              <a:rPr lang="en-US" sz="4800" spc="-5" dirty="0">
                <a:latin typeface="Calibri"/>
                <a:cs typeface="Calibri"/>
              </a:rPr>
              <a:t> </a:t>
            </a:r>
            <a:r>
              <a:rPr lang="en-US" sz="4800" spc="-10" dirty="0">
                <a:latin typeface="Calibri"/>
                <a:cs typeface="Calibri"/>
              </a:rPr>
              <a:t>Protocols</a:t>
            </a:r>
            <a:endParaRPr lang="en-US" sz="48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6BA65-B458-1213-8EB4-D16D6C62F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0A9E-CBC7-49C6-9AF1-5BA9D540329C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6EBE41-8E68-B9C0-19BA-EDE43A5F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1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BDBE-F9BD-2F05-15E5-AB7472A0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in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0B1F4-B6B9-F760-DECD-069FD1E42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0029" marR="635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Refers</a:t>
            </a:r>
            <a:r>
              <a:rPr lang="en-US" sz="2000" spc="2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IoT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unique</a:t>
            </a:r>
            <a:r>
              <a:rPr lang="en-US" sz="2000" b="1" spc="22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identities</a:t>
            </a:r>
            <a:r>
              <a:rPr lang="en-US" sz="2000" b="1" spc="2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perform </a:t>
            </a:r>
            <a:r>
              <a:rPr lang="en-US" sz="2000" b="1" dirty="0">
                <a:latin typeface="Calibri"/>
                <a:cs typeface="Calibri"/>
              </a:rPr>
              <a:t>sensing,</a:t>
            </a:r>
            <a:r>
              <a:rPr lang="en-US" sz="2000" b="1" spc="-9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actuating</a:t>
            </a:r>
            <a:r>
              <a:rPr lang="en-US" sz="2000" b="1" spc="-9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and</a:t>
            </a:r>
            <a:r>
              <a:rPr lang="en-US" sz="2000" b="1" spc="-10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monitoring</a:t>
            </a:r>
            <a:r>
              <a:rPr lang="en-US" sz="2000" b="1" spc="-8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capabilities.</a:t>
            </a:r>
            <a:endParaRPr lang="en-US" sz="2000" b="1" dirty="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IoT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exchange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connected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collect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2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from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2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either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locally</a:t>
            </a:r>
            <a:r>
              <a:rPr lang="en-US" sz="2000" spc="2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27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send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centralized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servers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cloud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–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application</a:t>
            </a:r>
            <a:r>
              <a:rPr lang="en-US" sz="2000" spc="-20" dirty="0">
                <a:latin typeface="Calibri"/>
                <a:cs typeface="Calibri"/>
              </a:rPr>
              <a:t> back-ends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processing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data.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0702C-584F-910B-D868-5F03D22E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BE32-F2E7-4F87-A9BC-AD0C8AE667B2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70869-1E1F-4E85-D063-200ACEB4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624A-EE55-EF35-0107-E8DCC44E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</a:t>
            </a:r>
            <a:r>
              <a:rPr lang="en-US" spc="-85" dirty="0"/>
              <a:t> </a:t>
            </a:r>
            <a:r>
              <a:rPr lang="en-US" dirty="0"/>
              <a:t>Block</a:t>
            </a:r>
            <a:r>
              <a:rPr lang="en-US" spc="-60" dirty="0"/>
              <a:t> </a:t>
            </a:r>
            <a:r>
              <a:rPr lang="en-US" dirty="0"/>
              <a:t>Diagram</a:t>
            </a:r>
            <a:r>
              <a:rPr lang="en-US" spc="-55" dirty="0"/>
              <a:t> </a:t>
            </a:r>
            <a:r>
              <a:rPr lang="en-US" dirty="0"/>
              <a:t>of</a:t>
            </a:r>
            <a:r>
              <a:rPr lang="en-US" spc="-60" dirty="0"/>
              <a:t> </a:t>
            </a:r>
            <a:r>
              <a:rPr lang="en-US" dirty="0"/>
              <a:t>an</a:t>
            </a:r>
            <a:r>
              <a:rPr lang="en-US" spc="-55" dirty="0"/>
              <a:t> </a:t>
            </a:r>
            <a:r>
              <a:rPr lang="en-US" dirty="0"/>
              <a:t>IoT</a:t>
            </a:r>
            <a:r>
              <a:rPr lang="en-US" spc="-40" dirty="0"/>
              <a:t> </a:t>
            </a:r>
            <a:r>
              <a:rPr lang="en-US" spc="-10" dirty="0"/>
              <a:t>Device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AD074-E6EB-CB53-6EEE-850CBA1C9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95" y="1176090"/>
            <a:ext cx="4997417" cy="4693004"/>
          </a:xfrm>
        </p:spPr>
        <p:txBody>
          <a:bodyPr/>
          <a:lstStyle/>
          <a:p>
            <a:pPr marL="240029" marR="80645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IoT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device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may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consist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of 	</a:t>
            </a:r>
            <a:r>
              <a:rPr lang="en-US" sz="2800" dirty="0">
                <a:latin typeface="Calibri"/>
                <a:cs typeface="Calibri"/>
              </a:rPr>
              <a:t>several</a:t>
            </a:r>
            <a:r>
              <a:rPr lang="en-US" sz="2800" spc="-13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interfaces</a:t>
            </a:r>
            <a:r>
              <a:rPr lang="en-US" sz="2800" spc="-13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for </a:t>
            </a:r>
            <a:r>
              <a:rPr lang="en-US" sz="2800" dirty="0">
                <a:latin typeface="Calibri"/>
                <a:cs typeface="Calibri"/>
              </a:rPr>
              <a:t>connections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other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devices, 	</a:t>
            </a:r>
            <a:r>
              <a:rPr lang="en-US" sz="2800" dirty="0">
                <a:latin typeface="Calibri"/>
                <a:cs typeface="Calibri"/>
              </a:rPr>
              <a:t>both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wired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wireless.</a:t>
            </a:r>
            <a:endParaRPr lang="en-US" sz="28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lang="en-US" sz="2400" dirty="0">
                <a:latin typeface="Calibri"/>
                <a:cs typeface="Calibri"/>
              </a:rPr>
              <a:t>I/O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interfaces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for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sensors</a:t>
            </a:r>
            <a:endParaRPr lang="en-US" sz="2400" dirty="0">
              <a:latin typeface="Calibri"/>
              <a:cs typeface="Calibri"/>
            </a:endParaRPr>
          </a:p>
          <a:p>
            <a:pPr marL="697230" marR="1157605" lvl="1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10" dirty="0">
                <a:latin typeface="Calibri"/>
                <a:cs typeface="Calibri"/>
              </a:rPr>
              <a:t>Interfaces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for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internet 	connectivity</a:t>
            </a:r>
            <a:endParaRPr lang="en-US"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lang="en-US" sz="2400" dirty="0">
                <a:latin typeface="Calibri"/>
                <a:cs typeface="Calibri"/>
              </a:rPr>
              <a:t>Memory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storage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interfaces</a:t>
            </a:r>
            <a:endParaRPr lang="en-US"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lang="en-US" sz="2400" dirty="0">
                <a:latin typeface="Calibri"/>
                <a:cs typeface="Calibri"/>
              </a:rPr>
              <a:t>Audio/video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interfaces</a:t>
            </a:r>
            <a:endParaRPr lang="en-US" sz="24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9CF6-AD19-1053-8ED8-E9E84B74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6F701-F039-4EC2-9A1F-34FB542E22B2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6FDC0-3D64-88D7-C738-D5468C52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9</a:t>
            </a:fld>
            <a:endParaRPr lang="en-US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693AF7D6-F257-8961-84D7-9ECECDCBD8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6001" y="2133600"/>
            <a:ext cx="5932824" cy="298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1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0416-26DF-086B-0570-F3001CBB4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</a:t>
            </a:r>
            <a:r>
              <a:rPr lang="en-US" spc="-55" dirty="0"/>
              <a:t> </a:t>
            </a:r>
            <a:r>
              <a:rPr lang="en-US" spc="-10" dirty="0"/>
              <a:t>Protocols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F7DF-DC54-E537-4F1A-3F745CC81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95" y="1234548"/>
            <a:ext cx="4387818" cy="4693004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Link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802.3 – Ethernet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802.11 – </a:t>
            </a:r>
            <a:r>
              <a:rPr lang="en-US" sz="9400" dirty="0" err="1"/>
              <a:t>WiFi</a:t>
            </a:r>
            <a:endParaRPr lang="en-US" sz="9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802.16 – </a:t>
            </a:r>
            <a:r>
              <a:rPr lang="en-US" sz="9400" dirty="0" err="1"/>
              <a:t>WiMax</a:t>
            </a:r>
            <a:endParaRPr lang="en-US" sz="9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802.15.4 – LR-WPAN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2G/3G/4G</a:t>
            </a:r>
          </a:p>
          <a:p>
            <a:r>
              <a:rPr lang="en-US" sz="9600" dirty="0"/>
              <a:t>Network/Internet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IPv4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IPv6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6LoWPAN</a:t>
            </a:r>
          </a:p>
          <a:p>
            <a:r>
              <a:rPr lang="en-US" sz="9600" dirty="0"/>
              <a:t>Transport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TCP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400" dirty="0"/>
              <a:t>UDP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30986-E64F-B5A8-9197-E2B21D8D5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AB9C-88EA-439D-8B15-53C5C6960CFD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E926F-330B-7F9E-906B-CF77F7D4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10</a:t>
            </a:fld>
            <a:endParaRPr lang="en-US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A16081B5-0D20-C177-7746-3DD36D6CAD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7412" y="1263777"/>
            <a:ext cx="4624836" cy="463454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EA9882-9F74-A6A4-AE67-C2D2D0DD201D}"/>
              </a:ext>
            </a:extLst>
          </p:cNvPr>
          <p:cNvSpPr txBox="1">
            <a:spLocks/>
          </p:cNvSpPr>
          <p:nvPr/>
        </p:nvSpPr>
        <p:spPr>
          <a:xfrm>
            <a:off x="4341812" y="1247810"/>
            <a:ext cx="4387818" cy="46930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13" indent="-91413" algn="l" defTabSz="914126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99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3933" indent="-182825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799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758" indent="-182825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583" indent="-182825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408" indent="-182825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670" indent="-228531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610" indent="-228531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550" indent="-228531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490" indent="-228531" algn="l" defTabSz="914126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Application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HTTP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CoAP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WebSocket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MQTT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XMPP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DDS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AMQP</a:t>
            </a:r>
          </a:p>
        </p:txBody>
      </p:sp>
    </p:spTree>
    <p:extLst>
      <p:ext uri="{BB962C8B-B14F-4D97-AF65-F5344CB8AC3E}">
        <p14:creationId xmlns:p14="http://schemas.microsoft.com/office/powerpoint/2010/main" val="304304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90" dirty="0"/>
              <a:t> </a:t>
            </a:r>
            <a:r>
              <a:rPr spc="-20" dirty="0"/>
              <a:t>Protocols…Link</a:t>
            </a:r>
            <a:r>
              <a:rPr spc="-110" dirty="0"/>
              <a:t> </a:t>
            </a:r>
            <a:r>
              <a:rPr spc="-10" dirty="0"/>
              <a:t>Layer…Ethernet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48943" y="1700726"/>
          <a:ext cx="8505513" cy="3115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Sr.No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Standard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Shared</a:t>
                      </a:r>
                      <a:r>
                        <a:rPr sz="2400" b="1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medium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Coaxial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Cable…10BASE5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802.3.i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Copper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Twisted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pair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…..10BASE-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802.3.j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Fiber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Optic……10BASE-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802.3.ae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Fiber…..10Gbits/s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93027" y="4938383"/>
            <a:ext cx="8715645" cy="452002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2799" dirty="0">
                <a:latin typeface="Calibri"/>
                <a:cs typeface="Calibri"/>
              </a:rPr>
              <a:t>Data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Rates</a:t>
            </a:r>
            <a:r>
              <a:rPr sz="2799" spc="-11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are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provided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from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10Gbit/s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11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40Gb/s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higher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BE7D5C-D4C1-2D30-8DC3-E3183467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19DF-9127-40DA-B445-D00FC3C84728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B58FB-659C-E9B6-53D2-35862610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90" dirty="0"/>
              <a:t> </a:t>
            </a:r>
            <a:r>
              <a:rPr spc="-20" dirty="0"/>
              <a:t>Protocols…Link</a:t>
            </a:r>
            <a:r>
              <a:rPr spc="-110" dirty="0"/>
              <a:t> </a:t>
            </a:r>
            <a:r>
              <a:rPr spc="-10" dirty="0"/>
              <a:t>Layer…WiFi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761747"/>
              </p:ext>
            </p:extLst>
          </p:nvPr>
        </p:nvGraphicFramePr>
        <p:xfrm>
          <a:off x="1979612" y="1392073"/>
          <a:ext cx="8505513" cy="3937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4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Sr.No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R="434975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Standard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Operates</a:t>
                      </a:r>
                      <a:r>
                        <a:rPr sz="2400" b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802.11a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GHz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band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802.11b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802.11g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2.4GHz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band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47434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802.11.n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2.4/5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GHz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bands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R="40830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802.11.ac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5GHz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band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R="39243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802.11.ad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60Hz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band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3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08212" y="5465927"/>
            <a:ext cx="5684309" cy="878611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469124" indent="-456428">
              <a:spcBef>
                <a:spcPts val="9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Collection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of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Wireless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LAN</a:t>
            </a:r>
            <a:endParaRPr sz="2799" dirty="0">
              <a:latin typeface="Calibri"/>
              <a:cs typeface="Calibri"/>
            </a:endParaRPr>
          </a:p>
          <a:p>
            <a:pPr marL="469124" indent="-456428"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Data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Rates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from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1Mb/s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6.75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Gb/s</a:t>
            </a:r>
            <a:endParaRPr sz="2799" dirty="0">
              <a:latin typeface="Calibri"/>
              <a:cs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DA7FF5-68F2-7111-C43D-67A00C47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23A5-535F-462B-8033-6D3ECE4D7B06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71CB5-51C3-2F21-4DF6-6D407F3C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90" dirty="0"/>
              <a:t> </a:t>
            </a:r>
            <a:r>
              <a:rPr spc="-20" dirty="0"/>
              <a:t>Protocols…Link</a:t>
            </a:r>
            <a:r>
              <a:rPr spc="-110" dirty="0"/>
              <a:t> </a:t>
            </a:r>
            <a:r>
              <a:rPr spc="-10" dirty="0"/>
              <a:t>Layer…WiMax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74336" y="1548365"/>
          <a:ext cx="8505513" cy="1279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4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Sr.No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Standard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Rate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802.16m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364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100Mb/s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stations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1Gb/s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stations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008870" y="3096981"/>
            <a:ext cx="6760989" cy="878611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469124" indent="-456428">
              <a:spcBef>
                <a:spcPts val="9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Collection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of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Wireless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Broadband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standards</a:t>
            </a:r>
            <a:endParaRPr sz="2799">
              <a:latin typeface="Calibri"/>
              <a:cs typeface="Calibri"/>
            </a:endParaRPr>
          </a:p>
          <a:p>
            <a:pPr marL="469124" indent="-456428"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Data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Rates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from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1.5Mb/s</a:t>
            </a:r>
            <a:r>
              <a:rPr sz="2799" spc="-4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1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Gb/s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32697B-07CA-B486-9648-E0B1A4EC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563C-4923-46B5-A7EE-DDF5D2D7C507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65944-652E-BA8F-9DD4-5BA4FCDC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65" dirty="0"/>
              <a:t> </a:t>
            </a:r>
            <a:r>
              <a:rPr spc="-20" dirty="0"/>
              <a:t>Protocols…Link</a:t>
            </a:r>
            <a:r>
              <a:rPr spc="-80" dirty="0"/>
              <a:t> </a:t>
            </a:r>
            <a:r>
              <a:rPr spc="-30" dirty="0"/>
              <a:t>Layer…LR-</a:t>
            </a:r>
            <a:r>
              <a:rPr spc="-20" dirty="0"/>
              <a:t>WPAN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7588" y="1557405"/>
            <a:ext cx="9080675" cy="386614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759" marR="226627" indent="-457697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Collection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of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standards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for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low-</a:t>
            </a:r>
            <a:r>
              <a:rPr sz="2799" dirty="0">
                <a:latin typeface="Calibri"/>
                <a:cs typeface="Calibri"/>
              </a:rPr>
              <a:t>rate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wireless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personal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area </a:t>
            </a:r>
            <a:r>
              <a:rPr sz="2799" spc="-10" dirty="0">
                <a:latin typeface="Calibri"/>
                <a:cs typeface="Calibri"/>
              </a:rPr>
              <a:t>networks</a:t>
            </a:r>
            <a:endParaRPr sz="2799">
              <a:latin typeface="Calibri"/>
              <a:cs typeface="Calibri"/>
            </a:endParaRPr>
          </a:p>
          <a:p>
            <a:pPr marL="469124" indent="-456428">
              <a:spcBef>
                <a:spcPts val="1679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Basis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for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high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level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communication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protocols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such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as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Zigbee</a:t>
            </a:r>
            <a:endParaRPr sz="2799">
              <a:latin typeface="Calibri"/>
              <a:cs typeface="Calibri"/>
            </a:endParaRPr>
          </a:p>
          <a:p>
            <a:pPr marL="469124" indent="-456428">
              <a:spcBef>
                <a:spcPts val="1679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Data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Rates</a:t>
            </a:r>
            <a:r>
              <a:rPr sz="2799" spc="-11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from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40Kb/s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250Kb/s</a:t>
            </a:r>
            <a:endParaRPr sz="2799">
              <a:latin typeface="Calibri"/>
              <a:cs typeface="Calibri"/>
            </a:endParaRPr>
          </a:p>
          <a:p>
            <a:pPr marL="469759" marR="182190" indent="-457697">
              <a:lnSpc>
                <a:spcPct val="150000"/>
              </a:lnSpc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Provide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low-</a:t>
            </a:r>
            <a:r>
              <a:rPr sz="2799" dirty="0">
                <a:latin typeface="Calibri"/>
                <a:cs typeface="Calibri"/>
              </a:rPr>
              <a:t>cost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low-</a:t>
            </a:r>
            <a:r>
              <a:rPr sz="2799" dirty="0">
                <a:latin typeface="Calibri"/>
                <a:cs typeface="Calibri"/>
              </a:rPr>
              <a:t>speed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communication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for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power constrained</a:t>
            </a:r>
            <a:r>
              <a:rPr sz="2799" spc="-14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devices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1C42B-8F06-9CAF-F9C1-F0707026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BC4C-5ED6-456E-AA89-B780F7D5439C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1FF7D-7B97-EF8F-3A69-F1B04432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700" y="75295"/>
            <a:ext cx="9402536" cy="1183332"/>
          </a:xfrm>
          <a:prstGeom prst="rect">
            <a:avLst/>
          </a:prstGeom>
        </p:spPr>
        <p:txBody>
          <a:bodyPr vert="horz" wrap="square" lIns="0" tIns="81259" rIns="0" bIns="0" rtlCol="0" anchor="b">
            <a:spAutoFit/>
          </a:bodyPr>
          <a:lstStyle/>
          <a:p>
            <a:pPr marL="12696" marR="5078">
              <a:lnSpc>
                <a:spcPts val="4319"/>
              </a:lnSpc>
              <a:spcBef>
                <a:spcPts val="640"/>
              </a:spcBef>
            </a:pPr>
            <a:r>
              <a:rPr sz="3999" dirty="0"/>
              <a:t>IoT</a:t>
            </a:r>
            <a:r>
              <a:rPr sz="3999" spc="-90" dirty="0"/>
              <a:t> </a:t>
            </a:r>
            <a:r>
              <a:rPr sz="3999" spc="-20" dirty="0"/>
              <a:t>Protocols…Link</a:t>
            </a:r>
            <a:r>
              <a:rPr sz="3999" spc="-100" dirty="0"/>
              <a:t> </a:t>
            </a:r>
            <a:r>
              <a:rPr sz="3999" spc="-20" dirty="0"/>
              <a:t>Layer…2G/3G/4G</a:t>
            </a:r>
            <a:r>
              <a:rPr lang="en-US" sz="3999" spc="-20" dirty="0"/>
              <a:t>/5G</a:t>
            </a:r>
            <a:r>
              <a:rPr sz="3999" spc="-80" dirty="0"/>
              <a:t> </a:t>
            </a:r>
            <a:r>
              <a:rPr sz="3999" spc="-10" dirty="0"/>
              <a:t>–Mobile Communication</a:t>
            </a:r>
            <a:endParaRPr sz="3999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993992"/>
              </p:ext>
            </p:extLst>
          </p:nvPr>
        </p:nvGraphicFramePr>
        <p:xfrm>
          <a:off x="1974336" y="1548365"/>
          <a:ext cx="8505513" cy="3115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Sr.No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Standard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Operates</a:t>
                      </a:r>
                      <a:r>
                        <a:rPr sz="2400" b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2G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GSM-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CDMA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28575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3G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UMTS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CDMA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2000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27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4G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LTE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lang="en-US" sz="2400" dirty="0">
                          <a:latin typeface="Calibri"/>
                          <a:cs typeface="Calibri"/>
                        </a:rPr>
                        <a:t>4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lang="en-US" sz="2400" dirty="0">
                          <a:latin typeface="Calibri"/>
                          <a:cs typeface="Calibri"/>
                        </a:rPr>
                        <a:t>5G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lang="en-US" sz="2400" b="1" dirty="0"/>
                        <a:t>NR (New Radio)</a:t>
                      </a:r>
                      <a:r>
                        <a:rPr lang="en-US" sz="2400" dirty="0"/>
                        <a:t>, supports </a:t>
                      </a:r>
                      <a:r>
                        <a:rPr lang="en-US" sz="2400" b="1" dirty="0"/>
                        <a:t>NB-IoT &amp; LTE-M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2" marB="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DA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36345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08670" y="5276107"/>
            <a:ext cx="8971483" cy="452002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469124" indent="-456428">
              <a:spcBef>
                <a:spcPts val="9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Data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Rates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from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9.6Kb/s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(for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2G)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up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100Mb/s</a:t>
            </a:r>
            <a:r>
              <a:rPr sz="2799" spc="-4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(for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4G)</a:t>
            </a:r>
            <a:endParaRPr sz="2799" dirty="0">
              <a:latin typeface="Calibri"/>
              <a:cs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C6E8D5-B5C8-3877-B7F1-01FC3232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E9B4-F287-4E51-9DCC-61EAFE528575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4A3FF-CBC4-83F0-ABDD-CC3A21806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40" dirty="0"/>
              <a:t> </a:t>
            </a:r>
            <a:r>
              <a:rPr spc="-20" dirty="0"/>
              <a:t>Protocols…Network/Internet</a:t>
            </a:r>
            <a:r>
              <a:rPr spc="-80" dirty="0"/>
              <a:t> </a:t>
            </a:r>
            <a:r>
              <a:rPr spc="-10" dirty="0"/>
              <a:t>Layer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4328" y="1557405"/>
            <a:ext cx="10909633" cy="322623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759" marR="766850" indent="-457063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Responsible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for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sending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of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IP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datagrams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from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source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destination network</a:t>
            </a:r>
            <a:endParaRPr sz="2799">
              <a:latin typeface="Calibri"/>
              <a:cs typeface="Calibri"/>
            </a:endParaRPr>
          </a:p>
          <a:p>
            <a:pPr marL="469124" indent="-456428">
              <a:spcBef>
                <a:spcPts val="1679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spc="-10" dirty="0">
                <a:latin typeface="Calibri"/>
                <a:cs typeface="Calibri"/>
              </a:rPr>
              <a:t>Performs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the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host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addressing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packet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routing</a:t>
            </a:r>
            <a:endParaRPr sz="2799">
              <a:latin typeface="Calibri"/>
              <a:cs typeface="Calibri"/>
            </a:endParaRPr>
          </a:p>
          <a:p>
            <a:pPr marL="469759" marR="5078" indent="-457063">
              <a:lnSpc>
                <a:spcPts val="5038"/>
              </a:lnSpc>
              <a:spcBef>
                <a:spcPts val="245"/>
              </a:spcBef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Host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identification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is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done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using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hierarchical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IP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addressing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schemes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such </a:t>
            </a:r>
            <a:r>
              <a:rPr sz="2799" dirty="0">
                <a:latin typeface="Calibri"/>
                <a:cs typeface="Calibri"/>
              </a:rPr>
              <a:t>as</a:t>
            </a:r>
            <a:r>
              <a:rPr sz="2799" spc="-4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IPV4</a:t>
            </a:r>
            <a:r>
              <a:rPr sz="2799" spc="-3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or</a:t>
            </a:r>
            <a:r>
              <a:rPr sz="2799" spc="-2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IPV6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1BBBE-9E8F-40A6-2883-FED51E4D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2B47D-A0BE-43FE-9CA8-E9DF8EDA09D8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0634D-CA66-3A42-F20F-3AE86AD9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125" dirty="0"/>
              <a:t> </a:t>
            </a:r>
            <a:r>
              <a:rPr spc="-10" dirty="0"/>
              <a:t>Protocols…Network</a:t>
            </a:r>
            <a:r>
              <a:rPr spc="-150" dirty="0"/>
              <a:t> </a:t>
            </a:r>
            <a:r>
              <a:rPr spc="-10" dirty="0"/>
              <a:t>Layer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4328" y="1367417"/>
            <a:ext cx="10724261" cy="4963137"/>
          </a:xfrm>
          <a:prstGeom prst="rect">
            <a:avLst/>
          </a:prstGeom>
        </p:spPr>
        <p:txBody>
          <a:bodyPr vert="horz" wrap="square" lIns="0" tIns="195529" rIns="0" bIns="0" rtlCol="0">
            <a:spAutoFit/>
          </a:bodyPr>
          <a:lstStyle/>
          <a:p>
            <a:pPr marL="469124" indent="-456428">
              <a:spcBef>
                <a:spcPts val="1540"/>
              </a:spcBef>
              <a:buFont typeface="Arial MT"/>
              <a:buChar char="•"/>
              <a:tabLst>
                <a:tab pos="469124" algn="l"/>
              </a:tabLst>
            </a:pPr>
            <a:r>
              <a:rPr sz="2399" spc="-20" dirty="0">
                <a:latin typeface="Calibri"/>
                <a:cs typeface="Calibri"/>
              </a:rPr>
              <a:t>IPV4</a:t>
            </a:r>
            <a:endParaRPr sz="2399">
              <a:latin typeface="Calibri"/>
              <a:cs typeface="Calibri"/>
            </a:endParaRPr>
          </a:p>
          <a:p>
            <a:pPr marL="926187" lvl="1" indent="-456428">
              <a:spcBef>
                <a:spcPts val="1440"/>
              </a:spcBef>
              <a:buFont typeface="Arial MT"/>
              <a:buChar char="•"/>
              <a:tabLst>
                <a:tab pos="926187" algn="l"/>
              </a:tabLst>
            </a:pPr>
            <a:r>
              <a:rPr sz="2399" dirty="0">
                <a:latin typeface="Calibri"/>
                <a:cs typeface="Calibri"/>
              </a:rPr>
              <a:t>Used</a:t>
            </a:r>
            <a:r>
              <a:rPr sz="2399" spc="-5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to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identify</a:t>
            </a:r>
            <a:r>
              <a:rPr sz="2399" spc="-5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the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devices</a:t>
            </a:r>
            <a:r>
              <a:rPr sz="2399" spc="-5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on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network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using</a:t>
            </a:r>
            <a:r>
              <a:rPr sz="2399" spc="-50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hierarchical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addressing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scheme</a:t>
            </a:r>
            <a:endParaRPr sz="2399">
              <a:latin typeface="Calibri"/>
              <a:cs typeface="Calibri"/>
            </a:endParaRPr>
          </a:p>
          <a:p>
            <a:pPr marL="926187" lvl="1" indent="-456428">
              <a:spcBef>
                <a:spcPts val="1440"/>
              </a:spcBef>
              <a:buFont typeface="Arial MT"/>
              <a:buChar char="•"/>
              <a:tabLst>
                <a:tab pos="926187" algn="l"/>
              </a:tabLst>
            </a:pPr>
            <a:r>
              <a:rPr sz="2399" dirty="0">
                <a:latin typeface="Calibri"/>
                <a:cs typeface="Calibri"/>
              </a:rPr>
              <a:t>Uses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32-</a:t>
            </a:r>
            <a:r>
              <a:rPr sz="2399" dirty="0">
                <a:latin typeface="Calibri"/>
                <a:cs typeface="Calibri"/>
              </a:rPr>
              <a:t>bit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address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scheme</a:t>
            </a:r>
            <a:endParaRPr sz="2399">
              <a:latin typeface="Calibri"/>
              <a:cs typeface="Calibri"/>
            </a:endParaRPr>
          </a:p>
          <a:p>
            <a:pPr marL="469124" indent="-456428">
              <a:spcBef>
                <a:spcPts val="1440"/>
              </a:spcBef>
              <a:buFont typeface="Arial MT"/>
              <a:buChar char="•"/>
              <a:tabLst>
                <a:tab pos="469124" algn="l"/>
              </a:tabLst>
            </a:pPr>
            <a:r>
              <a:rPr sz="2399" spc="-20" dirty="0">
                <a:latin typeface="Calibri"/>
                <a:cs typeface="Calibri"/>
              </a:rPr>
              <a:t>IPV6</a:t>
            </a:r>
            <a:endParaRPr sz="2399">
              <a:latin typeface="Calibri"/>
              <a:cs typeface="Calibri"/>
            </a:endParaRPr>
          </a:p>
          <a:p>
            <a:pPr marL="926187" lvl="1" indent="-456428">
              <a:spcBef>
                <a:spcPts val="1445"/>
              </a:spcBef>
              <a:buFont typeface="Arial MT"/>
              <a:buChar char="•"/>
              <a:tabLst>
                <a:tab pos="926187" algn="l"/>
              </a:tabLst>
            </a:pPr>
            <a:r>
              <a:rPr sz="2399" dirty="0">
                <a:latin typeface="Calibri"/>
                <a:cs typeface="Calibri"/>
              </a:rPr>
              <a:t>Uses</a:t>
            </a:r>
            <a:r>
              <a:rPr sz="2399" spc="-40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128-</a:t>
            </a:r>
            <a:r>
              <a:rPr sz="2399" dirty="0">
                <a:latin typeface="Calibri"/>
                <a:cs typeface="Calibri"/>
              </a:rPr>
              <a:t>bit</a:t>
            </a:r>
            <a:r>
              <a:rPr sz="2399" spc="-4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address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scheme</a:t>
            </a:r>
            <a:endParaRPr sz="2399">
              <a:latin typeface="Calibri"/>
              <a:cs typeface="Calibri"/>
            </a:endParaRPr>
          </a:p>
          <a:p>
            <a:pPr marL="469124" indent="-456428">
              <a:spcBef>
                <a:spcPts val="1440"/>
              </a:spcBef>
              <a:buFont typeface="Arial MT"/>
              <a:buChar char="•"/>
              <a:tabLst>
                <a:tab pos="469124" algn="l"/>
              </a:tabLst>
            </a:pPr>
            <a:r>
              <a:rPr sz="2399" spc="-25" dirty="0">
                <a:latin typeface="Calibri"/>
                <a:cs typeface="Calibri"/>
              </a:rPr>
              <a:t>6LoWPAN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(IPV6</a:t>
            </a:r>
            <a:r>
              <a:rPr sz="2399" spc="-8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over</a:t>
            </a:r>
            <a:r>
              <a:rPr sz="2399" spc="-7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Low</a:t>
            </a:r>
            <a:r>
              <a:rPr sz="2399" spc="-6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power</a:t>
            </a:r>
            <a:r>
              <a:rPr sz="2399" spc="-7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Wireless</a:t>
            </a:r>
            <a:r>
              <a:rPr sz="2399" spc="-8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Personal</a:t>
            </a:r>
            <a:r>
              <a:rPr sz="2399" spc="-8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Area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Network)</a:t>
            </a:r>
            <a:endParaRPr sz="2399">
              <a:latin typeface="Calibri"/>
              <a:cs typeface="Calibri"/>
            </a:endParaRPr>
          </a:p>
          <a:p>
            <a:pPr marL="926187" lvl="1" indent="-456428">
              <a:spcBef>
                <a:spcPts val="1440"/>
              </a:spcBef>
              <a:buFont typeface="Arial MT"/>
              <a:buChar char="•"/>
              <a:tabLst>
                <a:tab pos="926187" algn="l"/>
              </a:tabLst>
            </a:pPr>
            <a:r>
              <a:rPr sz="2399" dirty="0">
                <a:latin typeface="Calibri"/>
                <a:cs typeface="Calibri"/>
              </a:rPr>
              <a:t>Used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for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devices</a:t>
            </a:r>
            <a:r>
              <a:rPr sz="2399" spc="-6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with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limited</a:t>
            </a:r>
            <a:r>
              <a:rPr sz="2399" spc="-8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processing</a:t>
            </a:r>
            <a:r>
              <a:rPr sz="2399" spc="-7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capacity</a:t>
            </a:r>
            <a:endParaRPr sz="2399">
              <a:latin typeface="Calibri"/>
              <a:cs typeface="Calibri"/>
            </a:endParaRPr>
          </a:p>
          <a:p>
            <a:pPr marL="926187" lvl="1" indent="-456428">
              <a:spcBef>
                <a:spcPts val="1440"/>
              </a:spcBef>
              <a:buFont typeface="Arial MT"/>
              <a:buChar char="•"/>
              <a:tabLst>
                <a:tab pos="926187" algn="l"/>
              </a:tabLst>
            </a:pPr>
            <a:r>
              <a:rPr sz="2399" spc="-10" dirty="0">
                <a:latin typeface="Calibri"/>
                <a:cs typeface="Calibri"/>
              </a:rPr>
              <a:t>Operates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in</a:t>
            </a:r>
            <a:r>
              <a:rPr sz="2399" spc="-7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2.4</a:t>
            </a:r>
            <a:r>
              <a:rPr sz="2399" spc="-50" dirty="0">
                <a:latin typeface="Calibri"/>
                <a:cs typeface="Calibri"/>
              </a:rPr>
              <a:t> </a:t>
            </a:r>
            <a:r>
              <a:rPr sz="2399" spc="-25" dirty="0">
                <a:latin typeface="Calibri"/>
                <a:cs typeface="Calibri"/>
              </a:rPr>
              <a:t>Ghz</a:t>
            </a:r>
            <a:endParaRPr sz="2399">
              <a:latin typeface="Calibri"/>
              <a:cs typeface="Calibri"/>
            </a:endParaRPr>
          </a:p>
          <a:p>
            <a:pPr marL="926187" lvl="1" indent="-456428">
              <a:spcBef>
                <a:spcPts val="1440"/>
              </a:spcBef>
              <a:buFont typeface="Arial MT"/>
              <a:buChar char="•"/>
              <a:tabLst>
                <a:tab pos="926187" algn="l"/>
              </a:tabLst>
            </a:pPr>
            <a:r>
              <a:rPr sz="2399" dirty="0">
                <a:latin typeface="Calibri"/>
                <a:cs typeface="Calibri"/>
              </a:rPr>
              <a:t>Data</a:t>
            </a:r>
            <a:r>
              <a:rPr sz="2399" spc="-7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Rates</a:t>
            </a:r>
            <a:r>
              <a:rPr sz="2399" spc="-7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of</a:t>
            </a:r>
            <a:r>
              <a:rPr sz="2399" spc="-60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250Kb/s</a:t>
            </a:r>
            <a:endParaRPr sz="2399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9304-A084-6DE8-8C2B-FA111DCD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F1AE0-58DD-4C7D-AAA9-3F1915D16D0F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A7E06-C70B-4808-C4CA-CC731716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90" dirty="0"/>
              <a:t> </a:t>
            </a:r>
            <a:r>
              <a:rPr spc="-40" dirty="0"/>
              <a:t>Protocols…Transport</a:t>
            </a:r>
            <a:r>
              <a:rPr spc="-100" dirty="0"/>
              <a:t> </a:t>
            </a:r>
            <a:r>
              <a:rPr spc="-10" dirty="0"/>
              <a:t>Layer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598" y="2024212"/>
            <a:ext cx="10902650" cy="2951981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469759" marR="5078" indent="-457063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469759" algn="l"/>
              </a:tabLst>
            </a:pPr>
            <a:r>
              <a:rPr sz="3199" dirty="0">
                <a:latin typeface="Calibri"/>
                <a:cs typeface="Calibri"/>
              </a:rPr>
              <a:t>Provide</a:t>
            </a:r>
            <a:r>
              <a:rPr sz="3199" spc="-125" dirty="0">
                <a:latin typeface="Calibri"/>
                <a:cs typeface="Calibri"/>
              </a:rPr>
              <a:t> </a:t>
            </a:r>
            <a:r>
              <a:rPr sz="3199" spc="-25" dirty="0">
                <a:latin typeface="Calibri"/>
                <a:cs typeface="Calibri"/>
              </a:rPr>
              <a:t>end-</a:t>
            </a:r>
            <a:r>
              <a:rPr sz="3199" spc="-15" dirty="0">
                <a:latin typeface="Calibri"/>
                <a:cs typeface="Calibri"/>
              </a:rPr>
              <a:t>to-</a:t>
            </a:r>
            <a:r>
              <a:rPr sz="3199" dirty="0">
                <a:latin typeface="Calibri"/>
                <a:cs typeface="Calibri"/>
              </a:rPr>
              <a:t>end</a:t>
            </a:r>
            <a:r>
              <a:rPr sz="3199" spc="-114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message</a:t>
            </a:r>
            <a:r>
              <a:rPr sz="3199" spc="-120" dirty="0">
                <a:latin typeface="Calibri"/>
                <a:cs typeface="Calibri"/>
              </a:rPr>
              <a:t> </a:t>
            </a:r>
            <a:r>
              <a:rPr sz="3199" spc="-10" dirty="0">
                <a:latin typeface="Calibri"/>
                <a:cs typeface="Calibri"/>
              </a:rPr>
              <a:t>transfer</a:t>
            </a:r>
            <a:r>
              <a:rPr sz="3199" spc="-105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capability</a:t>
            </a:r>
            <a:r>
              <a:rPr sz="3199" spc="-85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independent</a:t>
            </a:r>
            <a:r>
              <a:rPr sz="3199" spc="-95" dirty="0">
                <a:latin typeface="Calibri"/>
                <a:cs typeface="Calibri"/>
              </a:rPr>
              <a:t> </a:t>
            </a:r>
            <a:r>
              <a:rPr sz="3199" spc="-25" dirty="0">
                <a:latin typeface="Calibri"/>
                <a:cs typeface="Calibri"/>
              </a:rPr>
              <a:t>of </a:t>
            </a:r>
            <a:r>
              <a:rPr sz="3199" dirty="0">
                <a:latin typeface="Calibri"/>
                <a:cs typeface="Calibri"/>
              </a:rPr>
              <a:t>the</a:t>
            </a:r>
            <a:r>
              <a:rPr sz="3199" spc="-80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underlying</a:t>
            </a:r>
            <a:r>
              <a:rPr sz="3199" spc="-50" dirty="0">
                <a:latin typeface="Calibri"/>
                <a:cs typeface="Calibri"/>
              </a:rPr>
              <a:t> </a:t>
            </a:r>
            <a:r>
              <a:rPr sz="3199" spc="-10" dirty="0">
                <a:latin typeface="Calibri"/>
                <a:cs typeface="Calibri"/>
              </a:rPr>
              <a:t>network</a:t>
            </a:r>
            <a:endParaRPr sz="3199">
              <a:latin typeface="Calibri"/>
              <a:cs typeface="Calibri"/>
            </a:endParaRPr>
          </a:p>
          <a:p>
            <a:pPr marL="469759" marR="55863" indent="-457063">
              <a:lnSpc>
                <a:spcPts val="5758"/>
              </a:lnSpc>
              <a:spcBef>
                <a:spcPts val="315"/>
              </a:spcBef>
              <a:buFont typeface="Arial MT"/>
              <a:buChar char="•"/>
              <a:tabLst>
                <a:tab pos="469759" algn="l"/>
              </a:tabLst>
            </a:pPr>
            <a:r>
              <a:rPr sz="3199" dirty="0">
                <a:latin typeface="Calibri"/>
                <a:cs typeface="Calibri"/>
              </a:rPr>
              <a:t>It</a:t>
            </a:r>
            <a:r>
              <a:rPr sz="3199" spc="-65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provides</a:t>
            </a:r>
            <a:r>
              <a:rPr sz="3199" spc="-80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functions</a:t>
            </a:r>
            <a:r>
              <a:rPr sz="3199" spc="-55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such</a:t>
            </a:r>
            <a:r>
              <a:rPr sz="3199" spc="-70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as</a:t>
            </a:r>
            <a:r>
              <a:rPr sz="3199" spc="-70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error</a:t>
            </a:r>
            <a:r>
              <a:rPr sz="3199" spc="-90" dirty="0">
                <a:latin typeface="Calibri"/>
                <a:cs typeface="Calibri"/>
              </a:rPr>
              <a:t> </a:t>
            </a:r>
            <a:r>
              <a:rPr sz="3199" spc="-10" dirty="0">
                <a:latin typeface="Calibri"/>
                <a:cs typeface="Calibri"/>
              </a:rPr>
              <a:t>control,</a:t>
            </a:r>
            <a:r>
              <a:rPr sz="3199" spc="-85" dirty="0">
                <a:latin typeface="Calibri"/>
                <a:cs typeface="Calibri"/>
              </a:rPr>
              <a:t> </a:t>
            </a:r>
            <a:r>
              <a:rPr sz="3199" spc="-10" dirty="0">
                <a:latin typeface="Calibri"/>
                <a:cs typeface="Calibri"/>
              </a:rPr>
              <a:t>segmentation,</a:t>
            </a:r>
            <a:r>
              <a:rPr sz="3199" spc="-60" dirty="0">
                <a:latin typeface="Calibri"/>
                <a:cs typeface="Calibri"/>
              </a:rPr>
              <a:t> </a:t>
            </a:r>
            <a:r>
              <a:rPr sz="3199" spc="-10" dirty="0">
                <a:latin typeface="Calibri"/>
                <a:cs typeface="Calibri"/>
              </a:rPr>
              <a:t>flow- </a:t>
            </a:r>
            <a:r>
              <a:rPr sz="3199" dirty="0">
                <a:latin typeface="Calibri"/>
                <a:cs typeface="Calibri"/>
              </a:rPr>
              <a:t>control</a:t>
            </a:r>
            <a:r>
              <a:rPr sz="3199" spc="-125" dirty="0">
                <a:latin typeface="Calibri"/>
                <a:cs typeface="Calibri"/>
              </a:rPr>
              <a:t> </a:t>
            </a:r>
            <a:r>
              <a:rPr sz="3199" dirty="0">
                <a:latin typeface="Calibri"/>
                <a:cs typeface="Calibri"/>
              </a:rPr>
              <a:t>and</a:t>
            </a:r>
            <a:r>
              <a:rPr sz="3199" spc="-114" dirty="0">
                <a:latin typeface="Calibri"/>
                <a:cs typeface="Calibri"/>
              </a:rPr>
              <a:t> </a:t>
            </a:r>
            <a:r>
              <a:rPr sz="3199" spc="-10" dirty="0">
                <a:latin typeface="Calibri"/>
                <a:cs typeface="Calibri"/>
              </a:rPr>
              <a:t>congestion</a:t>
            </a:r>
            <a:r>
              <a:rPr sz="3199" spc="-120" dirty="0">
                <a:latin typeface="Calibri"/>
                <a:cs typeface="Calibri"/>
              </a:rPr>
              <a:t> </a:t>
            </a:r>
            <a:r>
              <a:rPr sz="3199" spc="-10" dirty="0">
                <a:latin typeface="Calibri"/>
                <a:cs typeface="Calibri"/>
              </a:rPr>
              <a:t>control</a:t>
            </a:r>
            <a:endParaRPr sz="3199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7069C-BAA0-1770-5B72-A5D0D695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06F3-E26D-4F55-B72A-4300C896AEBA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9C2F2-AAD8-199C-7866-4CBE94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5CE9-78C4-ABDE-E2DC-4E9DCD72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</a:t>
            </a:r>
            <a:r>
              <a:rPr lang="en-US" spc="-55" dirty="0"/>
              <a:t> </a:t>
            </a:r>
            <a:r>
              <a:rPr lang="en-US" spc="-10" dirty="0"/>
              <a:t>Protocols…TCP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9C56-76A0-BA9D-4FA0-DF4CFC89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95" y="1176090"/>
            <a:ext cx="7054818" cy="469300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Transmission Control Protocol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Connection 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Ensures Reliable transmission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Provides Error Detection Capability to ensure no delicacy of packets and retransmit lost packets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Flow Control capability to ensure the sending data rate is not too high for the receiver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Congestion control capability helps in avoiding congestion which leads to degradation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of n/w performance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D6BE7-4DAA-25AC-C10F-E15A38AF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EC4E-56EC-4B42-9680-9235003EB123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16C80-C834-98AC-390E-FBD4BBCD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19</a:t>
            </a:fld>
            <a:endParaRPr lang="en-US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844C06C4-0E5A-41A0-530C-CDA0E2BD19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7941" y="1911350"/>
            <a:ext cx="3789299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3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5484-D5C9-3038-3CD8-ACF74DC0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</a:t>
            </a:r>
            <a:r>
              <a:rPr lang="en-US" spc="-55" dirty="0"/>
              <a:t> </a:t>
            </a:r>
            <a:r>
              <a:rPr lang="en-US" spc="-10" dirty="0"/>
              <a:t>Protocols…UDP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63A04-146C-8249-8E27-9A2977067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265" indent="-45656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User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Datagram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Protocol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spc="-10" dirty="0">
                <a:latin typeface="Calibri"/>
                <a:cs typeface="Calibri"/>
              </a:rPr>
              <a:t>Connectionless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Does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ensures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Reliable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transmission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Does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do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connection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before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transmitting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Does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proper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ordering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messages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spc="-20" dirty="0">
                <a:latin typeface="Calibri"/>
                <a:cs typeface="Calibri"/>
              </a:rPr>
              <a:t>Transaction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oriented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stateless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E3C3B-5F83-B1A5-9612-5A4548A6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8C6D-DFC4-4D6C-A883-792E4892EA30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DD236-6CD8-FC9D-CF34-0F745AF1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20</a:t>
            </a:fld>
            <a:endParaRPr lang="en-US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A5826319-2FC4-E893-9BCE-920728356F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5012" y="1885950"/>
            <a:ext cx="47625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6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9681-421C-074E-E037-06704694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94" y="457200"/>
            <a:ext cx="10864818" cy="823307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IoT</a:t>
            </a:r>
            <a:r>
              <a:rPr lang="en-US" sz="4800" spc="-155" dirty="0"/>
              <a:t> </a:t>
            </a:r>
            <a:r>
              <a:rPr lang="en-US" sz="4800" spc="-10" dirty="0"/>
              <a:t>Protocols…Application</a:t>
            </a:r>
            <a:r>
              <a:rPr lang="en-US" sz="4800" spc="-180" dirty="0"/>
              <a:t> </a:t>
            </a:r>
            <a:r>
              <a:rPr lang="en-US" sz="4800" spc="-10" dirty="0"/>
              <a:t>Layer…Hyper</a:t>
            </a:r>
            <a:r>
              <a:rPr lang="en-US" sz="4800" spc="-145" dirty="0"/>
              <a:t> </a:t>
            </a:r>
            <a:r>
              <a:rPr lang="en-US" sz="4800" spc="-10" dirty="0"/>
              <a:t>Transfer Protocol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B1BD6-37FF-5ABC-8438-1D4798133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521" y="1274411"/>
            <a:ext cx="10055781" cy="4693004"/>
          </a:xfrm>
        </p:spPr>
        <p:txBody>
          <a:bodyPr/>
          <a:lstStyle/>
          <a:p>
            <a:pPr marL="469265" indent="-456565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Forms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foundation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World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Wide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Web(WWW)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Includes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commands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such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spc="-75" dirty="0">
                <a:latin typeface="Calibri"/>
                <a:cs typeface="Calibri"/>
              </a:rPr>
              <a:t>GET,PUT,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60" dirty="0">
                <a:latin typeface="Calibri"/>
                <a:cs typeface="Calibri"/>
              </a:rPr>
              <a:t>POST,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HEAD,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OPTIONS,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TRACE..</a:t>
            </a:r>
            <a:r>
              <a:rPr lang="en-US" sz="2000" spc="-10" dirty="0" err="1">
                <a:latin typeface="Calibri"/>
                <a:cs typeface="Calibri"/>
              </a:rPr>
              <a:t>etc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Follows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request-</a:t>
            </a:r>
            <a:r>
              <a:rPr lang="en-US" sz="2000" dirty="0">
                <a:latin typeface="Calibri"/>
                <a:cs typeface="Calibri"/>
              </a:rPr>
              <a:t>response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model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Uses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Universal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Resource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Identifiers(URIs)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identify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HTTP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resources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FEE58-5727-93D9-1507-DBDE3C82B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89C4A-D049-45B8-8DFE-9704289D6DDB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28C27-E549-D9CD-2123-89434D1E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21</a:t>
            </a:fld>
            <a:endParaRPr lang="en-US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E33718AF-2A00-F8AF-C376-AC621CD6EA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4782" y="3602306"/>
            <a:ext cx="24669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2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4431-5D41-21FF-6D80-7EFD8342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</a:t>
            </a:r>
            <a:r>
              <a:rPr lang="en-US" spc="-75" dirty="0"/>
              <a:t> </a:t>
            </a:r>
            <a:r>
              <a:rPr lang="en-US" spc="-25" dirty="0"/>
              <a:t>Protocols…Application</a:t>
            </a:r>
            <a:r>
              <a:rPr lang="en-US" spc="-95" dirty="0"/>
              <a:t> </a:t>
            </a:r>
            <a:r>
              <a:rPr lang="en-US" spc="-10" dirty="0"/>
              <a:t>Layer…CoAP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A564A-082C-03CF-E17D-533355B7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265" indent="-456565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spc="-10" dirty="0">
                <a:latin typeface="Calibri"/>
                <a:cs typeface="Calibri"/>
              </a:rPr>
              <a:t>Constrained</a:t>
            </a:r>
            <a:r>
              <a:rPr lang="en-US" sz="2800" spc="-9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Application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Protocol</a:t>
            </a:r>
            <a:endParaRPr lang="en-US" sz="2800" dirty="0">
              <a:latin typeface="Calibri"/>
              <a:cs typeface="Calibri"/>
            </a:endParaRPr>
          </a:p>
          <a:p>
            <a:pPr marL="469900" marR="5080" indent="-4572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lang="en-US" sz="2800" dirty="0">
                <a:latin typeface="Calibri"/>
                <a:cs typeface="Calibri"/>
              </a:rPr>
              <a:t>Used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for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Machine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machine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(M2M)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applications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meant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for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constrained </a:t>
            </a:r>
            <a:r>
              <a:rPr lang="en-US" sz="2800" dirty="0">
                <a:latin typeface="Calibri"/>
                <a:cs typeface="Calibri"/>
              </a:rPr>
              <a:t>devices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n/w’s</a:t>
            </a:r>
            <a:endParaRPr lang="en-US" sz="2800" dirty="0">
              <a:latin typeface="Calibri"/>
              <a:cs typeface="Calibri"/>
            </a:endParaRPr>
          </a:p>
          <a:p>
            <a:pPr marL="469265" marR="2307590" indent="-457200">
              <a:lnSpc>
                <a:spcPts val="5040"/>
              </a:lnSpc>
              <a:spcBef>
                <a:spcPts val="450"/>
              </a:spcBef>
              <a:buFont typeface="Arial MT"/>
              <a:buChar char="•"/>
              <a:tabLst>
                <a:tab pos="1007744" algn="l"/>
              </a:tabLst>
            </a:pPr>
            <a:r>
              <a:rPr lang="en-US" sz="2800" dirty="0">
                <a:latin typeface="Calibri"/>
                <a:cs typeface="Calibri"/>
              </a:rPr>
              <a:t>Web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transfer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protocol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for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IoT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uses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spc="-30" dirty="0">
                <a:latin typeface="Calibri"/>
                <a:cs typeface="Calibri"/>
              </a:rPr>
              <a:t>request-</a:t>
            </a:r>
            <a:r>
              <a:rPr lang="en-US" sz="2800" spc="-10" dirty="0">
                <a:latin typeface="Calibri"/>
                <a:cs typeface="Calibri"/>
              </a:rPr>
              <a:t>response model</a:t>
            </a:r>
            <a:endParaRPr lang="en-US" sz="28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23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>
                <a:latin typeface="Calibri"/>
                <a:cs typeface="Calibri"/>
              </a:rPr>
              <a:t>Uses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client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–server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architecture</a:t>
            </a:r>
            <a:endParaRPr lang="en-US" sz="28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800" dirty="0">
                <a:latin typeface="Calibri"/>
                <a:cs typeface="Calibri"/>
              </a:rPr>
              <a:t>Supports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methods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such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spc="-60" dirty="0">
                <a:latin typeface="Calibri"/>
                <a:cs typeface="Calibri"/>
              </a:rPr>
              <a:t>GET,POST, </a:t>
            </a:r>
            <a:r>
              <a:rPr lang="en-US" sz="2800" dirty="0">
                <a:latin typeface="Calibri"/>
                <a:cs typeface="Calibri"/>
              </a:rPr>
              <a:t>PUT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DELETE</a:t>
            </a:r>
            <a:endParaRPr lang="en-US" sz="28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119C8-2641-7E0D-7233-28BC0739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EA05-4E8E-4AB2-89F3-348497BD494B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C68BD-FB9E-8E37-46A8-2F25B37B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6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7814-BE0B-B797-8CFA-2B2610B3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</a:t>
            </a:r>
            <a:r>
              <a:rPr lang="en-US" spc="-75" dirty="0"/>
              <a:t> </a:t>
            </a:r>
            <a:r>
              <a:rPr lang="en-US" spc="-25" dirty="0"/>
              <a:t>Protocols…Application</a:t>
            </a:r>
            <a:r>
              <a:rPr lang="en-US" spc="-95" dirty="0"/>
              <a:t> </a:t>
            </a:r>
            <a:r>
              <a:rPr lang="en-US" spc="-10" dirty="0"/>
              <a:t>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0395E-5371-8691-2A01-A03D38D0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spc="-10" dirty="0"/>
              <a:t>WebSocket</a:t>
            </a:r>
          </a:p>
          <a:p>
            <a:pPr marL="469265" indent="-456565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Allows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full-</a:t>
            </a:r>
            <a:r>
              <a:rPr lang="en-US" sz="2000" dirty="0">
                <a:latin typeface="Calibri"/>
                <a:cs typeface="Calibri"/>
              </a:rPr>
              <a:t>duplex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communication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over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single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socket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TCP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Client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browser,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IoT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mobile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</a:t>
            </a:r>
            <a:endParaRPr lang="en-US" sz="2000" dirty="0">
              <a:latin typeface="Calibri"/>
              <a:cs typeface="Calibri"/>
            </a:endParaRPr>
          </a:p>
          <a:p>
            <a:r>
              <a:rPr lang="en-US" sz="2800" spc="-10" dirty="0">
                <a:latin typeface="Calibri"/>
                <a:cs typeface="Calibri"/>
              </a:rPr>
              <a:t>MQTT</a:t>
            </a:r>
          </a:p>
          <a:p>
            <a:pPr marL="469265" indent="-45656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Message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Queue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Telemetry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Transport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light-</a:t>
            </a:r>
            <a:r>
              <a:rPr lang="en-US" sz="2000" dirty="0">
                <a:latin typeface="Calibri"/>
                <a:cs typeface="Calibri"/>
              </a:rPr>
              <a:t>weight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messaging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protocol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publish-</a:t>
            </a:r>
            <a:r>
              <a:rPr lang="en-US" sz="2000" dirty="0">
                <a:latin typeface="Calibri"/>
                <a:cs typeface="Calibri"/>
              </a:rPr>
              <a:t>subscribe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model</a:t>
            </a:r>
            <a:endParaRPr lang="en-US"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000" dirty="0">
                <a:latin typeface="Calibri"/>
                <a:cs typeface="Calibri"/>
              </a:rPr>
              <a:t>Well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suited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constrained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environments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where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limited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processing,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low</a:t>
            </a:r>
            <a:endParaRPr lang="en-US" sz="2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n/w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bandwith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requirement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7445C-4343-7F8F-5B3B-3BE93CC5B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11A8D-AC15-42C4-8A8A-CD2AC49B80A6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E2CE8-D298-9313-9497-258196A0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0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75" dirty="0"/>
              <a:t> </a:t>
            </a:r>
            <a:r>
              <a:rPr spc="-25" dirty="0"/>
              <a:t>Protocols…Application</a:t>
            </a:r>
            <a:r>
              <a:rPr spc="-95" dirty="0"/>
              <a:t> </a:t>
            </a:r>
            <a:r>
              <a:rPr spc="-10" dirty="0"/>
              <a:t>Layer…XMPP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6708" y="1600200"/>
            <a:ext cx="10308445" cy="3225595"/>
          </a:xfrm>
          <a:prstGeom prst="rect">
            <a:avLst/>
          </a:prstGeom>
        </p:spPr>
        <p:txBody>
          <a:bodyPr vert="horz" wrap="square" lIns="0" tIns="226001" rIns="0" bIns="0" rtlCol="0">
            <a:spAutoFit/>
          </a:bodyPr>
          <a:lstStyle/>
          <a:p>
            <a:pPr marL="469124" indent="-456428">
              <a:spcBef>
                <a:spcPts val="1779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Extensible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messaging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presence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protocol</a:t>
            </a:r>
            <a:endParaRPr sz="2799" dirty="0">
              <a:latin typeface="Calibri"/>
              <a:cs typeface="Calibri"/>
            </a:endParaRPr>
          </a:p>
          <a:p>
            <a:pPr marL="469759" marR="5078" indent="-457063">
              <a:lnSpc>
                <a:spcPct val="150000"/>
              </a:lnSpc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For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Real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time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communication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streaming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XML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data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between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n/w </a:t>
            </a:r>
            <a:r>
              <a:rPr sz="2799" spc="-10" dirty="0">
                <a:latin typeface="Calibri"/>
                <a:cs typeface="Calibri"/>
              </a:rPr>
              <a:t>entities</a:t>
            </a:r>
            <a:endParaRPr sz="2799" dirty="0">
              <a:latin typeface="Calibri"/>
              <a:cs typeface="Calibri"/>
            </a:endParaRPr>
          </a:p>
          <a:p>
            <a:pPr marL="469124" indent="-456428">
              <a:spcBef>
                <a:spcPts val="1679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Used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for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Applications</a:t>
            </a:r>
            <a:r>
              <a:rPr sz="2799" spc="-3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such</a:t>
            </a:r>
            <a:r>
              <a:rPr sz="2799" spc="-3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as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Multi-</a:t>
            </a:r>
            <a:r>
              <a:rPr sz="2799" dirty="0">
                <a:latin typeface="Calibri"/>
                <a:cs typeface="Calibri"/>
              </a:rPr>
              <a:t>party</a:t>
            </a:r>
            <a:r>
              <a:rPr sz="2799" spc="-3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chat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voice/video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calls.</a:t>
            </a:r>
            <a:endParaRPr sz="2799" dirty="0">
              <a:latin typeface="Calibri"/>
              <a:cs typeface="Calibri"/>
            </a:endParaRPr>
          </a:p>
          <a:p>
            <a:pPr marL="469124" indent="-456428">
              <a:spcBef>
                <a:spcPts val="1679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spc="-20" dirty="0">
                <a:latin typeface="Calibri"/>
                <a:cs typeface="Calibri"/>
              </a:rPr>
              <a:t>Decentralized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protocol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uses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client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server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architecture.</a:t>
            </a:r>
            <a:endParaRPr sz="2799" dirty="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B1C2B-1D52-94CF-D1BE-CD446257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5034A-1FFE-440A-B5FB-A39D1A9080D2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775C1-A649-F84E-599D-AA90ECA7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75" dirty="0"/>
              <a:t> </a:t>
            </a:r>
            <a:r>
              <a:rPr spc="-25" dirty="0"/>
              <a:t>Protocols…Application</a:t>
            </a:r>
            <a:r>
              <a:rPr spc="-95" dirty="0"/>
              <a:t> </a:t>
            </a:r>
            <a:r>
              <a:rPr spc="-10" dirty="0"/>
              <a:t>Layer…DDS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2500" y="1524000"/>
            <a:ext cx="10037370" cy="322559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759" marR="5078" indent="-457063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Data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Distribution</a:t>
            </a:r>
            <a:r>
              <a:rPr sz="2799" spc="-4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service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is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data-</a:t>
            </a:r>
            <a:r>
              <a:rPr sz="2799" dirty="0">
                <a:latin typeface="Calibri"/>
                <a:cs typeface="Calibri"/>
              </a:rPr>
              <a:t>centric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middleware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standard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for </a:t>
            </a:r>
            <a:r>
              <a:rPr sz="2799" spc="-20" dirty="0">
                <a:latin typeface="Calibri"/>
                <a:cs typeface="Calibri"/>
              </a:rPr>
              <a:t>device-</a:t>
            </a:r>
            <a:r>
              <a:rPr sz="2799" spc="-30" dirty="0">
                <a:latin typeface="Calibri"/>
                <a:cs typeface="Calibri"/>
              </a:rPr>
              <a:t>to-</a:t>
            </a:r>
            <a:r>
              <a:rPr sz="2799" dirty="0">
                <a:latin typeface="Calibri"/>
                <a:cs typeface="Calibri"/>
              </a:rPr>
              <a:t>device</a:t>
            </a:r>
            <a:r>
              <a:rPr sz="2799" spc="1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or</a:t>
            </a:r>
            <a:r>
              <a:rPr sz="2799" spc="-5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machine-</a:t>
            </a:r>
            <a:r>
              <a:rPr sz="2799" spc="-30" dirty="0">
                <a:latin typeface="Calibri"/>
                <a:cs typeface="Calibri"/>
              </a:rPr>
              <a:t>to-</a:t>
            </a:r>
            <a:r>
              <a:rPr sz="2799" dirty="0">
                <a:latin typeface="Calibri"/>
                <a:cs typeface="Calibri"/>
              </a:rPr>
              <a:t>machine</a:t>
            </a:r>
            <a:r>
              <a:rPr sz="2799" spc="2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communication.</a:t>
            </a:r>
            <a:endParaRPr sz="2799" dirty="0">
              <a:latin typeface="Calibri"/>
              <a:cs typeface="Calibri"/>
            </a:endParaRPr>
          </a:p>
          <a:p>
            <a:pPr marL="469759" marR="256463" indent="-457063">
              <a:lnSpc>
                <a:spcPts val="5038"/>
              </a:lnSpc>
              <a:spcBef>
                <a:spcPts val="445"/>
              </a:spcBef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Publish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subscribe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model</a:t>
            </a:r>
            <a:r>
              <a:rPr sz="2799" spc="-11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where</a:t>
            </a:r>
            <a:r>
              <a:rPr sz="2799" spc="-114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publishers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create</a:t>
            </a:r>
            <a:r>
              <a:rPr sz="2799" spc="-114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topics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114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which subscribers</a:t>
            </a:r>
            <a:r>
              <a:rPr sz="2799" spc="-4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can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use.</a:t>
            </a:r>
            <a:endParaRPr sz="2799" dirty="0">
              <a:latin typeface="Calibri"/>
              <a:cs typeface="Calibri"/>
            </a:endParaRPr>
          </a:p>
          <a:p>
            <a:pPr marL="469124" indent="-456428">
              <a:spcBef>
                <a:spcPts val="123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Provides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Quality-</a:t>
            </a:r>
            <a:r>
              <a:rPr sz="2799" spc="-10" dirty="0">
                <a:latin typeface="Calibri"/>
                <a:cs typeface="Calibri"/>
              </a:rPr>
              <a:t>of-</a:t>
            </a:r>
            <a:r>
              <a:rPr sz="2799" dirty="0">
                <a:latin typeface="Calibri"/>
                <a:cs typeface="Calibri"/>
              </a:rPr>
              <a:t>service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control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configurable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reliability.</a:t>
            </a:r>
            <a:endParaRPr sz="2799" dirty="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4DAB0-1A5A-92A2-7380-7E6FD367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828D-7FCD-45B2-9A53-05524929C216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7713-3D13-5A67-BA9F-FC3E0FC8A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75" dirty="0"/>
              <a:t> </a:t>
            </a:r>
            <a:r>
              <a:rPr spc="-25" dirty="0"/>
              <a:t>Protocols…Application</a:t>
            </a:r>
            <a:r>
              <a:rPr spc="-95" dirty="0"/>
              <a:t> </a:t>
            </a:r>
            <a:r>
              <a:rPr spc="-10" dirty="0"/>
              <a:t>Layer…AMQP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791" y="1561215"/>
            <a:ext cx="10695059" cy="3225595"/>
          </a:xfrm>
          <a:prstGeom prst="rect">
            <a:avLst/>
          </a:prstGeom>
        </p:spPr>
        <p:txBody>
          <a:bodyPr vert="horz" wrap="square" lIns="0" tIns="226001" rIns="0" bIns="0" rtlCol="0">
            <a:spAutoFit/>
          </a:bodyPr>
          <a:lstStyle/>
          <a:p>
            <a:pPr marL="469124" indent="-456428">
              <a:spcBef>
                <a:spcPts val="1779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dirty="0">
                <a:latin typeface="Calibri"/>
                <a:cs typeface="Calibri"/>
              </a:rPr>
              <a:t>Advanced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Messaging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Queuing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Protocol</a:t>
            </a:r>
            <a:r>
              <a:rPr sz="2799" spc="-11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used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for</a:t>
            </a:r>
            <a:r>
              <a:rPr sz="2799" spc="-12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business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messaging.</a:t>
            </a:r>
            <a:endParaRPr sz="2799">
              <a:latin typeface="Calibri"/>
              <a:cs typeface="Calibri"/>
            </a:endParaRPr>
          </a:p>
          <a:p>
            <a:pPr marL="469759" marR="5078" indent="-457063">
              <a:lnSpc>
                <a:spcPct val="150000"/>
              </a:lnSpc>
              <a:buFont typeface="Arial MT"/>
              <a:buChar char="•"/>
              <a:tabLst>
                <a:tab pos="469759" algn="l"/>
              </a:tabLst>
            </a:pPr>
            <a:r>
              <a:rPr sz="2799" dirty="0">
                <a:latin typeface="Calibri"/>
                <a:cs typeface="Calibri"/>
              </a:rPr>
              <a:t>Supports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both</a:t>
            </a:r>
            <a:r>
              <a:rPr sz="2799" spc="-70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point-</a:t>
            </a:r>
            <a:r>
              <a:rPr sz="2799" spc="-30" dirty="0">
                <a:latin typeface="Calibri"/>
                <a:cs typeface="Calibri"/>
              </a:rPr>
              <a:t>to-</a:t>
            </a:r>
            <a:r>
              <a:rPr sz="2799" dirty="0">
                <a:latin typeface="Calibri"/>
                <a:cs typeface="Calibri"/>
              </a:rPr>
              <a:t>point</a:t>
            </a:r>
            <a:r>
              <a:rPr sz="2799" spc="-3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publisher/subscriber</a:t>
            </a:r>
            <a:r>
              <a:rPr sz="2799" spc="-4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models,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routing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queuing</a:t>
            </a:r>
            <a:endParaRPr sz="2799">
              <a:latin typeface="Calibri"/>
              <a:cs typeface="Calibri"/>
            </a:endParaRPr>
          </a:p>
          <a:p>
            <a:pPr marL="469759" marR="396121" indent="-457063">
              <a:lnSpc>
                <a:spcPct val="150000"/>
              </a:lnSpc>
              <a:buFont typeface="Arial MT"/>
              <a:buChar char="•"/>
              <a:tabLst>
                <a:tab pos="469759" algn="l"/>
              </a:tabLst>
            </a:pPr>
            <a:r>
              <a:rPr sz="2799" spc="-10" dirty="0">
                <a:latin typeface="Calibri"/>
                <a:cs typeface="Calibri"/>
              </a:rPr>
              <a:t>Broker</a:t>
            </a:r>
            <a:r>
              <a:rPr sz="2799" spc="-114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here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receives</a:t>
            </a:r>
            <a:r>
              <a:rPr sz="2799" spc="-11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messages</a:t>
            </a:r>
            <a:r>
              <a:rPr sz="2799" spc="-114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from</a:t>
            </a:r>
            <a:r>
              <a:rPr sz="2799" spc="-10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publishers</a:t>
            </a:r>
            <a:r>
              <a:rPr sz="2799" spc="-6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route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them</a:t>
            </a:r>
            <a:r>
              <a:rPr sz="2799" spc="-105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over </a:t>
            </a:r>
            <a:r>
              <a:rPr sz="2799" spc="-10" dirty="0">
                <a:latin typeface="Calibri"/>
                <a:cs typeface="Calibri"/>
              </a:rPr>
              <a:t>connections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to</a:t>
            </a:r>
            <a:r>
              <a:rPr sz="2799" spc="-12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consumers</a:t>
            </a:r>
            <a:r>
              <a:rPr sz="2799" spc="-8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through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messaging</a:t>
            </a:r>
            <a:r>
              <a:rPr sz="2799" spc="-12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queues.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F0015-12CD-43F9-88C9-E6EB216F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BB7C7-A454-442F-9AFD-2973FD885322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FD5B-F7FA-7452-4775-FEA6810F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CD88-9611-415D-5263-C03F64AE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of  IoT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4C612-C358-D7BA-CA34-3DA5742C0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B6FE4-DFCA-36D1-CD6E-9B3486A4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AA18-29B0-46CB-BF0F-84D9F3E029E1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2CB0C-EDB7-9CD4-082A-659CDC7E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27</a:t>
            </a:fld>
            <a:endParaRPr lang="en-US"/>
          </a:p>
        </p:txBody>
      </p:sp>
      <p:pic>
        <p:nvPicPr>
          <p:cNvPr id="1026" name="Picture 2" descr="Constrained Application Protocol">
            <a:extLst>
              <a:ext uri="{FF2B5EF4-FFF2-40B4-BE49-F238E27FC236}">
                <a16:creationId xmlns:a16="http://schemas.microsoft.com/office/drawing/2014/main" id="{E6A3C315-E46A-D1BF-14D9-0BC209C2B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359" y="1109911"/>
            <a:ext cx="95250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62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9710-4699-F930-C13D-FA182F98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of  IoT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047B-0FEF-0DC1-9AAD-84B1E355C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8DDA-1A20-A8FA-E434-3E1BE4AD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FAE2E-29AD-46E1-8673-1703792F2E6C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B55C1-4774-8853-3F14-AE458635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28</a:t>
            </a:fld>
            <a:endParaRPr lang="en-US"/>
          </a:p>
        </p:txBody>
      </p:sp>
      <p:pic>
        <p:nvPicPr>
          <p:cNvPr id="2050" name="Picture 2" descr="Internet of Things (IoT) Application Protocols | Narsimhmaswamy badugu">
            <a:extLst>
              <a:ext uri="{FF2B5EF4-FFF2-40B4-BE49-F238E27FC236}">
                <a16:creationId xmlns:a16="http://schemas.microsoft.com/office/drawing/2014/main" id="{366AC9A6-DA83-9D02-C48C-B2AB8D129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1214438"/>
            <a:ext cx="11287125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42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6278B-657F-05F3-8E79-8AE9B0D9F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94" y="286603"/>
            <a:ext cx="10055780" cy="780197"/>
          </a:xfrm>
        </p:spPr>
        <p:txBody>
          <a:bodyPr>
            <a:normAutofit/>
          </a:bodyPr>
          <a:lstStyle/>
          <a:p>
            <a:r>
              <a:rPr lang="en-US" dirty="0"/>
              <a:t>Logical</a:t>
            </a:r>
            <a:r>
              <a:rPr lang="en-US" spc="-105" dirty="0"/>
              <a:t> </a:t>
            </a:r>
            <a:r>
              <a:rPr lang="en-US" dirty="0"/>
              <a:t>Design</a:t>
            </a:r>
            <a:r>
              <a:rPr lang="en-US" spc="-105" dirty="0"/>
              <a:t> </a:t>
            </a:r>
            <a:r>
              <a:rPr lang="en-US" dirty="0"/>
              <a:t>of</a:t>
            </a:r>
            <a:r>
              <a:rPr lang="en-US" spc="-100" dirty="0"/>
              <a:t> </a:t>
            </a:r>
            <a:r>
              <a:rPr lang="en-US" spc="-25" dirty="0"/>
              <a:t>IoT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56371-5149-C365-1165-64BD8551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93" y="1845734"/>
            <a:ext cx="4997419" cy="4326466"/>
          </a:xfrm>
        </p:spPr>
        <p:txBody>
          <a:bodyPr>
            <a:normAutofit/>
          </a:bodyPr>
          <a:lstStyle/>
          <a:p>
            <a:pPr marL="240029" indent="-227329">
              <a:spcBef>
                <a:spcPts val="111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Devices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such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sensing,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actuation,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monitoring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control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functions.</a:t>
            </a:r>
            <a:endParaRPr lang="en-US" dirty="0">
              <a:latin typeface="Calibri"/>
              <a:cs typeface="Calibri"/>
            </a:endParaRPr>
          </a:p>
          <a:p>
            <a:pPr marL="240029" indent="-227329">
              <a:spcBef>
                <a:spcPts val="101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dirty="0">
                <a:latin typeface="Calibri"/>
                <a:cs typeface="Calibri"/>
              </a:rPr>
              <a:t>Communication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IoT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Protocols</a:t>
            </a:r>
            <a:endParaRPr lang="en-US" dirty="0">
              <a:latin typeface="Calibri"/>
              <a:cs typeface="Calibri"/>
            </a:endParaRPr>
          </a:p>
          <a:p>
            <a:pPr marL="240029" marR="5080" indent="-227329"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latin typeface="Calibri"/>
                <a:cs typeface="Calibri"/>
              </a:rPr>
              <a:t>Services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like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monitoring,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control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services,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publishing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services</a:t>
            </a:r>
            <a:r>
              <a:rPr lang="en-US" spc="30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and 	</a:t>
            </a: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discovery</a:t>
            </a:r>
            <a:endParaRPr lang="en-US" dirty="0">
              <a:latin typeface="Calibri"/>
              <a:cs typeface="Calibri"/>
            </a:endParaRPr>
          </a:p>
          <a:p>
            <a:pPr marL="240029" indent="-227329">
              <a:spcBef>
                <a:spcPts val="10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dirty="0">
                <a:latin typeface="Calibri"/>
                <a:cs typeface="Calibri"/>
              </a:rPr>
              <a:t>Management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Functions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govern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system</a:t>
            </a:r>
            <a:endParaRPr lang="en-US" dirty="0">
              <a:latin typeface="Calibri"/>
              <a:cs typeface="Calibri"/>
            </a:endParaRPr>
          </a:p>
          <a:p>
            <a:pPr marL="240029" marR="7620" indent="-227329"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latin typeface="Calibri"/>
                <a:cs typeface="Calibri"/>
              </a:rPr>
              <a:t>Security</a:t>
            </a:r>
            <a:r>
              <a:rPr lang="en-US" spc="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Functions</a:t>
            </a:r>
            <a:r>
              <a:rPr lang="en-US" spc="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as</a:t>
            </a:r>
            <a:r>
              <a:rPr lang="en-US" spc="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authentication,</a:t>
            </a:r>
            <a:r>
              <a:rPr lang="en-US" spc="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authorization,</a:t>
            </a:r>
            <a:r>
              <a:rPr lang="en-US" spc="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message</a:t>
            </a:r>
            <a:r>
              <a:rPr lang="en-US" spc="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content</a:t>
            </a:r>
            <a:r>
              <a:rPr lang="en-US" spc="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integrity, 	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security</a:t>
            </a:r>
            <a:endParaRPr lang="en-US" dirty="0">
              <a:latin typeface="Calibri"/>
              <a:cs typeface="Calibri"/>
            </a:endParaRPr>
          </a:p>
          <a:p>
            <a:pPr marL="240029" indent="-227329">
              <a:spcBef>
                <a:spcPts val="10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pc="-10" dirty="0">
                <a:latin typeface="Calibri"/>
                <a:cs typeface="Calibri"/>
              </a:rPr>
              <a:t>Applications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CA411F80-6265-9408-E2E9-3D460B0526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5412" y="2133600"/>
            <a:ext cx="4905961" cy="27568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24213-3FE0-B4E2-8FED-AFA1D15C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94" y="6459785"/>
            <a:ext cx="24716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3EADB5-2178-4141-947C-225925A0F846}" type="datetime1">
              <a:rPr lang="en-US" smtClean="0"/>
              <a:t>29-Jun-25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3EF03-1EEC-6D62-B961-8A9AEBEF1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7879" y="6459785"/>
            <a:ext cx="131168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A60BA0E-20D0-4E7C-B286-26C960A6788F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158"/>
            <a:ext cx="11169904" cy="751357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39023">
              <a:lnSpc>
                <a:spcPct val="100000"/>
              </a:lnSpc>
              <a:spcBef>
                <a:spcPts val="100"/>
              </a:spcBef>
            </a:pPr>
            <a:r>
              <a:rPr dirty="0"/>
              <a:t>Request–Response</a:t>
            </a:r>
            <a:r>
              <a:rPr spc="-210" dirty="0"/>
              <a:t> </a:t>
            </a:r>
            <a:r>
              <a:rPr dirty="0"/>
              <a:t>Communication</a:t>
            </a:r>
            <a:r>
              <a:rPr spc="-225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409" y="1350932"/>
            <a:ext cx="4172133" cy="4153722"/>
          </a:xfrm>
          <a:prstGeom prst="rect">
            <a:avLst/>
          </a:prstGeom>
        </p:spPr>
        <p:txBody>
          <a:bodyPr vert="horz" wrap="square" lIns="0" tIns="112366" rIns="0" bIns="0" rtlCol="0">
            <a:spAutoFit/>
          </a:bodyPr>
          <a:lstStyle/>
          <a:p>
            <a:pPr marL="241228" marR="5078" indent="-228531" algn="just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1228" algn="l"/>
                <a:tab pos="3117549" algn="l"/>
                <a:tab pos="4024057" algn="l"/>
              </a:tabLst>
            </a:pPr>
            <a:r>
              <a:rPr sz="2199" spc="-10" dirty="0">
                <a:latin typeface="Calibri"/>
                <a:cs typeface="Calibri"/>
              </a:rPr>
              <a:t>Request–Response</a:t>
            </a:r>
            <a:r>
              <a:rPr sz="2199" dirty="0">
                <a:latin typeface="Calibri"/>
                <a:cs typeface="Calibri"/>
              </a:rPr>
              <a:t>	</a:t>
            </a:r>
            <a:r>
              <a:rPr sz="2199" spc="-25" dirty="0">
                <a:latin typeface="Calibri"/>
                <a:cs typeface="Calibri"/>
              </a:rPr>
              <a:t>is</a:t>
            </a:r>
            <a:r>
              <a:rPr sz="2199" dirty="0">
                <a:latin typeface="Calibri"/>
                <a:cs typeface="Calibri"/>
              </a:rPr>
              <a:t>	</a:t>
            </a:r>
            <a:r>
              <a:rPr sz="2199" spc="-50" dirty="0">
                <a:latin typeface="Calibri"/>
                <a:cs typeface="Calibri"/>
              </a:rPr>
              <a:t>a </a:t>
            </a:r>
            <a:r>
              <a:rPr sz="2199" dirty="0">
                <a:latin typeface="Calibri"/>
                <a:cs typeface="Calibri"/>
              </a:rPr>
              <a:t>communication</a:t>
            </a:r>
            <a:r>
              <a:rPr sz="2199" spc="18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model</a:t>
            </a:r>
            <a:r>
              <a:rPr sz="2199" spc="18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in</a:t>
            </a:r>
            <a:r>
              <a:rPr sz="2199" spc="185" dirty="0">
                <a:latin typeface="Calibri"/>
                <a:cs typeface="Calibri"/>
              </a:rPr>
              <a:t>  </a:t>
            </a:r>
            <a:r>
              <a:rPr sz="2199" spc="-10" dirty="0">
                <a:latin typeface="Calibri"/>
                <a:cs typeface="Calibri"/>
              </a:rPr>
              <a:t>which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49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client</a:t>
            </a:r>
            <a:r>
              <a:rPr sz="2199" spc="50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sends</a:t>
            </a:r>
            <a:r>
              <a:rPr sz="2199" spc="509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requests</a:t>
            </a:r>
            <a:r>
              <a:rPr sz="2199" spc="50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to</a:t>
            </a:r>
            <a:r>
              <a:rPr sz="2199" spc="520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server</a:t>
            </a:r>
            <a:r>
              <a:rPr sz="2199" spc="114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114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12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server</a:t>
            </a:r>
            <a:r>
              <a:rPr sz="2199" spc="12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responds</a:t>
            </a:r>
            <a:r>
              <a:rPr sz="2199" spc="120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to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2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requests.</a:t>
            </a:r>
            <a:endParaRPr sz="2199">
              <a:latin typeface="Calibri"/>
              <a:cs typeface="Calibri"/>
            </a:endParaRPr>
          </a:p>
          <a:p>
            <a:pPr>
              <a:spcBef>
                <a:spcPts val="1155"/>
              </a:spcBef>
              <a:buFont typeface="Arial MT"/>
              <a:buChar char="•"/>
            </a:pPr>
            <a:endParaRPr sz="2199">
              <a:latin typeface="Calibri"/>
              <a:cs typeface="Calibri"/>
            </a:endParaRPr>
          </a:p>
          <a:p>
            <a:pPr marL="241228" marR="5078" indent="-228531" algn="just">
              <a:lnSpc>
                <a:spcPct val="70000"/>
              </a:lnSpc>
              <a:buFont typeface="Arial MT"/>
              <a:buChar char="•"/>
              <a:tabLst>
                <a:tab pos="241228" algn="l"/>
                <a:tab pos="3172143" algn="l"/>
              </a:tabLst>
            </a:pPr>
            <a:r>
              <a:rPr sz="2199" dirty="0">
                <a:latin typeface="Calibri"/>
                <a:cs typeface="Calibri"/>
              </a:rPr>
              <a:t>When</a:t>
            </a:r>
            <a:r>
              <a:rPr sz="2199" spc="20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0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server</a:t>
            </a:r>
            <a:r>
              <a:rPr sz="2199" spc="20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receives</a:t>
            </a:r>
            <a:r>
              <a:rPr sz="2199" spc="545" dirty="0">
                <a:latin typeface="Calibri"/>
                <a:cs typeface="Calibri"/>
              </a:rPr>
              <a:t>  </a:t>
            </a:r>
            <a:r>
              <a:rPr sz="2199" spc="-50" dirty="0">
                <a:latin typeface="Calibri"/>
                <a:cs typeface="Calibri"/>
              </a:rPr>
              <a:t>a </a:t>
            </a:r>
            <a:r>
              <a:rPr sz="2199" dirty="0">
                <a:latin typeface="Calibri"/>
                <a:cs typeface="Calibri"/>
              </a:rPr>
              <a:t>request,</a:t>
            </a:r>
            <a:r>
              <a:rPr sz="2199" spc="29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it</a:t>
            </a:r>
            <a:r>
              <a:rPr sz="2199" spc="29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decides</a:t>
            </a:r>
            <a:r>
              <a:rPr sz="2199" spc="29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how</a:t>
            </a:r>
            <a:r>
              <a:rPr sz="2199" spc="290" dirty="0">
                <a:latin typeface="Calibri"/>
                <a:cs typeface="Calibri"/>
              </a:rPr>
              <a:t>   </a:t>
            </a:r>
            <a:r>
              <a:rPr sz="2199" spc="-25" dirty="0">
                <a:latin typeface="Calibri"/>
                <a:cs typeface="Calibri"/>
              </a:rPr>
              <a:t>to </a:t>
            </a:r>
            <a:r>
              <a:rPr sz="2199" dirty="0">
                <a:latin typeface="Calibri"/>
                <a:cs typeface="Calibri"/>
              </a:rPr>
              <a:t>respond,</a:t>
            </a:r>
            <a:r>
              <a:rPr sz="2199" spc="47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fetches</a:t>
            </a:r>
            <a:r>
              <a:rPr sz="2199" spc="484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484" dirty="0">
                <a:latin typeface="Calibri"/>
                <a:cs typeface="Calibri"/>
              </a:rPr>
              <a:t>   </a:t>
            </a:r>
            <a:r>
              <a:rPr sz="2199" spc="-10" dirty="0">
                <a:latin typeface="Calibri"/>
                <a:cs typeface="Calibri"/>
              </a:rPr>
              <a:t>data, retrieves</a:t>
            </a:r>
            <a:r>
              <a:rPr sz="2199" dirty="0">
                <a:latin typeface="Calibri"/>
                <a:cs typeface="Calibri"/>
              </a:rPr>
              <a:t>	</a:t>
            </a:r>
            <a:r>
              <a:rPr sz="2199" spc="-20" dirty="0">
                <a:latin typeface="Calibri"/>
                <a:cs typeface="Calibri"/>
              </a:rPr>
              <a:t>resource </a:t>
            </a:r>
            <a:r>
              <a:rPr sz="2199" dirty="0">
                <a:latin typeface="Calibri"/>
                <a:cs typeface="Calibri"/>
              </a:rPr>
              <a:t>representations,</a:t>
            </a:r>
            <a:r>
              <a:rPr sz="2199" spc="330" dirty="0">
                <a:latin typeface="Calibri"/>
                <a:cs typeface="Calibri"/>
              </a:rPr>
              <a:t>    </a:t>
            </a:r>
            <a:r>
              <a:rPr sz="2199" dirty="0">
                <a:latin typeface="Calibri"/>
                <a:cs typeface="Calibri"/>
              </a:rPr>
              <a:t>prepares</a:t>
            </a:r>
            <a:r>
              <a:rPr sz="2199" spc="335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response</a:t>
            </a:r>
            <a:r>
              <a:rPr sz="2199" spc="36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37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then</a:t>
            </a:r>
            <a:r>
              <a:rPr sz="2199" spc="37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sends</a:t>
            </a:r>
            <a:r>
              <a:rPr sz="2199" spc="365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response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to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client.</a:t>
            </a:r>
            <a:endParaRPr sz="2199">
              <a:latin typeface="Calibri"/>
              <a:cs typeface="Calibri"/>
            </a:endParaRPr>
          </a:p>
          <a:p>
            <a:pPr>
              <a:spcBef>
                <a:spcPts val="375"/>
              </a:spcBef>
              <a:buFont typeface="Arial MT"/>
              <a:buChar char="•"/>
            </a:pPr>
            <a:endParaRPr sz="2199">
              <a:latin typeface="Calibri"/>
              <a:cs typeface="Calibri"/>
            </a:endParaRPr>
          </a:p>
          <a:p>
            <a:pPr marL="240593" indent="-227897">
              <a:buFont typeface="Arial MT"/>
              <a:buChar char="•"/>
              <a:tabLst>
                <a:tab pos="240593" algn="l"/>
              </a:tabLst>
            </a:pPr>
            <a:r>
              <a:rPr sz="2199" spc="-10" dirty="0">
                <a:latin typeface="Calibri"/>
                <a:cs typeface="Calibri"/>
              </a:rPr>
              <a:t>Stateless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communication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model</a:t>
            </a:r>
            <a:endParaRPr sz="21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2148" y="2189479"/>
            <a:ext cx="6531290" cy="24243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532675" y="6596367"/>
            <a:ext cx="1840385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Bahga</a:t>
            </a:r>
            <a:r>
              <a:rPr sz="1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&amp;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Madisetti,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©</a:t>
            </a:r>
            <a:r>
              <a:rPr sz="1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2015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504" y="6610689"/>
            <a:ext cx="3612844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Book website:</a:t>
            </a:r>
            <a:r>
              <a:rPr sz="1200" spc="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  <a:hlinkClick r:id="rId3"/>
              </a:rPr>
              <a:t>http://www.internet-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  <a:hlinkClick r:id="rId3"/>
              </a:rPr>
              <a:t>of-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  <a:hlinkClick r:id="rId3"/>
              </a:rPr>
              <a:t>things-book.com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9DBC45-3593-6CC3-7365-B58DCF35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8E51F-945C-4F19-8CF9-55A4B88CD697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A741EB-194D-2CDA-3617-5AC22DE6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158"/>
            <a:ext cx="10712704" cy="751357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39023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Publish–Subscribe</a:t>
            </a:r>
            <a:r>
              <a:rPr spc="-175" dirty="0"/>
              <a:t> </a:t>
            </a:r>
            <a:r>
              <a:rPr spc="-10" dirty="0"/>
              <a:t>Communication</a:t>
            </a:r>
            <a:r>
              <a:rPr spc="-14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57352"/>
            <a:ext cx="4174038" cy="4026755"/>
          </a:xfrm>
          <a:prstGeom prst="rect">
            <a:avLst/>
          </a:prstGeom>
        </p:spPr>
        <p:txBody>
          <a:bodyPr vert="horz" wrap="square" lIns="0" tIns="112366" rIns="0" bIns="0" rtlCol="0">
            <a:spAutoFit/>
          </a:bodyPr>
          <a:lstStyle/>
          <a:p>
            <a:pPr marL="241228" marR="6983" indent="-228531" algn="just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1228" algn="l"/>
                <a:tab pos="3070574" algn="l"/>
                <a:tab pos="4022788" algn="l"/>
              </a:tabLst>
            </a:pPr>
            <a:r>
              <a:rPr sz="2199" spc="-10" dirty="0">
                <a:latin typeface="Calibri"/>
                <a:cs typeface="Calibri"/>
              </a:rPr>
              <a:t>Publish–Subscribe</a:t>
            </a:r>
            <a:r>
              <a:rPr sz="2199" dirty="0">
                <a:latin typeface="Calibri"/>
                <a:cs typeface="Calibri"/>
              </a:rPr>
              <a:t>	</a:t>
            </a:r>
            <a:r>
              <a:rPr sz="2199" spc="-25" dirty="0">
                <a:latin typeface="Calibri"/>
                <a:cs typeface="Calibri"/>
              </a:rPr>
              <a:t>is</a:t>
            </a:r>
            <a:r>
              <a:rPr sz="2199" dirty="0">
                <a:latin typeface="Calibri"/>
                <a:cs typeface="Calibri"/>
              </a:rPr>
              <a:t>	</a:t>
            </a:r>
            <a:r>
              <a:rPr sz="2199" spc="-50" dirty="0">
                <a:latin typeface="Calibri"/>
                <a:cs typeface="Calibri"/>
              </a:rPr>
              <a:t>a </a:t>
            </a:r>
            <a:r>
              <a:rPr sz="2199" dirty="0">
                <a:latin typeface="Calibri"/>
                <a:cs typeface="Calibri"/>
              </a:rPr>
              <a:t>communication</a:t>
            </a:r>
            <a:r>
              <a:rPr sz="2199" spc="434" dirty="0">
                <a:latin typeface="Calibri"/>
                <a:cs typeface="Calibri"/>
              </a:rPr>
              <a:t>    </a:t>
            </a:r>
            <a:r>
              <a:rPr sz="2199" dirty="0">
                <a:latin typeface="Calibri"/>
                <a:cs typeface="Calibri"/>
              </a:rPr>
              <a:t>model</a:t>
            </a:r>
            <a:r>
              <a:rPr sz="2199" spc="440" dirty="0">
                <a:latin typeface="Calibri"/>
                <a:cs typeface="Calibri"/>
              </a:rPr>
              <a:t>    </a:t>
            </a:r>
            <a:r>
              <a:rPr sz="2199" spc="-20" dirty="0">
                <a:latin typeface="Calibri"/>
                <a:cs typeface="Calibri"/>
              </a:rPr>
              <a:t>that </a:t>
            </a:r>
            <a:r>
              <a:rPr sz="2199" dirty="0">
                <a:latin typeface="Calibri"/>
                <a:cs typeface="Calibri"/>
              </a:rPr>
              <a:t>involves</a:t>
            </a:r>
            <a:r>
              <a:rPr sz="2199" spc="9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publishers,</a:t>
            </a:r>
            <a:r>
              <a:rPr sz="2199" spc="9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brokers</a:t>
            </a:r>
            <a:r>
              <a:rPr sz="2199" spc="95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and </a:t>
            </a:r>
            <a:r>
              <a:rPr sz="2199" spc="-10" dirty="0">
                <a:latin typeface="Calibri"/>
                <a:cs typeface="Calibri"/>
              </a:rPr>
              <a:t>consumers.</a:t>
            </a:r>
            <a:endParaRPr sz="2199">
              <a:latin typeface="Calibri"/>
              <a:cs typeface="Calibri"/>
            </a:endParaRPr>
          </a:p>
          <a:p>
            <a:pPr marL="241228" marR="5078" indent="-228531" algn="just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Publishers</a:t>
            </a:r>
            <a:r>
              <a:rPr sz="2199" spc="16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16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1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source</a:t>
            </a:r>
            <a:r>
              <a:rPr sz="2199" spc="17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of</a:t>
            </a:r>
            <a:r>
              <a:rPr sz="2199" spc="16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data. </a:t>
            </a:r>
            <a:r>
              <a:rPr sz="2199" dirty="0">
                <a:latin typeface="Calibri"/>
                <a:cs typeface="Calibri"/>
              </a:rPr>
              <a:t>Publishers</a:t>
            </a:r>
            <a:r>
              <a:rPr sz="2199" spc="4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send</a:t>
            </a:r>
            <a:r>
              <a:rPr sz="2199" spc="4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3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data</a:t>
            </a:r>
            <a:r>
              <a:rPr sz="2199" spc="4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to</a:t>
            </a:r>
            <a:r>
              <a:rPr sz="2199" spc="40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topics</a:t>
            </a:r>
            <a:r>
              <a:rPr sz="2199" spc="2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which</a:t>
            </a:r>
            <a:r>
              <a:rPr sz="2199" spc="2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2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managed</a:t>
            </a:r>
            <a:r>
              <a:rPr sz="2199" spc="2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by</a:t>
            </a:r>
            <a:r>
              <a:rPr sz="2199" spc="240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broker.</a:t>
            </a:r>
            <a:r>
              <a:rPr sz="2199" spc="40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Publishers</a:t>
            </a:r>
            <a:r>
              <a:rPr sz="2199" spc="40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409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not</a:t>
            </a:r>
            <a:r>
              <a:rPr sz="2199" spc="40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aware </a:t>
            </a:r>
            <a:r>
              <a:rPr sz="2199" dirty="0">
                <a:latin typeface="Calibri"/>
                <a:cs typeface="Calibri"/>
              </a:rPr>
              <a:t>of</a:t>
            </a:r>
            <a:r>
              <a:rPr sz="2199" spc="-1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consumers.</a:t>
            </a:r>
            <a:endParaRPr sz="2199">
              <a:latin typeface="Calibri"/>
              <a:cs typeface="Calibri"/>
            </a:endParaRPr>
          </a:p>
          <a:p>
            <a:pPr marL="240593" indent="-227897" algn="just">
              <a:lnSpc>
                <a:spcPts val="2244"/>
              </a:lnSpc>
              <a:spcBef>
                <a:spcPts val="204"/>
              </a:spcBef>
              <a:buFont typeface="Arial MT"/>
              <a:buChar char="•"/>
              <a:tabLst>
                <a:tab pos="240593" algn="l"/>
              </a:tabLst>
            </a:pPr>
            <a:r>
              <a:rPr sz="2199" dirty="0">
                <a:latin typeface="Calibri"/>
                <a:cs typeface="Calibri"/>
              </a:rPr>
              <a:t>Consumers</a:t>
            </a:r>
            <a:r>
              <a:rPr sz="2199" spc="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subscribe to</a:t>
            </a:r>
            <a:r>
              <a:rPr sz="2199" spc="1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 </a:t>
            </a:r>
            <a:r>
              <a:rPr sz="2199" spc="-10" dirty="0">
                <a:latin typeface="Calibri"/>
                <a:cs typeface="Calibri"/>
              </a:rPr>
              <a:t>topics</a:t>
            </a:r>
            <a:endParaRPr sz="2199">
              <a:latin typeface="Calibri"/>
              <a:cs typeface="Calibri"/>
            </a:endParaRPr>
          </a:p>
          <a:p>
            <a:pPr marL="241228" algn="just">
              <a:lnSpc>
                <a:spcPts val="2244"/>
              </a:lnSpc>
            </a:pPr>
            <a:r>
              <a:rPr sz="2199" dirty="0">
                <a:latin typeface="Calibri"/>
                <a:cs typeface="Calibri"/>
              </a:rPr>
              <a:t>which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managed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by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broker.</a:t>
            </a:r>
            <a:endParaRPr sz="2199">
              <a:latin typeface="Calibri"/>
              <a:cs typeface="Calibri"/>
            </a:endParaRPr>
          </a:p>
          <a:p>
            <a:pPr marL="241228" marR="7618" indent="-228531" algn="just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When</a:t>
            </a:r>
            <a:r>
              <a:rPr sz="2199" spc="-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 broker</a:t>
            </a:r>
            <a:r>
              <a:rPr sz="2199" spc="-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receives data </a:t>
            </a:r>
            <a:r>
              <a:rPr sz="2199" spc="-25" dirty="0">
                <a:latin typeface="Calibri"/>
                <a:cs typeface="Calibri"/>
              </a:rPr>
              <a:t>for </a:t>
            </a:r>
            <a:r>
              <a:rPr sz="2199" dirty="0">
                <a:latin typeface="Calibri"/>
                <a:cs typeface="Calibri"/>
              </a:rPr>
              <a:t>a</a:t>
            </a:r>
            <a:r>
              <a:rPr sz="2199" spc="27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topic</a:t>
            </a:r>
            <a:r>
              <a:rPr sz="2199" spc="27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from</a:t>
            </a:r>
            <a:r>
              <a:rPr sz="2199" spc="28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8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publisher,</a:t>
            </a:r>
            <a:r>
              <a:rPr sz="2199" spc="275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it </a:t>
            </a:r>
            <a:r>
              <a:rPr sz="2199" dirty="0">
                <a:latin typeface="Calibri"/>
                <a:cs typeface="Calibri"/>
              </a:rPr>
              <a:t>sends</a:t>
            </a:r>
            <a:r>
              <a:rPr sz="2199" spc="28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8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data</a:t>
            </a:r>
            <a:r>
              <a:rPr sz="2199" spc="28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to</a:t>
            </a:r>
            <a:r>
              <a:rPr sz="2199" spc="28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all</a:t>
            </a:r>
            <a:r>
              <a:rPr sz="2199" spc="275" dirty="0">
                <a:latin typeface="Calibri"/>
                <a:cs typeface="Calibri"/>
              </a:rPr>
              <a:t>  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subscribed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consumers.</a:t>
            </a:r>
            <a:endParaRPr sz="2199">
              <a:latin typeface="Calibri"/>
              <a:cs typeface="Calibri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93AF5F8E-9B9C-683B-C705-997E3F1937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9264" y="2362200"/>
            <a:ext cx="6421260" cy="23162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98E97C7-494D-91D2-E627-0FBCF388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9C993-60E9-4AD9-82A2-86D6EAC733B4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8638AEC-8672-DE55-9740-AFBF7A8F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Push–Pull</a:t>
            </a:r>
            <a:r>
              <a:rPr spc="-120" dirty="0"/>
              <a:t> </a:t>
            </a:r>
            <a:r>
              <a:rPr spc="-10" dirty="0"/>
              <a:t>Communication</a:t>
            </a:r>
            <a:r>
              <a:rPr spc="-10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57353"/>
            <a:ext cx="4172767" cy="4174927"/>
          </a:xfrm>
          <a:prstGeom prst="rect">
            <a:avLst/>
          </a:prstGeom>
        </p:spPr>
        <p:txBody>
          <a:bodyPr vert="horz" wrap="square" lIns="0" tIns="112366" rIns="0" bIns="0" rtlCol="0">
            <a:spAutoFit/>
          </a:bodyPr>
          <a:lstStyle/>
          <a:p>
            <a:pPr marL="241228" marR="5078" indent="-228531" algn="just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Push–Pull</a:t>
            </a:r>
            <a:r>
              <a:rPr sz="2199" spc="46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47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a</a:t>
            </a:r>
            <a:r>
              <a:rPr sz="2199" spc="475" dirty="0">
                <a:latin typeface="Calibri"/>
                <a:cs typeface="Calibri"/>
              </a:rPr>
              <a:t>  </a:t>
            </a:r>
            <a:r>
              <a:rPr sz="2199" spc="-10" dirty="0">
                <a:latin typeface="Calibri"/>
                <a:cs typeface="Calibri"/>
              </a:rPr>
              <a:t>communication </a:t>
            </a:r>
            <a:r>
              <a:rPr sz="2199" dirty="0">
                <a:latin typeface="Calibri"/>
                <a:cs typeface="Calibri"/>
              </a:rPr>
              <a:t>model</a:t>
            </a:r>
            <a:r>
              <a:rPr sz="2199" spc="43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in</a:t>
            </a:r>
            <a:r>
              <a:rPr sz="2199" spc="44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which</a:t>
            </a:r>
            <a:r>
              <a:rPr sz="2199" spc="44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430" dirty="0">
                <a:latin typeface="Calibri"/>
                <a:cs typeface="Calibri"/>
              </a:rPr>
              <a:t>   </a:t>
            </a:r>
            <a:r>
              <a:rPr sz="2199" spc="-20" dirty="0">
                <a:latin typeface="Calibri"/>
                <a:cs typeface="Calibri"/>
              </a:rPr>
              <a:t>data </a:t>
            </a:r>
            <a:r>
              <a:rPr sz="2199" dirty="0">
                <a:latin typeface="Calibri"/>
                <a:cs typeface="Calibri"/>
              </a:rPr>
              <a:t>producers</a:t>
            </a:r>
            <a:r>
              <a:rPr sz="2199" spc="21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push</a:t>
            </a:r>
            <a:r>
              <a:rPr sz="2199" spc="21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1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data</a:t>
            </a:r>
            <a:r>
              <a:rPr sz="2199" spc="215" dirty="0">
                <a:latin typeface="Calibri"/>
                <a:cs typeface="Calibri"/>
              </a:rPr>
              <a:t>   </a:t>
            </a:r>
            <a:r>
              <a:rPr sz="2199" spc="-25" dirty="0">
                <a:latin typeface="Calibri"/>
                <a:cs typeface="Calibri"/>
              </a:rPr>
              <a:t>to </a:t>
            </a:r>
            <a:r>
              <a:rPr sz="2199" dirty="0">
                <a:latin typeface="Calibri"/>
                <a:cs typeface="Calibri"/>
              </a:rPr>
              <a:t>queues</a:t>
            </a:r>
            <a:r>
              <a:rPr sz="2199" spc="9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9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10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consumers</a:t>
            </a:r>
            <a:r>
              <a:rPr sz="2199" spc="95" dirty="0">
                <a:latin typeface="Calibri"/>
                <a:cs typeface="Calibri"/>
              </a:rPr>
              <a:t>  </a:t>
            </a:r>
            <a:r>
              <a:rPr sz="2199" spc="-20" dirty="0">
                <a:latin typeface="Calibri"/>
                <a:cs typeface="Calibri"/>
              </a:rPr>
              <a:t>pull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8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data</a:t>
            </a:r>
            <a:r>
              <a:rPr sz="2199" spc="28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from</a:t>
            </a:r>
            <a:r>
              <a:rPr sz="2199" spc="28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85" dirty="0">
                <a:latin typeface="Calibri"/>
                <a:cs typeface="Calibri"/>
              </a:rPr>
              <a:t>   </a:t>
            </a:r>
            <a:r>
              <a:rPr sz="2199" spc="-10" dirty="0">
                <a:latin typeface="Calibri"/>
                <a:cs typeface="Calibri"/>
              </a:rPr>
              <a:t>queues. </a:t>
            </a:r>
            <a:r>
              <a:rPr sz="2199" dirty="0">
                <a:latin typeface="Calibri"/>
                <a:cs typeface="Calibri"/>
              </a:rPr>
              <a:t>Producers</a:t>
            </a:r>
            <a:r>
              <a:rPr sz="2199" spc="26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do</a:t>
            </a:r>
            <a:r>
              <a:rPr sz="2199" spc="26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not</a:t>
            </a:r>
            <a:r>
              <a:rPr sz="2199" spc="27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need</a:t>
            </a:r>
            <a:r>
              <a:rPr sz="2199" spc="27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to</a:t>
            </a:r>
            <a:r>
              <a:rPr sz="2199" spc="270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be </a:t>
            </a:r>
            <a:r>
              <a:rPr sz="2199" dirty="0">
                <a:latin typeface="Calibri"/>
                <a:cs typeface="Calibri"/>
              </a:rPr>
              <a:t>aware</a:t>
            </a:r>
            <a:r>
              <a:rPr sz="2199" spc="-7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of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consumers.</a:t>
            </a:r>
            <a:endParaRPr sz="2199">
              <a:latin typeface="Calibri"/>
              <a:cs typeface="Calibri"/>
            </a:endParaRPr>
          </a:p>
          <a:p>
            <a:pPr marL="241228" marR="5713" indent="-228531" algn="just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Queues</a:t>
            </a:r>
            <a:r>
              <a:rPr sz="2199" spc="19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help</a:t>
            </a:r>
            <a:r>
              <a:rPr sz="2199" spc="195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in</a:t>
            </a:r>
            <a:r>
              <a:rPr sz="2199" spc="19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decoupling</a:t>
            </a:r>
            <a:r>
              <a:rPr sz="2199" spc="185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messaging</a:t>
            </a:r>
            <a:r>
              <a:rPr sz="2199" spc="-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between the </a:t>
            </a:r>
            <a:r>
              <a:rPr sz="2199" spc="-10" dirty="0">
                <a:latin typeface="Calibri"/>
                <a:cs typeface="Calibri"/>
              </a:rPr>
              <a:t>producers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1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consumers.</a:t>
            </a:r>
            <a:endParaRPr sz="2199">
              <a:latin typeface="Calibri"/>
              <a:cs typeface="Calibri"/>
            </a:endParaRPr>
          </a:p>
          <a:p>
            <a:pPr marL="241228" marR="5713" indent="-228531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Queues</a:t>
            </a:r>
            <a:r>
              <a:rPr sz="2199" spc="1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also</a:t>
            </a:r>
            <a:r>
              <a:rPr sz="2199" spc="1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act</a:t>
            </a:r>
            <a:r>
              <a:rPr sz="2199" spc="12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as</a:t>
            </a:r>
            <a:r>
              <a:rPr sz="2199" spc="1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</a:t>
            </a:r>
            <a:r>
              <a:rPr sz="2199" spc="1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buffer</a:t>
            </a:r>
            <a:r>
              <a:rPr sz="2199" spc="13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which </a:t>
            </a:r>
            <a:r>
              <a:rPr sz="2199" dirty="0">
                <a:latin typeface="Calibri"/>
                <a:cs typeface="Calibri"/>
              </a:rPr>
              <a:t>helps</a:t>
            </a:r>
            <a:r>
              <a:rPr sz="2199" spc="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in</a:t>
            </a:r>
            <a:r>
              <a:rPr sz="2199" spc="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situations</a:t>
            </a:r>
            <a:r>
              <a:rPr sz="2199" spc="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when</a:t>
            </a:r>
            <a:r>
              <a:rPr sz="2199" spc="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there</a:t>
            </a:r>
            <a:r>
              <a:rPr sz="2199" spc="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50" dirty="0">
                <a:latin typeface="Calibri"/>
                <a:cs typeface="Calibri"/>
              </a:rPr>
              <a:t> </a:t>
            </a:r>
            <a:r>
              <a:rPr sz="2199" spc="-50" dirty="0">
                <a:latin typeface="Calibri"/>
                <a:cs typeface="Calibri"/>
              </a:rPr>
              <a:t>a </a:t>
            </a:r>
            <a:r>
              <a:rPr sz="2199" dirty="0">
                <a:latin typeface="Calibri"/>
                <a:cs typeface="Calibri"/>
              </a:rPr>
              <a:t>mismatch</a:t>
            </a:r>
            <a:r>
              <a:rPr sz="2199" spc="20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between</a:t>
            </a:r>
            <a:r>
              <a:rPr sz="2199" spc="204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04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rate</a:t>
            </a:r>
            <a:r>
              <a:rPr sz="2199" spc="204" dirty="0">
                <a:latin typeface="Calibri"/>
                <a:cs typeface="Calibri"/>
              </a:rPr>
              <a:t>  </a:t>
            </a:r>
            <a:r>
              <a:rPr sz="2199" spc="-25" dirty="0">
                <a:latin typeface="Calibri"/>
                <a:cs typeface="Calibri"/>
              </a:rPr>
              <a:t>at </a:t>
            </a:r>
            <a:r>
              <a:rPr sz="2199" dirty="0">
                <a:latin typeface="Calibri"/>
                <a:cs typeface="Calibri"/>
              </a:rPr>
              <a:t>which</a:t>
            </a:r>
            <a:r>
              <a:rPr sz="2199" spc="14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15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producers</a:t>
            </a:r>
            <a:r>
              <a:rPr sz="2199" spc="150" dirty="0">
                <a:latin typeface="Calibri"/>
                <a:cs typeface="Calibri"/>
              </a:rPr>
              <a:t>  </a:t>
            </a:r>
            <a:r>
              <a:rPr sz="2199" dirty="0">
                <a:latin typeface="Calibri"/>
                <a:cs typeface="Calibri"/>
              </a:rPr>
              <a:t>push</a:t>
            </a:r>
            <a:r>
              <a:rPr sz="2199" spc="145" dirty="0">
                <a:latin typeface="Calibri"/>
                <a:cs typeface="Calibri"/>
              </a:rPr>
              <a:t>  </a:t>
            </a:r>
            <a:r>
              <a:rPr sz="2199" spc="-20" dirty="0">
                <a:latin typeface="Calibri"/>
                <a:cs typeface="Calibri"/>
              </a:rPr>
              <a:t>data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21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21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rate</a:t>
            </a:r>
            <a:r>
              <a:rPr sz="2199" spc="220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at</a:t>
            </a:r>
            <a:r>
              <a:rPr sz="2199" spc="215" dirty="0">
                <a:latin typeface="Calibri"/>
                <a:cs typeface="Calibri"/>
              </a:rPr>
              <a:t>   </a:t>
            </a:r>
            <a:r>
              <a:rPr sz="2199" dirty="0">
                <a:latin typeface="Calibri"/>
                <a:cs typeface="Calibri"/>
              </a:rPr>
              <a:t>which</a:t>
            </a:r>
            <a:r>
              <a:rPr sz="2199" spc="215" dirty="0">
                <a:latin typeface="Calibri"/>
                <a:cs typeface="Calibri"/>
              </a:rPr>
              <a:t>  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spc="-10" dirty="0">
                <a:latin typeface="Calibri"/>
                <a:cs typeface="Calibri"/>
              </a:rPr>
              <a:t>consumers</a:t>
            </a:r>
            <a:r>
              <a:rPr sz="2199" spc="-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pull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spc="-20" dirty="0">
                <a:latin typeface="Calibri"/>
                <a:cs typeface="Calibri"/>
              </a:rPr>
              <a:t>data.</a:t>
            </a:r>
            <a:endParaRPr sz="21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9399" y="2559778"/>
            <a:ext cx="6715914" cy="2613143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9654754-4EC4-6663-D8B4-74966146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CF75-3CEF-4B3E-8964-94EDB373646D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99FEFC2-1ED1-A58D-8702-2BB0A17E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Exclusive</a:t>
            </a:r>
            <a:r>
              <a:rPr spc="-150" dirty="0"/>
              <a:t> </a:t>
            </a:r>
            <a:r>
              <a:rPr dirty="0"/>
              <a:t>Pair</a:t>
            </a:r>
            <a:r>
              <a:rPr spc="-145" dirty="0"/>
              <a:t> </a:t>
            </a:r>
            <a:r>
              <a:rPr spc="-10" dirty="0"/>
              <a:t>Communication</a:t>
            </a:r>
            <a:r>
              <a:rPr spc="-15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37547"/>
            <a:ext cx="1456945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241228" indent="-228531">
              <a:spcBef>
                <a:spcPts val="105"/>
              </a:spcBef>
              <a:buFont typeface="Arial MT"/>
              <a:buChar char="•"/>
              <a:tabLst>
                <a:tab pos="241228" algn="l"/>
              </a:tabLst>
            </a:pPr>
            <a:r>
              <a:rPr sz="2599" spc="-10" dirty="0">
                <a:latin typeface="Calibri"/>
                <a:cs typeface="Calibri"/>
              </a:rPr>
              <a:t>Exclusive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105" y="1737547"/>
            <a:ext cx="538340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20" dirty="0">
                <a:latin typeface="Calibri"/>
                <a:cs typeface="Calibri"/>
              </a:rPr>
              <a:t>Pair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6430" y="1737547"/>
            <a:ext cx="231080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25" dirty="0">
                <a:latin typeface="Calibri"/>
                <a:cs typeface="Calibri"/>
              </a:rPr>
              <a:t>is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3081" y="1737547"/>
            <a:ext cx="184102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50" dirty="0">
                <a:latin typeface="Calibri"/>
                <a:cs typeface="Calibri"/>
              </a:rPr>
              <a:t>a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240" y="2014843"/>
            <a:ext cx="1790234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10" dirty="0">
                <a:latin typeface="Calibri"/>
                <a:cs typeface="Calibri"/>
              </a:rPr>
              <a:t>bidirectional,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9592" y="2014843"/>
            <a:ext cx="602458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10" dirty="0">
                <a:latin typeface="Calibri"/>
                <a:cs typeface="Calibri"/>
              </a:rPr>
              <a:t>fully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5656" y="2014843"/>
            <a:ext cx="925589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10" dirty="0">
                <a:latin typeface="Calibri"/>
                <a:cs typeface="Calibri"/>
              </a:rPr>
              <a:t>duplex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241" y="2292139"/>
            <a:ext cx="3942958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  <a:tabLst>
                <a:tab pos="2313246" algn="l"/>
                <a:tab pos="3378456" algn="l"/>
              </a:tabLst>
            </a:pPr>
            <a:r>
              <a:rPr sz="2599" spc="-10" dirty="0">
                <a:latin typeface="Calibri"/>
                <a:cs typeface="Calibri"/>
              </a:rPr>
              <a:t>communication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10" dirty="0">
                <a:latin typeface="Calibri"/>
                <a:cs typeface="Calibri"/>
              </a:rPr>
              <a:t>model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0" dirty="0">
                <a:latin typeface="Calibri"/>
                <a:cs typeface="Calibri"/>
              </a:rPr>
              <a:t>that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700" y="2569510"/>
            <a:ext cx="4175307" cy="3207159"/>
          </a:xfrm>
          <a:prstGeom prst="rect">
            <a:avLst/>
          </a:prstGeom>
        </p:spPr>
        <p:txBody>
          <a:bodyPr vert="horz" wrap="square" lIns="0" tIns="132046" rIns="0" bIns="0" rtlCol="0">
            <a:spAutoFit/>
          </a:bodyPr>
          <a:lstStyle/>
          <a:p>
            <a:pPr marL="241228" marR="6348" algn="just">
              <a:lnSpc>
                <a:spcPct val="70000"/>
              </a:lnSpc>
              <a:spcBef>
                <a:spcPts val="1040"/>
              </a:spcBef>
            </a:pPr>
            <a:r>
              <a:rPr sz="2599" dirty="0">
                <a:latin typeface="Calibri"/>
                <a:cs typeface="Calibri"/>
              </a:rPr>
              <a:t>uses</a:t>
            </a:r>
            <a:r>
              <a:rPr sz="2599" spc="21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a</a:t>
            </a:r>
            <a:r>
              <a:rPr sz="2599" spc="21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persistent</a:t>
            </a:r>
            <a:r>
              <a:rPr sz="2599" spc="235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connection </a:t>
            </a:r>
            <a:r>
              <a:rPr sz="2599" dirty="0">
                <a:latin typeface="Calibri"/>
                <a:cs typeface="Calibri"/>
              </a:rPr>
              <a:t>between</a:t>
            </a:r>
            <a:r>
              <a:rPr sz="2599" spc="54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the</a:t>
            </a:r>
            <a:r>
              <a:rPr sz="2599" spc="53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client</a:t>
            </a:r>
            <a:r>
              <a:rPr sz="2599" spc="55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and</a:t>
            </a:r>
            <a:r>
              <a:rPr sz="2599" spc="545" dirty="0">
                <a:latin typeface="Calibri"/>
                <a:cs typeface="Calibri"/>
              </a:rPr>
              <a:t> </a:t>
            </a:r>
            <a:r>
              <a:rPr sz="2599" spc="-25" dirty="0">
                <a:latin typeface="Calibri"/>
                <a:cs typeface="Calibri"/>
              </a:rPr>
              <a:t>the </a:t>
            </a:r>
            <a:r>
              <a:rPr sz="2599" spc="-10" dirty="0">
                <a:latin typeface="Calibri"/>
                <a:cs typeface="Calibri"/>
              </a:rPr>
              <a:t>server.</a:t>
            </a:r>
            <a:endParaRPr sz="2599">
              <a:latin typeface="Calibri"/>
              <a:cs typeface="Calibri"/>
            </a:endParaRPr>
          </a:p>
          <a:p>
            <a:pPr marL="241228" marR="5078" indent="-228531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2599" dirty="0">
                <a:latin typeface="Calibri"/>
                <a:cs typeface="Calibri"/>
              </a:rPr>
              <a:t>Once</a:t>
            </a:r>
            <a:r>
              <a:rPr sz="2599" spc="5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the</a:t>
            </a:r>
            <a:r>
              <a:rPr sz="2599" spc="5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connection</a:t>
            </a:r>
            <a:r>
              <a:rPr sz="2599" spc="5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is</a:t>
            </a:r>
            <a:r>
              <a:rPr sz="2599" spc="60" dirty="0">
                <a:latin typeface="Calibri"/>
                <a:cs typeface="Calibri"/>
              </a:rPr>
              <a:t>  </a:t>
            </a:r>
            <a:r>
              <a:rPr sz="2599" spc="-25" dirty="0">
                <a:latin typeface="Calibri"/>
                <a:cs typeface="Calibri"/>
              </a:rPr>
              <a:t>set </a:t>
            </a:r>
            <a:r>
              <a:rPr sz="2599" dirty="0">
                <a:latin typeface="Calibri"/>
                <a:cs typeface="Calibri"/>
              </a:rPr>
              <a:t>up</a:t>
            </a:r>
            <a:r>
              <a:rPr sz="2599" spc="14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it,</a:t>
            </a:r>
            <a:r>
              <a:rPr sz="2599" spc="14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remains</a:t>
            </a:r>
            <a:r>
              <a:rPr sz="2599" spc="15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open</a:t>
            </a:r>
            <a:r>
              <a:rPr sz="2599" spc="14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until</a:t>
            </a:r>
            <a:r>
              <a:rPr sz="2599" spc="145" dirty="0">
                <a:latin typeface="Calibri"/>
                <a:cs typeface="Calibri"/>
              </a:rPr>
              <a:t> </a:t>
            </a:r>
            <a:r>
              <a:rPr sz="2599" spc="-25" dirty="0">
                <a:latin typeface="Calibri"/>
                <a:cs typeface="Calibri"/>
              </a:rPr>
              <a:t>the </a:t>
            </a:r>
            <a:r>
              <a:rPr sz="2599" dirty="0">
                <a:latin typeface="Calibri"/>
                <a:cs typeface="Calibri"/>
              </a:rPr>
              <a:t>client</a:t>
            </a:r>
            <a:r>
              <a:rPr sz="2599" spc="315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sends</a:t>
            </a:r>
            <a:r>
              <a:rPr sz="2599" spc="32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a</a:t>
            </a:r>
            <a:r>
              <a:rPr sz="2599" spc="32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request</a:t>
            </a:r>
            <a:r>
              <a:rPr sz="2599" spc="320" dirty="0">
                <a:latin typeface="Calibri"/>
                <a:cs typeface="Calibri"/>
              </a:rPr>
              <a:t>  </a:t>
            </a:r>
            <a:r>
              <a:rPr sz="2599" spc="-25" dirty="0">
                <a:latin typeface="Calibri"/>
                <a:cs typeface="Calibri"/>
              </a:rPr>
              <a:t>to </a:t>
            </a:r>
            <a:r>
              <a:rPr sz="2599" dirty="0">
                <a:latin typeface="Calibri"/>
                <a:cs typeface="Calibri"/>
              </a:rPr>
              <a:t>close</a:t>
            </a:r>
            <a:r>
              <a:rPr sz="2599" spc="-1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the</a:t>
            </a:r>
            <a:r>
              <a:rPr sz="2599" spc="-15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connection.</a:t>
            </a:r>
            <a:endParaRPr sz="2599">
              <a:latin typeface="Calibri"/>
              <a:cs typeface="Calibri"/>
            </a:endParaRPr>
          </a:p>
          <a:p>
            <a:pPr marL="241228" marR="6348" indent="-228531" algn="just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2599" dirty="0">
                <a:latin typeface="Calibri"/>
                <a:cs typeface="Calibri"/>
              </a:rPr>
              <a:t>Client</a:t>
            </a:r>
            <a:r>
              <a:rPr sz="2599" spc="8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and</a:t>
            </a:r>
            <a:r>
              <a:rPr sz="2599" spc="7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server</a:t>
            </a:r>
            <a:r>
              <a:rPr sz="2599" spc="80" dirty="0">
                <a:latin typeface="Calibri"/>
                <a:cs typeface="Calibri"/>
              </a:rPr>
              <a:t>  </a:t>
            </a:r>
            <a:r>
              <a:rPr sz="2599" dirty="0">
                <a:latin typeface="Calibri"/>
                <a:cs typeface="Calibri"/>
              </a:rPr>
              <a:t>can</a:t>
            </a:r>
            <a:r>
              <a:rPr sz="2599" spc="75" dirty="0">
                <a:latin typeface="Calibri"/>
                <a:cs typeface="Calibri"/>
              </a:rPr>
              <a:t>  </a:t>
            </a:r>
            <a:r>
              <a:rPr sz="2599" spc="-20" dirty="0">
                <a:latin typeface="Calibri"/>
                <a:cs typeface="Calibri"/>
              </a:rPr>
              <a:t>send </a:t>
            </a:r>
            <a:r>
              <a:rPr sz="2599" dirty="0">
                <a:latin typeface="Calibri"/>
                <a:cs typeface="Calibri"/>
              </a:rPr>
              <a:t>messages</a:t>
            </a:r>
            <a:r>
              <a:rPr sz="2599" spc="2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to</a:t>
            </a:r>
            <a:r>
              <a:rPr sz="2599" spc="2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each</a:t>
            </a:r>
            <a:r>
              <a:rPr sz="2599" spc="3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other</a:t>
            </a:r>
            <a:r>
              <a:rPr sz="2599" spc="25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after </a:t>
            </a:r>
            <a:r>
              <a:rPr sz="2599" dirty="0">
                <a:latin typeface="Calibri"/>
                <a:cs typeface="Calibri"/>
              </a:rPr>
              <a:t>connection</a:t>
            </a:r>
            <a:r>
              <a:rPr sz="2599" spc="-70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setup.</a:t>
            </a:r>
            <a:endParaRPr sz="2599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5693" y="1954004"/>
            <a:ext cx="5847268" cy="3950466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98D8C73-C0DC-FED4-D74F-A98E2409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25CF-E509-45CD-B1ED-74BF6EE65A11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9FB8525-C17C-6210-65A9-08287624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REST-</a:t>
            </a:r>
            <a:r>
              <a:rPr dirty="0"/>
              <a:t>based</a:t>
            </a:r>
            <a:r>
              <a:rPr spc="-114" dirty="0"/>
              <a:t> </a:t>
            </a:r>
            <a:r>
              <a:rPr dirty="0"/>
              <a:t>Communication</a:t>
            </a:r>
            <a:r>
              <a:rPr spc="-114" dirty="0"/>
              <a:t> </a:t>
            </a:r>
            <a:r>
              <a:rPr spc="-20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9568" y="1220536"/>
            <a:ext cx="4173403" cy="2037183"/>
          </a:xfrm>
          <a:prstGeom prst="rect">
            <a:avLst/>
          </a:prstGeom>
        </p:spPr>
        <p:txBody>
          <a:bodyPr vert="horz" wrap="square" lIns="0" tIns="48882" rIns="0" bIns="0" rtlCol="0">
            <a:spAutoFit/>
          </a:bodyPr>
          <a:lstStyle/>
          <a:p>
            <a:pPr marL="239957" marR="5078" indent="-227261" algn="just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228" algn="l"/>
              </a:tabLst>
            </a:pPr>
            <a:r>
              <a:rPr sz="2399" dirty="0">
                <a:latin typeface="Calibri"/>
                <a:cs typeface="Calibri"/>
              </a:rPr>
              <a:t>Representational</a:t>
            </a:r>
            <a:r>
              <a:rPr sz="2399" spc="-1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State </a:t>
            </a:r>
            <a:r>
              <a:rPr sz="2399" spc="-25" dirty="0">
                <a:latin typeface="Calibri"/>
                <a:cs typeface="Calibri"/>
              </a:rPr>
              <a:t>Transfer 	</a:t>
            </a:r>
            <a:r>
              <a:rPr sz="2399" dirty="0">
                <a:latin typeface="Calibri"/>
                <a:cs typeface="Calibri"/>
              </a:rPr>
              <a:t>(REST)</a:t>
            </a:r>
            <a:r>
              <a:rPr sz="2399" spc="37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is</a:t>
            </a:r>
            <a:r>
              <a:rPr sz="2399" spc="37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</a:t>
            </a:r>
            <a:r>
              <a:rPr sz="2399" spc="37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set</a:t>
            </a:r>
            <a:r>
              <a:rPr sz="2399" spc="37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of</a:t>
            </a:r>
            <a:r>
              <a:rPr sz="2399" spc="37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architectural 	</a:t>
            </a:r>
            <a:r>
              <a:rPr sz="2399" dirty="0">
                <a:latin typeface="Calibri"/>
                <a:cs typeface="Calibri"/>
              </a:rPr>
              <a:t>principles</a:t>
            </a:r>
            <a:r>
              <a:rPr sz="2399" spc="225" dirty="0">
                <a:latin typeface="Calibri"/>
                <a:cs typeface="Calibri"/>
              </a:rPr>
              <a:t>  </a:t>
            </a:r>
            <a:r>
              <a:rPr sz="2399" dirty="0">
                <a:latin typeface="Calibri"/>
                <a:cs typeface="Calibri"/>
              </a:rPr>
              <a:t>by</a:t>
            </a:r>
            <a:r>
              <a:rPr sz="2399" spc="220" dirty="0">
                <a:latin typeface="Calibri"/>
                <a:cs typeface="Calibri"/>
              </a:rPr>
              <a:t>  </a:t>
            </a:r>
            <a:r>
              <a:rPr sz="2399" dirty="0">
                <a:latin typeface="Calibri"/>
                <a:cs typeface="Calibri"/>
              </a:rPr>
              <a:t>which</a:t>
            </a:r>
            <a:r>
              <a:rPr sz="2399" spc="225" dirty="0">
                <a:latin typeface="Calibri"/>
                <a:cs typeface="Calibri"/>
              </a:rPr>
              <a:t>  </a:t>
            </a:r>
            <a:r>
              <a:rPr sz="2399" dirty="0">
                <a:latin typeface="Calibri"/>
                <a:cs typeface="Calibri"/>
              </a:rPr>
              <a:t>you</a:t>
            </a:r>
            <a:r>
              <a:rPr sz="2399" spc="220" dirty="0">
                <a:latin typeface="Calibri"/>
                <a:cs typeface="Calibri"/>
              </a:rPr>
              <a:t>  </a:t>
            </a:r>
            <a:r>
              <a:rPr sz="2399" spc="-25" dirty="0">
                <a:latin typeface="Calibri"/>
                <a:cs typeface="Calibri"/>
              </a:rPr>
              <a:t>can 	</a:t>
            </a:r>
            <a:r>
              <a:rPr sz="2399" b="1" dirty="0">
                <a:latin typeface="Calibri"/>
                <a:cs typeface="Calibri"/>
              </a:rPr>
              <a:t>design</a:t>
            </a:r>
            <a:r>
              <a:rPr sz="2399" b="1" spc="425" dirty="0">
                <a:latin typeface="Calibri"/>
                <a:cs typeface="Calibri"/>
              </a:rPr>
              <a:t> </a:t>
            </a:r>
            <a:r>
              <a:rPr sz="2399" b="1" dirty="0">
                <a:latin typeface="Calibri"/>
                <a:cs typeface="Calibri"/>
              </a:rPr>
              <a:t>web</a:t>
            </a:r>
            <a:r>
              <a:rPr sz="2399" b="1" spc="445" dirty="0">
                <a:latin typeface="Calibri"/>
                <a:cs typeface="Calibri"/>
              </a:rPr>
              <a:t> </a:t>
            </a:r>
            <a:r>
              <a:rPr sz="2399" b="1" dirty="0">
                <a:latin typeface="Calibri"/>
                <a:cs typeface="Calibri"/>
              </a:rPr>
              <a:t>services</a:t>
            </a:r>
            <a:r>
              <a:rPr sz="2399" b="1" spc="450" dirty="0">
                <a:latin typeface="Calibri"/>
                <a:cs typeface="Calibri"/>
              </a:rPr>
              <a:t> </a:t>
            </a:r>
            <a:r>
              <a:rPr sz="2399" b="1" dirty="0">
                <a:latin typeface="Calibri"/>
                <a:cs typeface="Calibri"/>
              </a:rPr>
              <a:t>and</a:t>
            </a:r>
            <a:r>
              <a:rPr sz="2399" b="1" spc="425" dirty="0">
                <a:latin typeface="Calibri"/>
                <a:cs typeface="Calibri"/>
              </a:rPr>
              <a:t> </a:t>
            </a:r>
            <a:r>
              <a:rPr sz="2399" b="1" spc="-25" dirty="0">
                <a:latin typeface="Calibri"/>
                <a:cs typeface="Calibri"/>
              </a:rPr>
              <a:t>web 	</a:t>
            </a:r>
            <a:r>
              <a:rPr sz="2399" b="1" dirty="0">
                <a:latin typeface="Calibri"/>
                <a:cs typeface="Calibri"/>
              </a:rPr>
              <a:t>APIs</a:t>
            </a:r>
            <a:r>
              <a:rPr sz="2399" b="1" spc="53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that</a:t>
            </a:r>
            <a:r>
              <a:rPr sz="2399" spc="53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focus</a:t>
            </a:r>
            <a:r>
              <a:rPr sz="2399" spc="53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on</a:t>
            </a:r>
            <a:r>
              <a:rPr sz="2399" spc="53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</a:t>
            </a:r>
            <a:r>
              <a:rPr sz="2399" spc="525" dirty="0">
                <a:latin typeface="Calibri"/>
                <a:cs typeface="Calibri"/>
              </a:rPr>
              <a:t> </a:t>
            </a:r>
            <a:r>
              <a:rPr sz="2399" spc="-25" dirty="0">
                <a:latin typeface="Calibri"/>
                <a:cs typeface="Calibri"/>
              </a:rPr>
              <a:t>system’s 	</a:t>
            </a:r>
            <a:r>
              <a:rPr sz="2399" dirty="0">
                <a:latin typeface="Calibri"/>
                <a:cs typeface="Calibri"/>
              </a:rPr>
              <a:t>resources</a:t>
            </a:r>
            <a:r>
              <a:rPr sz="2399" spc="250" dirty="0">
                <a:latin typeface="Calibri"/>
                <a:cs typeface="Calibri"/>
              </a:rPr>
              <a:t>  </a:t>
            </a:r>
            <a:r>
              <a:rPr sz="2399" dirty="0">
                <a:latin typeface="Calibri"/>
                <a:cs typeface="Calibri"/>
              </a:rPr>
              <a:t>and</a:t>
            </a:r>
            <a:r>
              <a:rPr sz="2399" spc="254" dirty="0">
                <a:latin typeface="Calibri"/>
                <a:cs typeface="Calibri"/>
              </a:rPr>
              <a:t>  </a:t>
            </a:r>
            <a:r>
              <a:rPr sz="2399" dirty="0">
                <a:latin typeface="Calibri"/>
                <a:cs typeface="Calibri"/>
              </a:rPr>
              <a:t>how</a:t>
            </a:r>
            <a:r>
              <a:rPr sz="2399" spc="260" dirty="0">
                <a:latin typeface="Calibri"/>
                <a:cs typeface="Calibri"/>
              </a:rPr>
              <a:t>  </a:t>
            </a:r>
            <a:r>
              <a:rPr sz="2399" spc="-10" dirty="0">
                <a:latin typeface="Calibri"/>
                <a:cs typeface="Calibri"/>
              </a:rPr>
              <a:t>resource</a:t>
            </a:r>
            <a:endParaRPr sz="2399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8108" y="3195076"/>
            <a:ext cx="3943593" cy="39169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1091238" algn="l"/>
                <a:tab pos="1840948" algn="l"/>
                <a:tab pos="3463521" algn="l"/>
              </a:tabLst>
            </a:pPr>
            <a:r>
              <a:rPr sz="2399" spc="-10" dirty="0">
                <a:latin typeface="Calibri"/>
                <a:cs typeface="Calibri"/>
              </a:rPr>
              <a:t>states</a:t>
            </a:r>
            <a:r>
              <a:rPr sz="2399" dirty="0">
                <a:latin typeface="Calibri"/>
                <a:cs typeface="Calibri"/>
              </a:rPr>
              <a:t>	</a:t>
            </a:r>
            <a:r>
              <a:rPr sz="2399" spc="-25" dirty="0">
                <a:latin typeface="Calibri"/>
                <a:cs typeface="Calibri"/>
              </a:rPr>
              <a:t>are</a:t>
            </a:r>
            <a:r>
              <a:rPr sz="2399" dirty="0">
                <a:latin typeface="Calibri"/>
                <a:cs typeface="Calibri"/>
              </a:rPr>
              <a:t>	</a:t>
            </a:r>
            <a:r>
              <a:rPr sz="2399" spc="-10" dirty="0">
                <a:latin typeface="Calibri"/>
                <a:cs typeface="Calibri"/>
              </a:rPr>
              <a:t>addressed</a:t>
            </a:r>
            <a:r>
              <a:rPr sz="2399" dirty="0">
                <a:latin typeface="Calibri"/>
                <a:cs typeface="Calibri"/>
              </a:rPr>
              <a:t>	</a:t>
            </a:r>
            <a:r>
              <a:rPr sz="2399" spc="-25" dirty="0">
                <a:latin typeface="Calibri"/>
                <a:cs typeface="Calibri"/>
              </a:rPr>
              <a:t>and</a:t>
            </a:r>
            <a:endParaRPr sz="2399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568" y="3433316"/>
            <a:ext cx="416832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41228">
              <a:spcBef>
                <a:spcPts val="820"/>
              </a:spcBef>
            </a:pPr>
            <a:r>
              <a:rPr sz="2399" spc="-10" dirty="0">
                <a:latin typeface="Calibri"/>
                <a:cs typeface="Calibri"/>
              </a:rPr>
              <a:t>transferred.</a:t>
            </a:r>
            <a:endParaRPr sz="2399" dirty="0">
              <a:latin typeface="Calibri"/>
              <a:cs typeface="Calibri"/>
            </a:endParaRPr>
          </a:p>
          <a:p>
            <a:pPr marL="239957" indent="-227261">
              <a:spcBef>
                <a:spcPts val="720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dirty="0">
                <a:latin typeface="Calibri"/>
                <a:cs typeface="Calibri"/>
              </a:rPr>
              <a:t>REST</a:t>
            </a:r>
            <a:r>
              <a:rPr sz="2399" spc="29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APIs</a:t>
            </a:r>
            <a:r>
              <a:rPr sz="2399" spc="290" dirty="0">
                <a:latin typeface="Calibri"/>
                <a:cs typeface="Calibri"/>
              </a:rPr>
              <a:t> </a:t>
            </a:r>
            <a:r>
              <a:rPr sz="2399" b="1" dirty="0">
                <a:latin typeface="Calibri"/>
                <a:cs typeface="Calibri"/>
              </a:rPr>
              <a:t>follow</a:t>
            </a:r>
            <a:r>
              <a:rPr sz="2399" b="1" spc="305" dirty="0">
                <a:latin typeface="Calibri"/>
                <a:cs typeface="Calibri"/>
              </a:rPr>
              <a:t> </a:t>
            </a:r>
            <a:r>
              <a:rPr sz="2399" b="1" dirty="0">
                <a:latin typeface="Calibri"/>
                <a:cs typeface="Calibri"/>
              </a:rPr>
              <a:t>the</a:t>
            </a:r>
            <a:r>
              <a:rPr sz="2399" b="1" spc="305" dirty="0">
                <a:latin typeface="Calibri"/>
                <a:cs typeface="Calibri"/>
              </a:rPr>
              <a:t> </a:t>
            </a:r>
            <a:r>
              <a:rPr sz="2399" b="1" spc="-10" dirty="0">
                <a:latin typeface="Calibri"/>
                <a:cs typeface="Calibri"/>
              </a:rPr>
              <a:t>request–</a:t>
            </a:r>
            <a:endParaRPr sz="2399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568" y="4310912"/>
            <a:ext cx="5306244" cy="1516427"/>
          </a:xfrm>
          <a:prstGeom prst="rect">
            <a:avLst/>
          </a:prstGeom>
        </p:spPr>
        <p:txBody>
          <a:bodyPr vert="horz" wrap="square" lIns="0" tIns="53961" rIns="0" bIns="0" rtlCol="0">
            <a:spAutoFit/>
          </a:bodyPr>
          <a:lstStyle/>
          <a:p>
            <a:pPr marL="241228" marR="5713" algn="just">
              <a:lnSpc>
                <a:spcPts val="2589"/>
              </a:lnSpc>
              <a:spcBef>
                <a:spcPts val="425"/>
              </a:spcBef>
              <a:tabLst>
                <a:tab pos="2191362" algn="l"/>
              </a:tabLst>
            </a:pPr>
            <a:r>
              <a:rPr lang="en-US" sz="2399" b="1" spc="-10" dirty="0">
                <a:latin typeface="Calibri"/>
                <a:cs typeface="Calibri"/>
              </a:rPr>
              <a:t>r</a:t>
            </a:r>
            <a:r>
              <a:rPr sz="2399" b="1" spc="-10" dirty="0">
                <a:latin typeface="Calibri"/>
                <a:cs typeface="Calibri"/>
              </a:rPr>
              <a:t>esponse</a:t>
            </a:r>
            <a:r>
              <a:rPr lang="en-US" sz="2399" b="1" spc="-10" dirty="0">
                <a:latin typeface="Calibri"/>
                <a:cs typeface="Calibri"/>
              </a:rPr>
              <a:t> </a:t>
            </a:r>
            <a:r>
              <a:rPr sz="2399" b="1" spc="-10" dirty="0">
                <a:latin typeface="Calibri"/>
                <a:cs typeface="Calibri"/>
              </a:rPr>
              <a:t>communication model.</a:t>
            </a:r>
            <a:endParaRPr sz="2399" dirty="0">
              <a:latin typeface="Calibri"/>
              <a:cs typeface="Calibri"/>
            </a:endParaRPr>
          </a:p>
          <a:p>
            <a:pPr marL="239957" marR="5078" indent="-227261">
              <a:lnSpc>
                <a:spcPts val="2589"/>
              </a:lnSpc>
              <a:spcBef>
                <a:spcPts val="1005"/>
              </a:spcBef>
              <a:buFont typeface="Arial MT"/>
              <a:buChar char="•"/>
              <a:tabLst>
                <a:tab pos="241228" algn="l"/>
                <a:tab pos="1837774" algn="l"/>
                <a:tab pos="2802684" algn="l"/>
              </a:tabLst>
            </a:pPr>
            <a:r>
              <a:rPr sz="2399" dirty="0">
                <a:latin typeface="Calibri"/>
                <a:cs typeface="Calibri"/>
              </a:rPr>
              <a:t>RES</a:t>
            </a:r>
            <a:r>
              <a:rPr lang="en-US" sz="2399" dirty="0">
                <a:latin typeface="Calibri"/>
                <a:cs typeface="Calibri"/>
              </a:rPr>
              <a:t>T</a:t>
            </a:r>
            <a:r>
              <a:rPr lang="en-US" sz="2399" spc="18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architectural</a:t>
            </a:r>
            <a:r>
              <a:rPr lang="en-US" sz="2399" spc="180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constraints 	</a:t>
            </a:r>
            <a:r>
              <a:rPr sz="2399" dirty="0">
                <a:latin typeface="Calibri"/>
                <a:cs typeface="Calibri"/>
              </a:rPr>
              <a:t>apply</a:t>
            </a:r>
            <a:r>
              <a:rPr lang="en-US" sz="2399" spc="27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to</a:t>
            </a:r>
            <a:r>
              <a:rPr sz="2399" spc="275" dirty="0">
                <a:latin typeface="Calibri"/>
                <a:cs typeface="Calibri"/>
              </a:rPr>
              <a:t>   </a:t>
            </a:r>
            <a:r>
              <a:rPr sz="2399" dirty="0">
                <a:latin typeface="Calibri"/>
                <a:cs typeface="Calibri"/>
              </a:rPr>
              <a:t>the</a:t>
            </a:r>
            <a:r>
              <a:rPr sz="2399" spc="270" dirty="0">
                <a:latin typeface="Calibri"/>
                <a:cs typeface="Calibri"/>
              </a:rPr>
              <a:t>   </a:t>
            </a:r>
            <a:r>
              <a:rPr sz="2399" spc="-10" dirty="0">
                <a:latin typeface="Calibri"/>
                <a:cs typeface="Calibri"/>
              </a:rPr>
              <a:t>components, 	</a:t>
            </a:r>
            <a:r>
              <a:rPr sz="2399" dirty="0">
                <a:latin typeface="Calibri"/>
                <a:cs typeface="Calibri"/>
              </a:rPr>
              <a:t>connectors</a:t>
            </a:r>
            <a:r>
              <a:rPr sz="2399" spc="38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and</a:t>
            </a:r>
            <a:r>
              <a:rPr sz="2399" spc="39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data</a:t>
            </a:r>
            <a:r>
              <a:rPr sz="2399" spc="400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elements within</a:t>
            </a:r>
            <a:r>
              <a:rPr lang="en-US" sz="2399" spc="-10" dirty="0">
                <a:latin typeface="Calibri"/>
                <a:cs typeface="Calibri"/>
              </a:rPr>
              <a:t> </a:t>
            </a:r>
            <a:r>
              <a:rPr sz="2399" spc="-50" dirty="0">
                <a:latin typeface="Calibri"/>
                <a:cs typeface="Calibri"/>
              </a:rPr>
              <a:t>a</a:t>
            </a:r>
            <a:r>
              <a:rPr lang="en-US" sz="2399" spc="-50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distributed</a:t>
            </a:r>
            <a:r>
              <a:rPr lang="en-US" sz="2399" spc="-10" dirty="0">
                <a:latin typeface="Calibri"/>
                <a:cs typeface="Calibri"/>
              </a:rPr>
              <a:t> </a:t>
            </a:r>
            <a:endParaRPr sz="2399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2013" y="1591801"/>
            <a:ext cx="5867400" cy="3742199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16007BA-C229-386A-0A98-9007A9E4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2898" y="6047496"/>
            <a:ext cx="2471627" cy="365125"/>
          </a:xfrm>
        </p:spPr>
        <p:txBody>
          <a:bodyPr/>
          <a:lstStyle/>
          <a:p>
            <a:fld id="{EB40000F-CDF0-4FDE-B039-D4B40EAB2CA7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48D35B3-44AD-CB75-1ACA-68C41FC4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7" y="359158"/>
            <a:ext cx="11092117" cy="751357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REST-</a:t>
            </a:r>
            <a:r>
              <a:rPr dirty="0"/>
              <a:t>based</a:t>
            </a:r>
            <a:r>
              <a:rPr spc="-110" dirty="0"/>
              <a:t> </a:t>
            </a:r>
            <a:r>
              <a:rPr dirty="0"/>
              <a:t>Communication</a:t>
            </a:r>
            <a:r>
              <a:rPr spc="-105" dirty="0"/>
              <a:t> </a:t>
            </a:r>
            <a:r>
              <a:rPr dirty="0"/>
              <a:t>APIs</a:t>
            </a:r>
            <a:r>
              <a:rPr spc="-10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6184" y="1791127"/>
            <a:ext cx="2498074" cy="2760896"/>
          </a:xfrm>
          <a:prstGeom prst="rect">
            <a:avLst/>
          </a:prstGeom>
        </p:spPr>
        <p:txBody>
          <a:bodyPr vert="horz" wrap="square" lIns="0" tIns="102208" rIns="0" bIns="0" rtlCol="0">
            <a:spAutoFit/>
          </a:bodyPr>
          <a:lstStyle/>
          <a:p>
            <a:pPr marL="239957" indent="-227261">
              <a:spcBef>
                <a:spcPts val="805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dirty="0">
                <a:latin typeface="Calibri"/>
                <a:cs typeface="Calibri"/>
              </a:rPr>
              <a:t>Client</a:t>
            </a:r>
            <a:r>
              <a:rPr sz="2399" b="1" spc="-50" dirty="0">
                <a:latin typeface="Calibri"/>
                <a:cs typeface="Calibri"/>
              </a:rPr>
              <a:t> </a:t>
            </a:r>
            <a:r>
              <a:rPr sz="2399" b="1" dirty="0">
                <a:latin typeface="Calibri"/>
                <a:cs typeface="Calibri"/>
              </a:rPr>
              <a:t>–</a:t>
            </a:r>
            <a:r>
              <a:rPr sz="2399" b="1" spc="-50" dirty="0">
                <a:latin typeface="Calibri"/>
                <a:cs typeface="Calibri"/>
              </a:rPr>
              <a:t> </a:t>
            </a:r>
            <a:r>
              <a:rPr sz="2399" b="1" spc="-10" dirty="0">
                <a:latin typeface="Calibri"/>
                <a:cs typeface="Calibri"/>
              </a:rPr>
              <a:t>Server</a:t>
            </a:r>
            <a:endParaRPr sz="2399" dirty="0">
              <a:latin typeface="Calibri"/>
              <a:cs typeface="Calibri"/>
            </a:endParaRPr>
          </a:p>
          <a:p>
            <a:pPr marL="239957" indent="-227261">
              <a:spcBef>
                <a:spcPts val="710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spc="-10" dirty="0">
                <a:latin typeface="Calibri"/>
                <a:cs typeface="Calibri"/>
              </a:rPr>
              <a:t>Stateless</a:t>
            </a:r>
            <a:endParaRPr sz="2399" dirty="0">
              <a:latin typeface="Calibri"/>
              <a:cs typeface="Calibri"/>
            </a:endParaRPr>
          </a:p>
          <a:p>
            <a:pPr marL="239957" indent="-227261">
              <a:spcBef>
                <a:spcPts val="705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spc="-10" dirty="0">
                <a:latin typeface="Calibri"/>
                <a:cs typeface="Calibri"/>
              </a:rPr>
              <a:t>Cacheable</a:t>
            </a:r>
            <a:endParaRPr sz="2399" dirty="0">
              <a:latin typeface="Calibri"/>
              <a:cs typeface="Calibri"/>
            </a:endParaRPr>
          </a:p>
          <a:p>
            <a:pPr marL="239957" indent="-227261">
              <a:spcBef>
                <a:spcPts val="725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spc="-10" dirty="0">
                <a:latin typeface="Calibri"/>
                <a:cs typeface="Calibri"/>
              </a:rPr>
              <a:t>Layered</a:t>
            </a:r>
            <a:r>
              <a:rPr sz="2399" b="1" spc="-75" dirty="0">
                <a:latin typeface="Calibri"/>
                <a:cs typeface="Calibri"/>
              </a:rPr>
              <a:t> </a:t>
            </a:r>
            <a:r>
              <a:rPr sz="2399" b="1" spc="-10" dirty="0">
                <a:latin typeface="Calibri"/>
                <a:cs typeface="Calibri"/>
              </a:rPr>
              <a:t>System</a:t>
            </a:r>
            <a:endParaRPr sz="2399" dirty="0">
              <a:latin typeface="Calibri"/>
              <a:cs typeface="Calibri"/>
            </a:endParaRPr>
          </a:p>
          <a:p>
            <a:pPr marL="239957" indent="-227261">
              <a:spcBef>
                <a:spcPts val="710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dirty="0">
                <a:latin typeface="Calibri"/>
                <a:cs typeface="Calibri"/>
              </a:rPr>
              <a:t>Uniform</a:t>
            </a:r>
            <a:r>
              <a:rPr sz="2399" b="1" spc="-80" dirty="0">
                <a:latin typeface="Calibri"/>
                <a:cs typeface="Calibri"/>
              </a:rPr>
              <a:t> </a:t>
            </a:r>
            <a:r>
              <a:rPr sz="2399" b="1" spc="-10" dirty="0">
                <a:latin typeface="Calibri"/>
                <a:cs typeface="Calibri"/>
              </a:rPr>
              <a:t>Interface</a:t>
            </a:r>
            <a:endParaRPr sz="2399" dirty="0">
              <a:latin typeface="Calibri"/>
              <a:cs typeface="Calibri"/>
            </a:endParaRPr>
          </a:p>
          <a:p>
            <a:pPr marL="239957" indent="-227261">
              <a:spcBef>
                <a:spcPts val="705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dirty="0">
                <a:latin typeface="Calibri"/>
                <a:cs typeface="Calibri"/>
              </a:rPr>
              <a:t>Code</a:t>
            </a:r>
            <a:r>
              <a:rPr sz="2399" b="1" spc="-25" dirty="0">
                <a:latin typeface="Calibri"/>
                <a:cs typeface="Calibri"/>
              </a:rPr>
              <a:t> </a:t>
            </a:r>
            <a:r>
              <a:rPr sz="2399" b="1" dirty="0">
                <a:latin typeface="Calibri"/>
                <a:cs typeface="Calibri"/>
              </a:rPr>
              <a:t>on</a:t>
            </a:r>
            <a:r>
              <a:rPr sz="2399" b="1" spc="-45" dirty="0">
                <a:latin typeface="Calibri"/>
                <a:cs typeface="Calibri"/>
              </a:rPr>
              <a:t> </a:t>
            </a:r>
            <a:r>
              <a:rPr sz="2399" b="1" spc="-10" dirty="0">
                <a:latin typeface="Calibri"/>
                <a:cs typeface="Calibri"/>
              </a:rPr>
              <a:t>demand</a:t>
            </a:r>
            <a:endParaRPr sz="2399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8504" y="1988445"/>
            <a:ext cx="1164922" cy="475519"/>
          </a:xfrm>
          <a:prstGeom prst="rect">
            <a:avLst/>
          </a:prstGeom>
          <a:solidFill>
            <a:srgbClr val="5B9BD4"/>
          </a:solidFill>
          <a:ln w="12700">
            <a:solidFill>
              <a:srgbClr val="41709C"/>
            </a:solidFill>
          </a:ln>
        </p:spPr>
        <p:txBody>
          <a:bodyPr vert="horz" wrap="square" lIns="0" tIns="196799" rIns="0" bIns="0" rtlCol="0">
            <a:spAutoFit/>
          </a:bodyPr>
          <a:lstStyle/>
          <a:p>
            <a:pPr marL="314866">
              <a:spcBef>
                <a:spcPts val="1550"/>
              </a:spcBef>
            </a:pPr>
            <a:r>
              <a:rPr sz="1799" spc="-1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799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092483" y="1886352"/>
            <a:ext cx="1177618" cy="711015"/>
            <a:chOff x="9094851" y="1885950"/>
            <a:chExt cx="1177925" cy="711200"/>
          </a:xfrm>
        </p:grpSpPr>
        <p:sp>
          <p:nvSpPr>
            <p:cNvPr id="9" name="object 9"/>
            <p:cNvSpPr/>
            <p:nvPr/>
          </p:nvSpPr>
          <p:spPr>
            <a:xfrm>
              <a:off x="9101201" y="1892300"/>
              <a:ext cx="1165225" cy="698500"/>
            </a:xfrm>
            <a:custGeom>
              <a:avLst/>
              <a:gdLst/>
              <a:ahLst/>
              <a:cxnLst/>
              <a:rect l="l" t="t" r="r" b="b"/>
              <a:pathLst>
                <a:path w="1165225" h="698500">
                  <a:moveTo>
                    <a:pt x="1165225" y="0"/>
                  </a:moveTo>
                  <a:lnTo>
                    <a:pt x="0" y="0"/>
                  </a:lnTo>
                  <a:lnTo>
                    <a:pt x="0" y="698500"/>
                  </a:lnTo>
                  <a:lnTo>
                    <a:pt x="1165225" y="698500"/>
                  </a:lnTo>
                  <a:lnTo>
                    <a:pt x="116522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0" name="object 10"/>
            <p:cNvSpPr/>
            <p:nvPr/>
          </p:nvSpPr>
          <p:spPr>
            <a:xfrm>
              <a:off x="9101201" y="1892300"/>
              <a:ext cx="1165225" cy="698500"/>
            </a:xfrm>
            <a:custGeom>
              <a:avLst/>
              <a:gdLst/>
              <a:ahLst/>
              <a:cxnLst/>
              <a:rect l="l" t="t" r="r" b="b"/>
              <a:pathLst>
                <a:path w="1165225" h="698500">
                  <a:moveTo>
                    <a:pt x="0" y="698500"/>
                  </a:moveTo>
                  <a:lnTo>
                    <a:pt x="1165225" y="698500"/>
                  </a:lnTo>
                  <a:lnTo>
                    <a:pt x="1165225" y="0"/>
                  </a:lnTo>
                  <a:lnTo>
                    <a:pt x="0" y="0"/>
                  </a:lnTo>
                  <a:lnTo>
                    <a:pt x="0" y="69850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371175" y="2077310"/>
            <a:ext cx="62150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34049" y="2489445"/>
            <a:ext cx="3153858" cy="3085296"/>
            <a:chOff x="6435725" y="2489200"/>
            <a:chExt cx="3154680" cy="3086100"/>
          </a:xfrm>
        </p:grpSpPr>
        <p:sp>
          <p:nvSpPr>
            <p:cNvPr id="13" name="object 13"/>
            <p:cNvSpPr/>
            <p:nvPr/>
          </p:nvSpPr>
          <p:spPr>
            <a:xfrm>
              <a:off x="6462648" y="2489200"/>
              <a:ext cx="3124835" cy="3086100"/>
            </a:xfrm>
            <a:custGeom>
              <a:avLst/>
              <a:gdLst/>
              <a:ahLst/>
              <a:cxnLst/>
              <a:rect l="l" t="t" r="r" b="b"/>
              <a:pathLst>
                <a:path w="3124834" h="3086100">
                  <a:moveTo>
                    <a:pt x="126" y="0"/>
                  </a:moveTo>
                  <a:lnTo>
                    <a:pt x="0" y="3086100"/>
                  </a:lnTo>
                </a:path>
                <a:path w="3124834" h="3086100">
                  <a:moveTo>
                    <a:pt x="3124327" y="0"/>
                  </a:moveTo>
                  <a:lnTo>
                    <a:pt x="3124200" y="308610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" name="object 14"/>
            <p:cNvSpPr/>
            <p:nvPr/>
          </p:nvSpPr>
          <p:spPr>
            <a:xfrm>
              <a:off x="6435725" y="3089782"/>
              <a:ext cx="3151505" cy="2374900"/>
            </a:xfrm>
            <a:custGeom>
              <a:avLst/>
              <a:gdLst/>
              <a:ahLst/>
              <a:cxnLst/>
              <a:rect l="l" t="t" r="r" b="b"/>
              <a:pathLst>
                <a:path w="3151504" h="2374900">
                  <a:moveTo>
                    <a:pt x="3124200" y="2323592"/>
                  </a:moveTo>
                  <a:lnTo>
                    <a:pt x="18097" y="2323592"/>
                  </a:lnTo>
                  <a:lnTo>
                    <a:pt x="85598" y="2284222"/>
                  </a:lnTo>
                  <a:lnTo>
                    <a:pt x="86106" y="2282190"/>
                  </a:lnTo>
                  <a:lnTo>
                    <a:pt x="84328" y="2279142"/>
                  </a:lnTo>
                  <a:lnTo>
                    <a:pt x="82423" y="2278634"/>
                  </a:lnTo>
                  <a:lnTo>
                    <a:pt x="0" y="2326767"/>
                  </a:lnTo>
                  <a:lnTo>
                    <a:pt x="82423" y="2374900"/>
                  </a:lnTo>
                  <a:lnTo>
                    <a:pt x="84328" y="2374392"/>
                  </a:lnTo>
                  <a:lnTo>
                    <a:pt x="86106" y="2371344"/>
                  </a:lnTo>
                  <a:lnTo>
                    <a:pt x="85598" y="2369312"/>
                  </a:lnTo>
                  <a:lnTo>
                    <a:pt x="18097" y="2329942"/>
                  </a:lnTo>
                  <a:lnTo>
                    <a:pt x="3124200" y="2329942"/>
                  </a:lnTo>
                  <a:lnTo>
                    <a:pt x="3124200" y="2323592"/>
                  </a:lnTo>
                  <a:close/>
                </a:path>
                <a:path w="3151504" h="2374900">
                  <a:moveTo>
                    <a:pt x="3124200" y="1609217"/>
                  </a:moveTo>
                  <a:lnTo>
                    <a:pt x="3118828" y="1606169"/>
                  </a:lnTo>
                  <a:lnTo>
                    <a:pt x="3042793" y="1562989"/>
                  </a:lnTo>
                  <a:lnTo>
                    <a:pt x="3041269" y="1562100"/>
                  </a:lnTo>
                  <a:lnTo>
                    <a:pt x="3039237" y="1562735"/>
                  </a:lnTo>
                  <a:lnTo>
                    <a:pt x="3038475" y="1564259"/>
                  </a:lnTo>
                  <a:lnTo>
                    <a:pt x="3037586" y="1565783"/>
                  </a:lnTo>
                  <a:lnTo>
                    <a:pt x="3038094" y="1567688"/>
                  </a:lnTo>
                  <a:lnTo>
                    <a:pt x="3039618" y="1568577"/>
                  </a:lnTo>
                  <a:lnTo>
                    <a:pt x="3106255" y="1606321"/>
                  </a:lnTo>
                  <a:lnTo>
                    <a:pt x="0" y="1644142"/>
                  </a:lnTo>
                  <a:lnTo>
                    <a:pt x="0" y="1650492"/>
                  </a:lnTo>
                  <a:lnTo>
                    <a:pt x="3106115" y="1612671"/>
                  </a:lnTo>
                  <a:lnTo>
                    <a:pt x="3040634" y="1651889"/>
                  </a:lnTo>
                  <a:lnTo>
                    <a:pt x="3039110" y="1652905"/>
                  </a:lnTo>
                  <a:lnTo>
                    <a:pt x="3038602" y="1654810"/>
                  </a:lnTo>
                  <a:lnTo>
                    <a:pt x="3040380" y="1657858"/>
                  </a:lnTo>
                  <a:lnTo>
                    <a:pt x="3042412" y="1658239"/>
                  </a:lnTo>
                  <a:lnTo>
                    <a:pt x="3043936" y="1657350"/>
                  </a:lnTo>
                  <a:lnTo>
                    <a:pt x="3124200" y="1609217"/>
                  </a:lnTo>
                  <a:close/>
                </a:path>
                <a:path w="3151504" h="2374900">
                  <a:moveTo>
                    <a:pt x="3151124" y="939292"/>
                  </a:moveTo>
                  <a:lnTo>
                    <a:pt x="45148" y="939292"/>
                  </a:lnTo>
                  <a:lnTo>
                    <a:pt x="112649" y="899922"/>
                  </a:lnTo>
                  <a:lnTo>
                    <a:pt x="113144" y="897890"/>
                  </a:lnTo>
                  <a:lnTo>
                    <a:pt x="111379" y="894842"/>
                  </a:lnTo>
                  <a:lnTo>
                    <a:pt x="109347" y="894334"/>
                  </a:lnTo>
                  <a:lnTo>
                    <a:pt x="26924" y="942467"/>
                  </a:lnTo>
                  <a:lnTo>
                    <a:pt x="109347" y="990600"/>
                  </a:lnTo>
                  <a:lnTo>
                    <a:pt x="111379" y="990092"/>
                  </a:lnTo>
                  <a:lnTo>
                    <a:pt x="113144" y="987044"/>
                  </a:lnTo>
                  <a:lnTo>
                    <a:pt x="112649" y="985012"/>
                  </a:lnTo>
                  <a:lnTo>
                    <a:pt x="45148" y="945642"/>
                  </a:lnTo>
                  <a:lnTo>
                    <a:pt x="3151124" y="945642"/>
                  </a:lnTo>
                  <a:lnTo>
                    <a:pt x="3151124" y="939292"/>
                  </a:lnTo>
                  <a:close/>
                </a:path>
                <a:path w="3151504" h="2374900">
                  <a:moveTo>
                    <a:pt x="3151428" y="47231"/>
                  </a:moveTo>
                  <a:lnTo>
                    <a:pt x="3145866" y="44069"/>
                  </a:lnTo>
                  <a:lnTo>
                    <a:pt x="3069717" y="889"/>
                  </a:lnTo>
                  <a:lnTo>
                    <a:pt x="3068193" y="0"/>
                  </a:lnTo>
                  <a:lnTo>
                    <a:pt x="3066288" y="635"/>
                  </a:lnTo>
                  <a:lnTo>
                    <a:pt x="3064510" y="3683"/>
                  </a:lnTo>
                  <a:lnTo>
                    <a:pt x="3065018" y="5588"/>
                  </a:lnTo>
                  <a:lnTo>
                    <a:pt x="3066542" y="6477"/>
                  </a:lnTo>
                  <a:lnTo>
                    <a:pt x="3133293" y="44221"/>
                  </a:lnTo>
                  <a:lnTo>
                    <a:pt x="26924" y="82042"/>
                  </a:lnTo>
                  <a:lnTo>
                    <a:pt x="27051" y="88392"/>
                  </a:lnTo>
                  <a:lnTo>
                    <a:pt x="3133039" y="50571"/>
                  </a:lnTo>
                  <a:lnTo>
                    <a:pt x="3067558" y="89789"/>
                  </a:lnTo>
                  <a:lnTo>
                    <a:pt x="3066161" y="90805"/>
                  </a:lnTo>
                  <a:lnTo>
                    <a:pt x="3065653" y="92710"/>
                  </a:lnTo>
                  <a:lnTo>
                    <a:pt x="3067431" y="95758"/>
                  </a:lnTo>
                  <a:lnTo>
                    <a:pt x="3069336" y="96139"/>
                  </a:lnTo>
                  <a:lnTo>
                    <a:pt x="3070860" y="95250"/>
                  </a:lnTo>
                  <a:lnTo>
                    <a:pt x="3151073" y="47231"/>
                  </a:lnTo>
                  <a:lnTo>
                    <a:pt x="3151428" y="47231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94349" y="2748965"/>
            <a:ext cx="7770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Request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02425" y="3681410"/>
            <a:ext cx="91289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Response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2425" y="4348114"/>
            <a:ext cx="912892" cy="101764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Request</a:t>
            </a:r>
            <a:endParaRPr sz="1799">
              <a:latin typeface="Calibri"/>
              <a:cs typeface="Calibri"/>
            </a:endParaRPr>
          </a:p>
          <a:p>
            <a:pPr>
              <a:spcBef>
                <a:spcPts val="1290"/>
              </a:spcBef>
            </a:pPr>
            <a:endParaRPr sz="1799">
              <a:latin typeface="Calibri"/>
              <a:cs typeface="Calibri"/>
            </a:endParaRPr>
          </a:p>
          <a:p>
            <a:pPr marL="12696">
              <a:spcBef>
                <a:spcPts val="5"/>
              </a:spcBef>
            </a:pPr>
            <a:r>
              <a:rPr sz="1799" spc="-10" dirty="0">
                <a:latin typeface="Calibri"/>
                <a:cs typeface="Calibri"/>
              </a:rPr>
              <a:t>Response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F95A22F8-3548-AF10-7512-2BC008D1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AE87-D625-4C17-A490-5BF7D8782416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54180F7-64DE-9C41-A017-D6C0B163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WebSocket-based</a:t>
            </a:r>
            <a:r>
              <a:rPr spc="-105" dirty="0"/>
              <a:t> </a:t>
            </a:r>
            <a:r>
              <a:rPr dirty="0"/>
              <a:t>Communication</a:t>
            </a:r>
            <a:r>
              <a:rPr spc="-125" dirty="0"/>
              <a:t> </a:t>
            </a:r>
            <a:r>
              <a:rPr spc="-20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93919"/>
            <a:ext cx="4099127" cy="2884054"/>
          </a:xfrm>
          <a:prstGeom prst="rect">
            <a:avLst/>
          </a:prstGeom>
        </p:spPr>
        <p:txBody>
          <a:bodyPr vert="horz" wrap="square" lIns="0" tIns="54596" rIns="0" bIns="0" rtlCol="0">
            <a:spAutoFit/>
          </a:bodyPr>
          <a:lstStyle/>
          <a:p>
            <a:pPr marL="239957" marR="184095" indent="-227261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228" algn="l"/>
              </a:tabLst>
            </a:pPr>
            <a:r>
              <a:rPr sz="2799" spc="-20" dirty="0">
                <a:latin typeface="Calibri"/>
                <a:cs typeface="Calibri"/>
              </a:rPr>
              <a:t>WebSocket</a:t>
            </a:r>
            <a:r>
              <a:rPr sz="2799" spc="-8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APIs</a:t>
            </a:r>
            <a:r>
              <a:rPr sz="2799" spc="-65" dirty="0">
                <a:latin typeface="Calibri"/>
                <a:cs typeface="Calibri"/>
              </a:rPr>
              <a:t> </a:t>
            </a:r>
            <a:r>
              <a:rPr sz="2799" b="1" dirty="0">
                <a:latin typeface="Calibri"/>
                <a:cs typeface="Calibri"/>
              </a:rPr>
              <a:t>allow</a:t>
            </a:r>
            <a:r>
              <a:rPr sz="2799" b="1" spc="-70" dirty="0">
                <a:latin typeface="Calibri"/>
                <a:cs typeface="Calibri"/>
              </a:rPr>
              <a:t> </a:t>
            </a:r>
            <a:r>
              <a:rPr sz="2799" b="1" spc="-25" dirty="0">
                <a:latin typeface="Calibri"/>
                <a:cs typeface="Calibri"/>
              </a:rPr>
              <a:t>bi- 	</a:t>
            </a:r>
            <a:r>
              <a:rPr sz="2799" b="1" dirty="0">
                <a:latin typeface="Calibri"/>
                <a:cs typeface="Calibri"/>
              </a:rPr>
              <a:t>directional,</a:t>
            </a:r>
            <a:r>
              <a:rPr sz="2799" b="1" spc="-80" dirty="0">
                <a:latin typeface="Calibri"/>
                <a:cs typeface="Calibri"/>
              </a:rPr>
              <a:t> </a:t>
            </a:r>
            <a:r>
              <a:rPr sz="2799" b="1" dirty="0">
                <a:latin typeface="Calibri"/>
                <a:cs typeface="Calibri"/>
              </a:rPr>
              <a:t>full</a:t>
            </a:r>
            <a:r>
              <a:rPr sz="2799" b="1" spc="-105" dirty="0">
                <a:latin typeface="Calibri"/>
                <a:cs typeface="Calibri"/>
              </a:rPr>
              <a:t> </a:t>
            </a:r>
            <a:r>
              <a:rPr sz="2799" b="1" spc="-10" dirty="0">
                <a:latin typeface="Calibri"/>
                <a:cs typeface="Calibri"/>
              </a:rPr>
              <a:t>duplex 	</a:t>
            </a:r>
            <a:r>
              <a:rPr sz="2799" b="1" dirty="0">
                <a:latin typeface="Calibri"/>
                <a:cs typeface="Calibri"/>
              </a:rPr>
              <a:t>communication</a:t>
            </a:r>
            <a:r>
              <a:rPr sz="2799" b="1" spc="-13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between 	</a:t>
            </a:r>
            <a:r>
              <a:rPr sz="2799" dirty="0">
                <a:latin typeface="Calibri"/>
                <a:cs typeface="Calibri"/>
              </a:rPr>
              <a:t>clients</a:t>
            </a:r>
            <a:r>
              <a:rPr sz="2799" spc="-7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55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servers.</a:t>
            </a:r>
            <a:endParaRPr sz="2799">
              <a:latin typeface="Calibri"/>
              <a:cs typeface="Calibri"/>
            </a:endParaRPr>
          </a:p>
          <a:p>
            <a:pPr marL="239957" marR="5078" indent="-227261">
              <a:lnSpc>
                <a:spcPts val="3029"/>
              </a:lnSpc>
              <a:spcBef>
                <a:spcPts val="1050"/>
              </a:spcBef>
              <a:buFont typeface="Arial MT"/>
              <a:buChar char="•"/>
              <a:tabLst>
                <a:tab pos="241228" algn="l"/>
              </a:tabLst>
            </a:pPr>
            <a:r>
              <a:rPr sz="2799" spc="-20" dirty="0">
                <a:latin typeface="Calibri"/>
                <a:cs typeface="Calibri"/>
              </a:rPr>
              <a:t>WebSocket</a:t>
            </a:r>
            <a:r>
              <a:rPr sz="2799" spc="-9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APIs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follow</a:t>
            </a:r>
            <a:r>
              <a:rPr sz="2799" spc="-90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the 	</a:t>
            </a:r>
            <a:r>
              <a:rPr sz="2799" b="1" spc="-20" dirty="0">
                <a:latin typeface="Calibri"/>
                <a:cs typeface="Calibri"/>
              </a:rPr>
              <a:t>exclusive</a:t>
            </a:r>
            <a:r>
              <a:rPr sz="2799" b="1" spc="-80" dirty="0">
                <a:latin typeface="Calibri"/>
                <a:cs typeface="Calibri"/>
              </a:rPr>
              <a:t> </a:t>
            </a:r>
            <a:r>
              <a:rPr sz="2799" b="1" spc="-20" dirty="0">
                <a:latin typeface="Calibri"/>
                <a:cs typeface="Calibri"/>
              </a:rPr>
              <a:t>pair 	</a:t>
            </a:r>
            <a:r>
              <a:rPr sz="2799" b="1" spc="-10" dirty="0">
                <a:latin typeface="Calibri"/>
                <a:cs typeface="Calibri"/>
              </a:rPr>
              <a:t>communication</a:t>
            </a:r>
            <a:r>
              <a:rPr sz="2799" b="1" spc="-120" dirty="0">
                <a:latin typeface="Calibri"/>
                <a:cs typeface="Calibri"/>
              </a:rPr>
              <a:t> </a:t>
            </a:r>
            <a:r>
              <a:rPr sz="2799" b="1" spc="-10" dirty="0">
                <a:latin typeface="Calibri"/>
                <a:cs typeface="Calibri"/>
              </a:rPr>
              <a:t>model</a:t>
            </a:r>
            <a:r>
              <a:rPr sz="2799" spc="-10" dirty="0">
                <a:latin typeface="Calibri"/>
                <a:cs typeface="Calibri"/>
              </a:rPr>
              <a:t>.</a:t>
            </a:r>
            <a:endParaRPr sz="27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9648" y="1971325"/>
            <a:ext cx="6381304" cy="4262954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FC24BD5-6CF3-55AC-053E-F7A6398B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7895-9B71-4BAB-8374-DED7B206EF5B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58DD048-D0D0-FD91-4227-5E72A985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31633" y="1819695"/>
          <a:ext cx="10512862" cy="3683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2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5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Comparison</a:t>
                      </a:r>
                      <a:r>
                        <a:rPr sz="2000" b="1" spc="-6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Based</a:t>
                      </a:r>
                      <a:r>
                        <a:rPr sz="2000" b="1" spc="-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REST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Websocket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latin typeface="Cambria"/>
                          <a:cs typeface="Cambria"/>
                        </a:rPr>
                        <a:t>State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Stateless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Stateful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latin typeface="Cambria"/>
                          <a:cs typeface="Cambria"/>
                        </a:rPr>
                        <a:t>Directional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Unidirectional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Bidirectional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5" dirty="0">
                          <a:latin typeface="Cambria"/>
                          <a:cs typeface="Cambria"/>
                        </a:rPr>
                        <a:t>Req-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Res/Full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Duplex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Follow</a:t>
                      </a:r>
                      <a:r>
                        <a:rPr sz="20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Request</a:t>
                      </a:r>
                      <a:r>
                        <a:rPr sz="2000" spc="-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Response</a:t>
                      </a:r>
                      <a:r>
                        <a:rPr sz="20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Model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Exclusive</a:t>
                      </a:r>
                      <a:r>
                        <a:rPr sz="20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Pair</a:t>
                      </a:r>
                      <a:r>
                        <a:rPr sz="20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Model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2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b="1" dirty="0">
                          <a:latin typeface="Cambria"/>
                          <a:cs typeface="Cambria"/>
                        </a:rPr>
                        <a:t>TCP</a:t>
                      </a:r>
                      <a:r>
                        <a:rPr sz="2000" b="1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Connections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5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755650" marR="218440" indent="-53213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Each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HTTP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request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involves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setting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up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TCP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Connection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5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01625" marR="292735" indent="3213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0" dirty="0">
                          <a:latin typeface="Cambria"/>
                          <a:cs typeface="Cambria"/>
                        </a:rPr>
                        <a:t>Involves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single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TCP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Connection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all</a:t>
                      </a:r>
                      <a:r>
                        <a:rPr sz="20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requests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5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22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Cambria"/>
                          <a:cs typeface="Cambria"/>
                        </a:rPr>
                        <a:t>Header</a:t>
                      </a:r>
                      <a:r>
                        <a:rPr sz="2000" b="1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Overhead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Each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request</a:t>
                      </a:r>
                      <a:r>
                        <a:rPr sz="20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carries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HTTP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Headers,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hence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suitable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real-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time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Does</a:t>
                      </a:r>
                      <a:r>
                        <a:rPr sz="20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involve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overhead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of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headers.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8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10" dirty="0">
                          <a:latin typeface="Cambria"/>
                          <a:cs typeface="Cambria"/>
                        </a:rPr>
                        <a:t>Scalability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05305" marR="412750" indent="-13855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Both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horizontal</a:t>
                      </a:r>
                      <a:r>
                        <a:rPr sz="20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vertical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are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easier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Vertical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easier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9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90449" y="893"/>
            <a:ext cx="11998375" cy="1418855"/>
          </a:xfrm>
          <a:custGeom>
            <a:avLst/>
            <a:gdLst/>
            <a:ahLst/>
            <a:cxnLst/>
            <a:rect l="l" t="t" r="r" b="b"/>
            <a:pathLst>
              <a:path w="12001500" h="1419225">
                <a:moveTo>
                  <a:pt x="0" y="1419225"/>
                </a:moveTo>
                <a:lnTo>
                  <a:pt x="12001500" y="1419225"/>
                </a:lnTo>
                <a:lnTo>
                  <a:pt x="12001500" y="0"/>
                </a:lnTo>
                <a:lnTo>
                  <a:pt x="0" y="0"/>
                </a:lnTo>
                <a:lnTo>
                  <a:pt x="0" y="1419225"/>
                </a:lnTo>
                <a:close/>
              </a:path>
            </a:pathLst>
          </a:custGeom>
          <a:solidFill>
            <a:srgbClr val="DAF3FD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700" y="75295"/>
            <a:ext cx="9887549" cy="1183332"/>
          </a:xfrm>
          <a:prstGeom prst="rect">
            <a:avLst/>
          </a:prstGeom>
        </p:spPr>
        <p:txBody>
          <a:bodyPr vert="horz" wrap="square" lIns="0" tIns="81259" rIns="0" bIns="0" rtlCol="0" anchor="b">
            <a:spAutoFit/>
          </a:bodyPr>
          <a:lstStyle/>
          <a:p>
            <a:pPr marL="12696" marR="5078">
              <a:lnSpc>
                <a:spcPts val="4319"/>
              </a:lnSpc>
              <a:spcBef>
                <a:spcPts val="640"/>
              </a:spcBef>
            </a:pPr>
            <a:r>
              <a:rPr sz="3999" spc="-10" dirty="0"/>
              <a:t>Difference</a:t>
            </a:r>
            <a:r>
              <a:rPr sz="3999" spc="-95" dirty="0"/>
              <a:t> </a:t>
            </a:r>
            <a:r>
              <a:rPr sz="3999" dirty="0"/>
              <a:t>between</a:t>
            </a:r>
            <a:r>
              <a:rPr sz="3999" spc="-100" dirty="0"/>
              <a:t> </a:t>
            </a:r>
            <a:r>
              <a:rPr sz="3999" dirty="0"/>
              <a:t>REST</a:t>
            </a:r>
            <a:r>
              <a:rPr sz="3999" spc="-100" dirty="0"/>
              <a:t> </a:t>
            </a:r>
            <a:r>
              <a:rPr sz="3999" dirty="0"/>
              <a:t>and</a:t>
            </a:r>
            <a:r>
              <a:rPr sz="3999" spc="-105" dirty="0"/>
              <a:t> </a:t>
            </a:r>
            <a:r>
              <a:rPr sz="3999" dirty="0"/>
              <a:t>WebSocket-</a:t>
            </a:r>
            <a:r>
              <a:rPr sz="3999" spc="-10" dirty="0"/>
              <a:t>based Communication</a:t>
            </a:r>
            <a:r>
              <a:rPr sz="3999" spc="-215" dirty="0"/>
              <a:t> </a:t>
            </a:r>
            <a:r>
              <a:rPr sz="3999" spc="-20" dirty="0"/>
              <a:t>APIs</a:t>
            </a:r>
            <a:endParaRPr sz="399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CCA0F-5331-AEAD-E285-C14EB666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772D-E441-4031-BD09-394928BA2089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370F95-629C-E76F-EDAB-2FD70796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</a:t>
            </a:r>
            <a:r>
              <a:rPr spc="-70" dirty="0"/>
              <a:t> </a:t>
            </a:r>
            <a:r>
              <a:rPr dirty="0"/>
              <a:t>Levels</a:t>
            </a:r>
            <a:r>
              <a:rPr spc="-8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Deployment</a:t>
            </a:r>
            <a:r>
              <a:rPr spc="-105" dirty="0"/>
              <a:t> </a:t>
            </a:r>
            <a:r>
              <a:rPr spc="-30" dirty="0"/>
              <a:t>Templates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96708" y="1176677"/>
            <a:ext cx="10053162" cy="3375643"/>
          </a:xfrm>
          <a:prstGeom prst="rect">
            <a:avLst/>
          </a:prstGeom>
        </p:spPr>
        <p:txBody>
          <a:bodyPr vert="horz" wrap="square" lIns="0" tIns="92051" rIns="0" bIns="0" rtlCol="0">
            <a:spAutoFit/>
          </a:bodyPr>
          <a:lstStyle/>
          <a:p>
            <a:pPr marL="241228" marR="66655" indent="-228531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228" algn="l"/>
              </a:tabLst>
            </a:pPr>
            <a:r>
              <a:rPr b="1" dirty="0">
                <a:latin typeface="Calibri"/>
                <a:cs typeface="Calibri"/>
              </a:rPr>
              <a:t>Database</a:t>
            </a:r>
            <a:r>
              <a:rPr dirty="0"/>
              <a:t>:</a:t>
            </a:r>
            <a:r>
              <a:rPr spc="-35" dirty="0"/>
              <a:t> </a:t>
            </a:r>
            <a:r>
              <a:rPr dirty="0"/>
              <a:t>Database</a:t>
            </a:r>
            <a:r>
              <a:rPr spc="-55" dirty="0"/>
              <a:t>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be</a:t>
            </a:r>
            <a:r>
              <a:rPr spc="-45" dirty="0"/>
              <a:t> </a:t>
            </a:r>
            <a:r>
              <a:rPr dirty="0"/>
              <a:t>either</a:t>
            </a:r>
            <a:r>
              <a:rPr spc="-55" dirty="0"/>
              <a:t> </a:t>
            </a:r>
            <a:r>
              <a:rPr dirty="0"/>
              <a:t>local</a:t>
            </a:r>
            <a:r>
              <a:rPr spc="-4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cloud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stores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data </a:t>
            </a:r>
            <a:r>
              <a:rPr spc="-10" dirty="0"/>
              <a:t>generated</a:t>
            </a:r>
            <a:r>
              <a:rPr spc="-65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IoT</a:t>
            </a:r>
            <a:r>
              <a:rPr spc="-35" dirty="0"/>
              <a:t> </a:t>
            </a:r>
            <a:r>
              <a:rPr spc="-10" dirty="0"/>
              <a:t>device.</a:t>
            </a:r>
          </a:p>
          <a:p>
            <a:pPr marL="241228" marR="343432" indent="-228531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  <a:tab pos="2169779" algn="l"/>
                <a:tab pos="6778496" algn="l"/>
              </a:tabLst>
            </a:pPr>
            <a:r>
              <a:rPr b="1" dirty="0">
                <a:latin typeface="Calibri"/>
                <a:cs typeface="Calibri"/>
              </a:rPr>
              <a:t>Web</a:t>
            </a:r>
            <a:r>
              <a:rPr b="1" spc="-15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Service</a:t>
            </a:r>
            <a:r>
              <a:rPr spc="-10" dirty="0"/>
              <a:t>:</a:t>
            </a:r>
            <a:r>
              <a:rPr lang="en-US" spc="-10" dirty="0"/>
              <a:t> </a:t>
            </a:r>
            <a:r>
              <a:rPr dirty="0"/>
              <a:t>Web</a:t>
            </a:r>
            <a:r>
              <a:rPr spc="-45" dirty="0"/>
              <a:t> </a:t>
            </a:r>
            <a:r>
              <a:rPr dirty="0"/>
              <a:t>services</a:t>
            </a:r>
            <a:r>
              <a:rPr spc="-60" dirty="0"/>
              <a:t> </a:t>
            </a:r>
            <a:r>
              <a:rPr dirty="0"/>
              <a:t>serve</a:t>
            </a:r>
            <a:r>
              <a:rPr spc="-6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link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7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IoT</a:t>
            </a:r>
            <a:r>
              <a:rPr spc="-40" dirty="0"/>
              <a:t> </a:t>
            </a:r>
            <a:r>
              <a:rPr spc="-10" dirty="0"/>
              <a:t>device, </a:t>
            </a:r>
            <a:r>
              <a:rPr dirty="0"/>
              <a:t>application,</a:t>
            </a:r>
            <a:r>
              <a:rPr spc="-70" dirty="0"/>
              <a:t> </a:t>
            </a:r>
            <a:r>
              <a:rPr dirty="0"/>
              <a:t>database</a:t>
            </a:r>
            <a:r>
              <a:rPr spc="-6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analysis</a:t>
            </a:r>
            <a:r>
              <a:rPr spc="-55" dirty="0"/>
              <a:t> </a:t>
            </a:r>
            <a:r>
              <a:rPr spc="-10" dirty="0"/>
              <a:t>components.</a:t>
            </a:r>
            <a:r>
              <a:rPr lang="en-US" spc="-10" dirty="0"/>
              <a:t> </a:t>
            </a:r>
            <a:r>
              <a:rPr dirty="0"/>
              <a:t>Web</a:t>
            </a:r>
            <a:r>
              <a:rPr spc="-55" dirty="0"/>
              <a:t> </a:t>
            </a:r>
            <a:r>
              <a:rPr dirty="0"/>
              <a:t>service</a:t>
            </a:r>
            <a:r>
              <a:rPr spc="-70" dirty="0"/>
              <a:t> </a:t>
            </a:r>
            <a:r>
              <a:rPr dirty="0"/>
              <a:t>can</a:t>
            </a:r>
            <a:r>
              <a:rPr spc="-40" dirty="0"/>
              <a:t> </a:t>
            </a:r>
            <a:r>
              <a:rPr spc="-25" dirty="0"/>
              <a:t>be </a:t>
            </a:r>
            <a:r>
              <a:rPr spc="-10" dirty="0"/>
              <a:t>implemented</a:t>
            </a:r>
            <a:r>
              <a:rPr spc="-55" dirty="0"/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HTTP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REST</a:t>
            </a:r>
            <a:r>
              <a:rPr spc="-45" dirty="0"/>
              <a:t> </a:t>
            </a:r>
            <a:r>
              <a:rPr dirty="0"/>
              <a:t>principles</a:t>
            </a:r>
            <a:r>
              <a:rPr spc="-45" dirty="0"/>
              <a:t> </a:t>
            </a:r>
            <a:r>
              <a:rPr dirty="0"/>
              <a:t>(REST</a:t>
            </a:r>
            <a:r>
              <a:rPr spc="-45" dirty="0"/>
              <a:t> </a:t>
            </a:r>
            <a:r>
              <a:rPr dirty="0"/>
              <a:t>service)</a:t>
            </a:r>
            <a:r>
              <a:rPr spc="-35" dirty="0"/>
              <a:t> </a:t>
            </a:r>
            <a:r>
              <a:rPr dirty="0"/>
              <a:t>or</a:t>
            </a:r>
            <a:r>
              <a:rPr spc="-15" dirty="0"/>
              <a:t> </a:t>
            </a:r>
            <a:r>
              <a:rPr dirty="0"/>
              <a:t>using</a:t>
            </a:r>
            <a:r>
              <a:rPr spc="-25" dirty="0"/>
              <a:t> the </a:t>
            </a:r>
            <a:r>
              <a:rPr spc="-20" dirty="0"/>
              <a:t>WebSocket</a:t>
            </a:r>
            <a:r>
              <a:rPr spc="-70" dirty="0"/>
              <a:t> </a:t>
            </a:r>
            <a:r>
              <a:rPr spc="-10" dirty="0"/>
              <a:t>protocol</a:t>
            </a:r>
            <a:r>
              <a:rPr spc="-40" dirty="0"/>
              <a:t> </a:t>
            </a:r>
            <a:r>
              <a:rPr spc="-20" dirty="0"/>
              <a:t>(WebSocket</a:t>
            </a:r>
            <a:r>
              <a:rPr spc="-65" dirty="0"/>
              <a:t> </a:t>
            </a:r>
            <a:r>
              <a:rPr spc="-10" dirty="0"/>
              <a:t>service).</a:t>
            </a:r>
          </a:p>
          <a:p>
            <a:pPr marL="241228" marR="521813" indent="-228531">
              <a:lnSpc>
                <a:spcPts val="2499"/>
              </a:lnSpc>
              <a:spcBef>
                <a:spcPts val="980"/>
              </a:spcBef>
              <a:buFont typeface="Arial MT"/>
              <a:buChar char="•"/>
              <a:tabLst>
                <a:tab pos="241228" algn="l"/>
              </a:tabLst>
            </a:pPr>
            <a:r>
              <a:rPr b="1" dirty="0">
                <a:latin typeface="Calibri"/>
                <a:cs typeface="Calibri"/>
              </a:rPr>
              <a:t>Analysis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Component</a:t>
            </a:r>
            <a:r>
              <a:rPr dirty="0"/>
              <a:t>:</a:t>
            </a:r>
            <a:r>
              <a:rPr spc="-35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responsible</a:t>
            </a:r>
            <a:r>
              <a:rPr spc="-7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analyzing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IoT</a:t>
            </a:r>
            <a:r>
              <a:rPr spc="-5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and </a:t>
            </a:r>
            <a:r>
              <a:rPr dirty="0"/>
              <a:t>generating</a:t>
            </a:r>
            <a:r>
              <a:rPr spc="-65" dirty="0"/>
              <a:t> </a:t>
            </a:r>
            <a:r>
              <a:rPr dirty="0"/>
              <a:t>results</a:t>
            </a:r>
            <a:r>
              <a:rPr spc="-8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form</a:t>
            </a:r>
            <a:r>
              <a:rPr spc="-4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easy</a:t>
            </a:r>
            <a:r>
              <a:rPr spc="-6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user</a:t>
            </a:r>
            <a:r>
              <a:rPr spc="-6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understand.</a:t>
            </a:r>
          </a:p>
          <a:p>
            <a:pPr marL="241228" marR="5078" indent="-228531">
              <a:lnSpc>
                <a:spcPts val="2499"/>
              </a:lnSpc>
              <a:spcBef>
                <a:spcPts val="990"/>
              </a:spcBef>
              <a:buFont typeface="Arial MT"/>
              <a:buChar char="•"/>
              <a:tabLst>
                <a:tab pos="241228" algn="l"/>
              </a:tabLst>
            </a:pPr>
            <a:r>
              <a:rPr b="1" dirty="0">
                <a:latin typeface="Calibri"/>
                <a:cs typeface="Calibri"/>
              </a:rPr>
              <a:t>Application</a:t>
            </a:r>
            <a:r>
              <a:rPr dirty="0"/>
              <a:t>:</a:t>
            </a:r>
            <a:r>
              <a:rPr spc="-30" dirty="0"/>
              <a:t> </a:t>
            </a:r>
            <a:r>
              <a:rPr dirty="0"/>
              <a:t>IoT</a:t>
            </a:r>
            <a:r>
              <a:rPr spc="-50" dirty="0"/>
              <a:t> </a:t>
            </a:r>
            <a:r>
              <a:rPr dirty="0"/>
              <a:t>applications</a:t>
            </a:r>
            <a:r>
              <a:rPr spc="-50" dirty="0"/>
              <a:t> </a:t>
            </a:r>
            <a:r>
              <a:rPr dirty="0"/>
              <a:t>provide</a:t>
            </a:r>
            <a:r>
              <a:rPr spc="-60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spc="-10" dirty="0"/>
              <a:t>interface</a:t>
            </a:r>
            <a:r>
              <a:rPr spc="-7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users</a:t>
            </a:r>
            <a:r>
              <a:rPr spc="-60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use</a:t>
            </a:r>
            <a:r>
              <a:rPr spc="-50" dirty="0"/>
              <a:t> </a:t>
            </a:r>
            <a:r>
              <a:rPr spc="-25" dirty="0"/>
              <a:t>to </a:t>
            </a:r>
            <a:r>
              <a:rPr dirty="0"/>
              <a:t>control</a:t>
            </a:r>
            <a:r>
              <a:rPr spc="-4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monitor</a:t>
            </a:r>
            <a:r>
              <a:rPr spc="-40" dirty="0"/>
              <a:t> </a:t>
            </a:r>
            <a:r>
              <a:rPr dirty="0"/>
              <a:t>various</a:t>
            </a:r>
            <a:r>
              <a:rPr spc="-55" dirty="0"/>
              <a:t> </a:t>
            </a:r>
            <a:r>
              <a:rPr dirty="0"/>
              <a:t>aspects</a:t>
            </a:r>
            <a:r>
              <a:rPr spc="-7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IoT</a:t>
            </a:r>
            <a:r>
              <a:rPr spc="-55" dirty="0"/>
              <a:t> </a:t>
            </a:r>
            <a:r>
              <a:rPr spc="-10" dirty="0"/>
              <a:t>system.</a:t>
            </a:r>
            <a:r>
              <a:rPr spc="-80" dirty="0"/>
              <a:t> </a:t>
            </a:r>
            <a:r>
              <a:rPr dirty="0"/>
              <a:t>Applications</a:t>
            </a:r>
            <a:r>
              <a:rPr spc="-70" dirty="0"/>
              <a:t> </a:t>
            </a:r>
            <a:r>
              <a:rPr spc="-20" dirty="0"/>
              <a:t>also </a:t>
            </a:r>
            <a:r>
              <a:rPr dirty="0"/>
              <a:t>allow</a:t>
            </a:r>
            <a:r>
              <a:rPr spc="-45" dirty="0"/>
              <a:t> </a:t>
            </a:r>
            <a:r>
              <a:rPr dirty="0"/>
              <a:t>users</a:t>
            </a:r>
            <a:r>
              <a:rPr spc="-7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view</a:t>
            </a:r>
            <a:r>
              <a:rPr spc="-5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system</a:t>
            </a:r>
            <a:r>
              <a:rPr spc="-90" dirty="0"/>
              <a:t> </a:t>
            </a:r>
            <a:r>
              <a:rPr dirty="0"/>
              <a:t>status</a:t>
            </a:r>
            <a:r>
              <a:rPr spc="-4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processed</a:t>
            </a:r>
            <a:r>
              <a:rPr spc="-85" dirty="0"/>
              <a:t> </a:t>
            </a:r>
            <a:r>
              <a:rPr spc="-10" dirty="0"/>
              <a:t>data.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FE86A6-EC7C-2C64-A4DA-839D3616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033CD-A988-41D5-B3E3-0B05409CA178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BDFDEC-2A02-042A-E18A-0AD9B5DE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 </a:t>
            </a:r>
            <a:r>
              <a:rPr spc="-25" dirty="0"/>
              <a:t>Level-</a:t>
            </a:r>
            <a:r>
              <a:rPr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99" y="1737547"/>
            <a:ext cx="4170864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241228" indent="-228531">
              <a:spcBef>
                <a:spcPts val="105"/>
              </a:spcBef>
              <a:buFont typeface="Arial MT"/>
              <a:buChar char="•"/>
              <a:tabLst>
                <a:tab pos="241228" algn="l"/>
                <a:tab pos="603704" algn="l"/>
                <a:tab pos="1663836" algn="l"/>
                <a:tab pos="2252304" algn="l"/>
                <a:tab pos="3351159" algn="l"/>
                <a:tab pos="3994221" algn="l"/>
              </a:tabLst>
            </a:pPr>
            <a:r>
              <a:rPr sz="2599" spc="-50" dirty="0">
                <a:latin typeface="Calibri"/>
                <a:cs typeface="Calibri"/>
              </a:rPr>
              <a:t>A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0" dirty="0">
                <a:latin typeface="Calibri"/>
                <a:cs typeface="Calibri"/>
              </a:rPr>
              <a:t>level-</a:t>
            </a:r>
            <a:r>
              <a:rPr sz="2599" spc="-50" dirty="0">
                <a:latin typeface="Calibri"/>
                <a:cs typeface="Calibri"/>
              </a:rPr>
              <a:t>1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IoT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10" dirty="0">
                <a:latin typeface="Calibri"/>
                <a:cs typeface="Calibri"/>
              </a:rPr>
              <a:t>system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b="1" spc="-25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b="1" spc="-5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2599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240" y="2014843"/>
            <a:ext cx="2967217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  <a:tabLst>
                <a:tab pos="1229626" algn="l"/>
              </a:tabLst>
            </a:pP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node/device</a:t>
            </a:r>
            <a:endParaRPr sz="2599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241" y="2292139"/>
            <a:ext cx="1255068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10" dirty="0">
                <a:latin typeface="Calibri"/>
                <a:cs typeface="Calibri"/>
              </a:rPr>
              <a:t>performs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0513" y="2292139"/>
            <a:ext cx="1026527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10" dirty="0">
                <a:solidFill>
                  <a:srgbClr val="FF0000"/>
                </a:solidFill>
                <a:latin typeface="Calibri"/>
                <a:cs typeface="Calibri"/>
              </a:rPr>
              <a:t>sensing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5850" y="2014843"/>
            <a:ext cx="943998" cy="711228"/>
          </a:xfrm>
          <a:prstGeom prst="rect">
            <a:avLst/>
          </a:prstGeom>
        </p:spPr>
        <p:txBody>
          <a:bodyPr vert="horz" wrap="square" lIns="0" tIns="132046" rIns="0" bIns="0" rtlCol="0">
            <a:spAutoFit/>
          </a:bodyPr>
          <a:lstStyle/>
          <a:p>
            <a:pPr marL="12696" marR="5078" indent="366920">
              <a:lnSpc>
                <a:spcPct val="70000"/>
              </a:lnSpc>
              <a:spcBef>
                <a:spcPts val="1040"/>
              </a:spcBef>
            </a:pPr>
            <a:r>
              <a:rPr sz="2599" spc="-20" dirty="0">
                <a:latin typeface="Calibri"/>
                <a:cs typeface="Calibri"/>
              </a:rPr>
              <a:t>that </a:t>
            </a:r>
            <a:r>
              <a:rPr sz="2599" spc="-20" dirty="0">
                <a:solidFill>
                  <a:srgbClr val="FF0000"/>
                </a:solidFill>
                <a:latin typeface="Calibri"/>
                <a:cs typeface="Calibri"/>
              </a:rPr>
              <a:t>and/or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241" y="2569510"/>
            <a:ext cx="1383305" cy="422799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2599" spc="-10" dirty="0">
                <a:solidFill>
                  <a:srgbClr val="FF0000"/>
                </a:solidFill>
                <a:latin typeface="Calibri"/>
                <a:cs typeface="Calibri"/>
              </a:rPr>
              <a:t>actuation,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7809" y="2569510"/>
            <a:ext cx="2049880" cy="422799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  <a:tabLst>
                <a:tab pos="1359762" algn="l"/>
              </a:tabLst>
            </a:pPr>
            <a:r>
              <a:rPr sz="2599" spc="-10" dirty="0">
                <a:solidFill>
                  <a:srgbClr val="FF0000"/>
                </a:solidFill>
                <a:latin typeface="Calibri"/>
                <a:cs typeface="Calibri"/>
              </a:rPr>
              <a:t>stores</a:t>
            </a:r>
            <a:r>
              <a:rPr sz="2599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spc="-20" dirty="0">
                <a:solidFill>
                  <a:srgbClr val="FF0000"/>
                </a:solidFill>
                <a:latin typeface="Calibri"/>
                <a:cs typeface="Calibri"/>
              </a:rPr>
              <a:t>data,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240" y="2847110"/>
            <a:ext cx="3944227" cy="711228"/>
          </a:xfrm>
          <a:prstGeom prst="rect">
            <a:avLst/>
          </a:prstGeom>
        </p:spPr>
        <p:txBody>
          <a:bodyPr vert="horz" wrap="square" lIns="0" tIns="132046" rIns="0" bIns="0" rtlCol="0">
            <a:spAutoFit/>
          </a:bodyPr>
          <a:lstStyle/>
          <a:p>
            <a:pPr marL="12696" marR="5078">
              <a:lnSpc>
                <a:spcPct val="70000"/>
              </a:lnSpc>
              <a:spcBef>
                <a:spcPts val="1040"/>
              </a:spcBef>
              <a:tabLst>
                <a:tab pos="1383885" algn="l"/>
                <a:tab pos="2570978" algn="l"/>
                <a:tab pos="3217215" algn="l"/>
              </a:tabLst>
            </a:pPr>
            <a:r>
              <a:rPr sz="2599" spc="-10" dirty="0">
                <a:solidFill>
                  <a:srgbClr val="FF0000"/>
                </a:solidFill>
                <a:latin typeface="Calibri"/>
                <a:cs typeface="Calibri"/>
              </a:rPr>
              <a:t>performs</a:t>
            </a:r>
            <a:r>
              <a:rPr sz="2599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spc="-10" dirty="0">
                <a:solidFill>
                  <a:srgbClr val="FF0000"/>
                </a:solidFill>
                <a:latin typeface="Calibri"/>
                <a:cs typeface="Calibri"/>
              </a:rPr>
              <a:t>analysis</a:t>
            </a:r>
            <a:r>
              <a:rPr sz="2599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spc="-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599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spc="-20" dirty="0">
                <a:solidFill>
                  <a:srgbClr val="FF0000"/>
                </a:solidFill>
                <a:latin typeface="Calibri"/>
                <a:cs typeface="Calibri"/>
              </a:rPr>
              <a:t>hosts </a:t>
            </a:r>
            <a:r>
              <a:rPr sz="2599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599" spc="-10" dirty="0">
                <a:solidFill>
                  <a:srgbClr val="FF0000"/>
                </a:solidFill>
                <a:latin typeface="Calibri"/>
                <a:cs typeface="Calibri"/>
              </a:rPr>
              <a:t> application.</a:t>
            </a:r>
            <a:endParaRPr sz="2599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700" y="3528161"/>
            <a:ext cx="1209995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241228" indent="-228531">
              <a:spcBef>
                <a:spcPts val="105"/>
              </a:spcBef>
              <a:buFont typeface="Arial MT"/>
              <a:buChar char="•"/>
              <a:tabLst>
                <a:tab pos="241228" algn="l"/>
              </a:tabLst>
            </a:pPr>
            <a:r>
              <a:rPr sz="2599" spc="-20" dirty="0">
                <a:latin typeface="Calibri"/>
                <a:cs typeface="Calibri"/>
              </a:rPr>
              <a:t>Level-</a:t>
            </a:r>
            <a:r>
              <a:rPr sz="2599" spc="-50" dirty="0">
                <a:latin typeface="Calibri"/>
                <a:cs typeface="Calibri"/>
              </a:rPr>
              <a:t>1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51222" y="3528161"/>
            <a:ext cx="2639008" cy="422165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  <a:tabLst>
                <a:tab pos="781450" algn="l"/>
                <a:tab pos="2191362" algn="l"/>
              </a:tabLst>
            </a:pPr>
            <a:r>
              <a:rPr sz="2599" spc="-25" dirty="0">
                <a:latin typeface="Calibri"/>
                <a:cs typeface="Calibri"/>
              </a:rPr>
              <a:t>IoT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10" dirty="0">
                <a:latin typeface="Calibri"/>
                <a:cs typeface="Calibri"/>
              </a:rPr>
              <a:t>systems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are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240" y="3805456"/>
            <a:ext cx="3944227" cy="42216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1237244" algn="l"/>
                <a:tab pos="1787624" algn="l"/>
                <a:tab pos="3323863" algn="l"/>
              </a:tabLst>
            </a:pPr>
            <a:r>
              <a:rPr sz="2599" spc="-10" dirty="0">
                <a:latin typeface="Calibri"/>
                <a:cs typeface="Calibri"/>
              </a:rPr>
              <a:t>suitable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for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modelling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b="1" spc="-20" dirty="0">
                <a:solidFill>
                  <a:srgbClr val="FF0000"/>
                </a:solidFill>
                <a:latin typeface="Calibri"/>
                <a:cs typeface="Calibri"/>
              </a:rPr>
              <a:t>low-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5240" y="4082702"/>
            <a:ext cx="3942323" cy="422799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  <a:tabLst>
                <a:tab pos="934439" algn="l"/>
                <a:tab pos="1816190" algn="l"/>
              </a:tabLst>
            </a:pPr>
            <a:r>
              <a:rPr sz="2599" b="1" spc="-20" dirty="0">
                <a:solidFill>
                  <a:srgbClr val="FF0000"/>
                </a:solidFill>
                <a:latin typeface="Calibri"/>
                <a:cs typeface="Calibri"/>
              </a:rPr>
              <a:t>cost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b="1" spc="-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low-complexity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5240" y="4360303"/>
            <a:ext cx="3943593" cy="42216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1522273" algn="l"/>
                <a:tab pos="2630651" algn="l"/>
                <a:tab pos="3335924" algn="l"/>
              </a:tabLst>
            </a:pP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solutions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spc="-10" dirty="0">
                <a:latin typeface="Calibri"/>
                <a:cs typeface="Calibri"/>
              </a:rPr>
              <a:t>where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the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0" dirty="0">
                <a:latin typeface="Calibri"/>
                <a:cs typeface="Calibri"/>
              </a:rPr>
              <a:t>data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5240" y="4637598"/>
            <a:ext cx="3943593" cy="69958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lnSpc>
                <a:spcPts val="2649"/>
              </a:lnSpc>
              <a:spcBef>
                <a:spcPts val="100"/>
              </a:spcBef>
              <a:tabLst>
                <a:tab pos="1292472" algn="l"/>
                <a:tab pos="1650505" algn="l"/>
                <a:tab pos="2264365" algn="l"/>
                <a:tab pos="2823633" algn="l"/>
                <a:tab pos="3483834" algn="l"/>
              </a:tabLst>
            </a:pPr>
            <a:r>
              <a:rPr sz="2599" spc="-10" dirty="0">
                <a:latin typeface="Calibri"/>
                <a:cs typeface="Calibri"/>
              </a:rPr>
              <a:t>involved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is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not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big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and</a:t>
            </a:r>
            <a:r>
              <a:rPr sz="2599" dirty="0">
                <a:latin typeface="Calibri"/>
                <a:cs typeface="Calibri"/>
              </a:rPr>
              <a:t>	</a:t>
            </a:r>
            <a:r>
              <a:rPr sz="2599" spc="-25" dirty="0">
                <a:latin typeface="Calibri"/>
                <a:cs typeface="Calibri"/>
              </a:rPr>
              <a:t>the</a:t>
            </a:r>
            <a:endParaRPr sz="2599">
              <a:latin typeface="Calibri"/>
              <a:cs typeface="Calibri"/>
            </a:endParaRPr>
          </a:p>
          <a:p>
            <a:pPr marL="12696">
              <a:lnSpc>
                <a:spcPts val="2649"/>
              </a:lnSpc>
              <a:tabLst>
                <a:tab pos="1365475" algn="l"/>
                <a:tab pos="3486374" algn="l"/>
              </a:tabLst>
            </a:pP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analysis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requirements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99" b="1" spc="-25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19936" y="5192189"/>
            <a:ext cx="2266994" cy="42216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computationally</a:t>
            </a:r>
            <a:endParaRPr sz="2599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5240" y="5192189"/>
            <a:ext cx="1354737" cy="710587"/>
          </a:xfrm>
          <a:prstGeom prst="rect">
            <a:avLst/>
          </a:prstGeom>
        </p:spPr>
        <p:txBody>
          <a:bodyPr vert="horz" wrap="square" lIns="0" tIns="131411" rIns="0" bIns="0" rtlCol="0">
            <a:spAutoFit/>
          </a:bodyPr>
          <a:lstStyle/>
          <a:p>
            <a:pPr marL="12696" marR="5078">
              <a:lnSpc>
                <a:spcPct val="70100"/>
              </a:lnSpc>
              <a:spcBef>
                <a:spcPts val="1035"/>
              </a:spcBef>
            </a:pPr>
            <a:r>
              <a:rPr sz="2599" b="1" spc="-25" dirty="0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sz="2599" b="1" spc="-20" dirty="0">
                <a:solidFill>
                  <a:srgbClr val="FF0000"/>
                </a:solidFill>
                <a:latin typeface="Calibri"/>
                <a:cs typeface="Calibri"/>
              </a:rPr>
              <a:t>intensive.</a:t>
            </a:r>
            <a:endParaRPr sz="2599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2912" y="1610734"/>
            <a:ext cx="4854578" cy="4829109"/>
          </a:xfrm>
          <a:prstGeom prst="rect">
            <a:avLst/>
          </a:prstGeom>
        </p:spPr>
      </p:pic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7A0AAEA5-A47D-2582-8772-3164BC1B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1EE3-E275-411D-BC98-AF24EDA32C90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27EDE14-9A1F-1043-A9BC-0B21E10A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449" y="893"/>
            <a:ext cx="11998375" cy="6373727"/>
            <a:chOff x="190500" y="0"/>
            <a:chExt cx="12001500" cy="637538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6407" y="1341996"/>
              <a:ext cx="7149592" cy="50333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0500" y="0"/>
              <a:ext cx="12001500" cy="1419225"/>
            </a:xfrm>
            <a:custGeom>
              <a:avLst/>
              <a:gdLst/>
              <a:ahLst/>
              <a:cxnLst/>
              <a:rect l="l" t="t" r="r" b="b"/>
              <a:pathLst>
                <a:path w="12001500" h="1419225">
                  <a:moveTo>
                    <a:pt x="0" y="1419225"/>
                  </a:moveTo>
                  <a:lnTo>
                    <a:pt x="12001500" y="1419225"/>
                  </a:lnTo>
                  <a:lnTo>
                    <a:pt x="12001500" y="0"/>
                  </a:lnTo>
                  <a:lnTo>
                    <a:pt x="0" y="0"/>
                  </a:lnTo>
                  <a:lnTo>
                    <a:pt x="0" y="1419225"/>
                  </a:lnTo>
                  <a:close/>
                </a:path>
              </a:pathLst>
            </a:custGeom>
            <a:solidFill>
              <a:srgbClr val="DAF3FD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700" y="37586"/>
            <a:ext cx="9485064" cy="1300141"/>
          </a:xfrm>
          <a:prstGeom prst="rect">
            <a:avLst/>
          </a:prstGeom>
        </p:spPr>
        <p:txBody>
          <a:bodyPr vert="horz" wrap="square" lIns="0" tIns="88877" rIns="0" bIns="0" rtlCol="0" anchor="b">
            <a:spAutoFit/>
          </a:bodyPr>
          <a:lstStyle/>
          <a:p>
            <a:pPr marL="12696" marR="5078">
              <a:lnSpc>
                <a:spcPts val="4749"/>
              </a:lnSpc>
              <a:spcBef>
                <a:spcPts val="700"/>
              </a:spcBef>
            </a:pPr>
            <a:r>
              <a:rPr dirty="0">
                <a:latin typeface="Calibri Light"/>
                <a:cs typeface="Calibri Light"/>
              </a:rPr>
              <a:t>IoT</a:t>
            </a:r>
            <a:r>
              <a:rPr spc="-4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–</a:t>
            </a:r>
            <a:r>
              <a:rPr spc="-5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Level</a:t>
            </a:r>
            <a:r>
              <a:rPr spc="-3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1</a:t>
            </a:r>
            <a:r>
              <a:rPr spc="-4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Example</a:t>
            </a:r>
            <a:r>
              <a:rPr spc="-6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…Home</a:t>
            </a:r>
            <a:r>
              <a:rPr spc="-45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Automation System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8096C-76AE-86D3-02B0-D5C83E6B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4959B-585B-4AA4-B9F9-5F5992E60081}" type="datetime1">
              <a:rPr lang="en-US" smtClean="0"/>
              <a:t>29-Jun-25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484C7A-8107-4EC4-A572-478CDEC6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 </a:t>
            </a:r>
            <a:r>
              <a:rPr spc="-25" dirty="0"/>
              <a:t>Level-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37547"/>
            <a:ext cx="4132773" cy="4326917"/>
          </a:xfrm>
          <a:prstGeom prst="rect">
            <a:avLst/>
          </a:prstGeom>
        </p:spPr>
        <p:txBody>
          <a:bodyPr vert="horz" wrap="square" lIns="0" tIns="132046" rIns="0" bIns="0" rtlCol="0">
            <a:spAutoFit/>
          </a:bodyPr>
          <a:lstStyle/>
          <a:p>
            <a:pPr marL="241228" marR="341528" indent="-228531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241228" algn="l"/>
              </a:tabLst>
            </a:pPr>
            <a:r>
              <a:rPr sz="2599" dirty="0">
                <a:latin typeface="Calibri"/>
                <a:cs typeface="Calibri"/>
              </a:rPr>
              <a:t>A</a:t>
            </a:r>
            <a:r>
              <a:rPr sz="2599" spc="-30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level-</a:t>
            </a:r>
            <a:r>
              <a:rPr sz="2599" dirty="0">
                <a:latin typeface="Calibri"/>
                <a:cs typeface="Calibri"/>
              </a:rPr>
              <a:t>2</a:t>
            </a:r>
            <a:r>
              <a:rPr sz="2599" spc="-4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IoT</a:t>
            </a:r>
            <a:r>
              <a:rPr sz="2599" spc="-30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system</a:t>
            </a:r>
            <a:r>
              <a:rPr sz="2599" spc="-6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has</a:t>
            </a:r>
            <a:r>
              <a:rPr sz="2599" spc="-30" dirty="0">
                <a:latin typeface="Calibri"/>
                <a:cs typeface="Calibri"/>
              </a:rPr>
              <a:t> </a:t>
            </a:r>
            <a:r>
              <a:rPr sz="2599" spc="-60" dirty="0">
                <a:latin typeface="Calibri"/>
                <a:cs typeface="Calibri"/>
              </a:rPr>
              <a:t>a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5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25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5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performs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sensing</a:t>
            </a:r>
            <a:r>
              <a:rPr sz="2599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and/or</a:t>
            </a:r>
            <a:r>
              <a:rPr sz="2599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actuation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599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local</a:t>
            </a:r>
            <a:r>
              <a:rPr sz="25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analysis.</a:t>
            </a:r>
            <a:endParaRPr sz="2599">
              <a:latin typeface="Calibri"/>
              <a:cs typeface="Calibri"/>
            </a:endParaRPr>
          </a:p>
          <a:p>
            <a:pPr marL="241228" marR="5078" indent="-228531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599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5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stored</a:t>
            </a:r>
            <a:r>
              <a:rPr sz="2599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599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599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cloud </a:t>
            </a:r>
            <a:r>
              <a:rPr sz="2599" dirty="0">
                <a:latin typeface="Calibri"/>
                <a:cs typeface="Calibri"/>
              </a:rPr>
              <a:t>and</a:t>
            </a:r>
            <a:r>
              <a:rPr sz="2599" spc="-5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the</a:t>
            </a:r>
            <a:r>
              <a:rPr sz="2599" spc="-4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application</a:t>
            </a:r>
            <a:r>
              <a:rPr sz="2599" spc="-5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is</a:t>
            </a:r>
            <a:r>
              <a:rPr sz="2599" spc="-30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usually cloud-based.</a:t>
            </a:r>
            <a:endParaRPr sz="2599">
              <a:latin typeface="Calibri"/>
              <a:cs typeface="Calibri"/>
            </a:endParaRPr>
          </a:p>
          <a:p>
            <a:pPr marL="241228" marR="53959" indent="-228531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2599" spc="-20" dirty="0">
                <a:latin typeface="Calibri"/>
                <a:cs typeface="Calibri"/>
              </a:rPr>
              <a:t>Level-</a:t>
            </a:r>
            <a:r>
              <a:rPr sz="2599" dirty="0">
                <a:latin typeface="Calibri"/>
                <a:cs typeface="Calibri"/>
              </a:rPr>
              <a:t>2</a:t>
            </a:r>
            <a:r>
              <a:rPr sz="2599" spc="-4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IoT</a:t>
            </a:r>
            <a:r>
              <a:rPr sz="2599" spc="-20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systems</a:t>
            </a:r>
            <a:r>
              <a:rPr sz="2599" spc="-65" dirty="0">
                <a:latin typeface="Calibri"/>
                <a:cs typeface="Calibri"/>
              </a:rPr>
              <a:t> </a:t>
            </a:r>
            <a:r>
              <a:rPr sz="2599" spc="-25" dirty="0">
                <a:latin typeface="Calibri"/>
                <a:cs typeface="Calibri"/>
              </a:rPr>
              <a:t>are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suitable</a:t>
            </a:r>
            <a:r>
              <a:rPr sz="2599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599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solutions</a:t>
            </a:r>
            <a:r>
              <a:rPr sz="2599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where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599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599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involved</a:t>
            </a:r>
            <a:r>
              <a:rPr sz="25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599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20" dirty="0">
                <a:solidFill>
                  <a:srgbClr val="FF0000"/>
                </a:solidFill>
                <a:latin typeface="Calibri"/>
                <a:cs typeface="Calibri"/>
              </a:rPr>
              <a:t>big; </a:t>
            </a:r>
            <a:r>
              <a:rPr sz="2599" spc="-35" dirty="0">
                <a:latin typeface="Calibri"/>
                <a:cs typeface="Calibri"/>
              </a:rPr>
              <a:t>however,</a:t>
            </a:r>
            <a:r>
              <a:rPr sz="2599" spc="-6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the</a:t>
            </a:r>
            <a:r>
              <a:rPr sz="2599" spc="-50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primary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analysis</a:t>
            </a:r>
            <a:r>
              <a:rPr sz="2599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requirement</a:t>
            </a:r>
            <a:r>
              <a:rPr sz="2599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599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25" dirty="0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computationally</a:t>
            </a:r>
            <a:r>
              <a:rPr sz="25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99" b="1" spc="-10" dirty="0">
                <a:solidFill>
                  <a:srgbClr val="FF0000"/>
                </a:solidFill>
                <a:latin typeface="Calibri"/>
                <a:cs typeface="Calibri"/>
              </a:rPr>
              <a:t>intensive </a:t>
            </a:r>
            <a:r>
              <a:rPr sz="2599" dirty="0">
                <a:latin typeface="Calibri"/>
                <a:cs typeface="Calibri"/>
              </a:rPr>
              <a:t>and</a:t>
            </a:r>
            <a:r>
              <a:rPr sz="2599" spc="-2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can</a:t>
            </a:r>
            <a:r>
              <a:rPr sz="2599" spc="-15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be</a:t>
            </a:r>
            <a:r>
              <a:rPr sz="2599" spc="-30" dirty="0">
                <a:latin typeface="Calibri"/>
                <a:cs typeface="Calibri"/>
              </a:rPr>
              <a:t> </a:t>
            </a:r>
            <a:r>
              <a:rPr sz="2599" dirty="0">
                <a:latin typeface="Calibri"/>
                <a:cs typeface="Calibri"/>
              </a:rPr>
              <a:t>done</a:t>
            </a:r>
            <a:r>
              <a:rPr sz="2599" spc="-40" dirty="0">
                <a:latin typeface="Calibri"/>
                <a:cs typeface="Calibri"/>
              </a:rPr>
              <a:t> </a:t>
            </a:r>
            <a:r>
              <a:rPr sz="2599" spc="-10" dirty="0">
                <a:latin typeface="Calibri"/>
                <a:cs typeface="Calibri"/>
              </a:rPr>
              <a:t>locally.</a:t>
            </a:r>
            <a:endParaRPr sz="25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1699" y="1659434"/>
            <a:ext cx="3331872" cy="460307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F815F61-1E73-6EDA-A1CF-0758B963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E3CE-447D-453B-A155-D4771A545C97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0EA0650-EE41-D286-3532-CBA382C0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90449" y="893"/>
            <a:ext cx="11998375" cy="1418855"/>
          </a:xfrm>
          <a:custGeom>
            <a:avLst/>
            <a:gdLst/>
            <a:ahLst/>
            <a:cxnLst/>
            <a:rect l="l" t="t" r="r" b="b"/>
            <a:pathLst>
              <a:path w="12001500" h="1419225">
                <a:moveTo>
                  <a:pt x="0" y="1419225"/>
                </a:moveTo>
                <a:lnTo>
                  <a:pt x="12001500" y="1419225"/>
                </a:lnTo>
                <a:lnTo>
                  <a:pt x="12001500" y="0"/>
                </a:lnTo>
                <a:lnTo>
                  <a:pt x="0" y="0"/>
                </a:lnTo>
                <a:lnTo>
                  <a:pt x="0" y="1419225"/>
                </a:lnTo>
                <a:close/>
              </a:path>
            </a:pathLst>
          </a:custGeom>
          <a:solidFill>
            <a:srgbClr val="DAF3FD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 Light"/>
                <a:cs typeface="Calibri Light"/>
              </a:rPr>
              <a:t>IoT</a:t>
            </a:r>
            <a:r>
              <a:rPr spc="-3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– Level</a:t>
            </a:r>
            <a:r>
              <a:rPr spc="-3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2</a:t>
            </a:r>
            <a:r>
              <a:rPr spc="-4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Example</a:t>
            </a:r>
            <a:r>
              <a:rPr spc="-5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…Smart</a:t>
            </a:r>
            <a:r>
              <a:rPr spc="-45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Irrigation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855" y="1713359"/>
            <a:ext cx="9351114" cy="414229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A89408-FACD-7186-7355-CD7CBB35C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B69FA-256B-41B1-82BE-35472DEDBCED}" type="datetime1">
              <a:rPr lang="en-US" smtClean="0"/>
              <a:t>29-Jun-25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981591-41D6-07F5-BA86-8E8D1F94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 </a:t>
            </a:r>
            <a:r>
              <a:rPr spc="-25" dirty="0"/>
              <a:t>Level-</a:t>
            </a: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99" y="1760401"/>
            <a:ext cx="4170864" cy="2967852"/>
          </a:xfrm>
          <a:prstGeom prst="rect">
            <a:avLst/>
          </a:prstGeom>
        </p:spPr>
        <p:txBody>
          <a:bodyPr vert="horz" wrap="square" lIns="0" tIns="97130" rIns="0" bIns="0" rtlCol="0">
            <a:spAutoFit/>
          </a:bodyPr>
          <a:lstStyle/>
          <a:p>
            <a:pPr marL="239957" marR="39358" indent="-227261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228" algn="l"/>
              </a:tabLst>
            </a:pPr>
            <a:r>
              <a:rPr sz="2799" dirty="0">
                <a:latin typeface="Calibri"/>
                <a:cs typeface="Calibri"/>
              </a:rPr>
              <a:t>A</a:t>
            </a:r>
            <a:r>
              <a:rPr sz="2799" spc="-20" dirty="0">
                <a:latin typeface="Calibri"/>
                <a:cs typeface="Calibri"/>
              </a:rPr>
              <a:t> level-</a:t>
            </a:r>
            <a:r>
              <a:rPr sz="2799" dirty="0">
                <a:latin typeface="Calibri"/>
                <a:cs typeface="Calibri"/>
              </a:rPr>
              <a:t>3</a:t>
            </a:r>
            <a:r>
              <a:rPr sz="2799" spc="-1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IoT</a:t>
            </a:r>
            <a:r>
              <a:rPr sz="2799" spc="-30" dirty="0">
                <a:latin typeface="Calibri"/>
                <a:cs typeface="Calibri"/>
              </a:rPr>
              <a:t> </a:t>
            </a:r>
            <a:r>
              <a:rPr sz="2799" spc="-20" dirty="0">
                <a:latin typeface="Calibri"/>
                <a:cs typeface="Calibri"/>
              </a:rPr>
              <a:t>system</a:t>
            </a:r>
            <a:r>
              <a:rPr sz="2799" spc="-25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has</a:t>
            </a:r>
            <a:r>
              <a:rPr sz="2799" spc="-15" dirty="0">
                <a:latin typeface="Calibri"/>
                <a:cs typeface="Calibri"/>
              </a:rPr>
              <a:t> </a:t>
            </a:r>
            <a:r>
              <a:rPr sz="2799" spc="-50" dirty="0">
                <a:latin typeface="Calibri"/>
                <a:cs typeface="Calibri"/>
              </a:rPr>
              <a:t>a 	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799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node.</a:t>
            </a:r>
            <a:r>
              <a:rPr sz="27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799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799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spc="-10" dirty="0">
                <a:solidFill>
                  <a:srgbClr val="FF0000"/>
                </a:solidFill>
                <a:latin typeface="Calibri"/>
                <a:cs typeface="Calibri"/>
              </a:rPr>
              <a:t>stored 	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799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analyzed</a:t>
            </a:r>
            <a:r>
              <a:rPr sz="2799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799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99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spc="-10" dirty="0">
                <a:solidFill>
                  <a:srgbClr val="FF0000"/>
                </a:solidFill>
                <a:latin typeface="Calibri"/>
                <a:cs typeface="Calibri"/>
              </a:rPr>
              <a:t>cloud 	</a:t>
            </a:r>
            <a:r>
              <a:rPr sz="2799" dirty="0">
                <a:latin typeface="Calibri"/>
                <a:cs typeface="Calibri"/>
              </a:rPr>
              <a:t>and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dirty="0">
                <a:latin typeface="Calibri"/>
                <a:cs typeface="Calibri"/>
              </a:rPr>
              <a:t>the</a:t>
            </a:r>
            <a:r>
              <a:rPr sz="2799" spc="-50" dirty="0">
                <a:latin typeface="Calibri"/>
                <a:cs typeface="Calibri"/>
              </a:rPr>
              <a:t> </a:t>
            </a:r>
            <a:r>
              <a:rPr sz="2799" spc="-10" dirty="0">
                <a:latin typeface="Calibri"/>
                <a:cs typeface="Calibri"/>
              </a:rPr>
              <a:t>application</a:t>
            </a:r>
            <a:r>
              <a:rPr sz="2799" spc="-45" dirty="0">
                <a:latin typeface="Calibri"/>
                <a:cs typeface="Calibri"/>
              </a:rPr>
              <a:t> </a:t>
            </a:r>
            <a:r>
              <a:rPr sz="2799" spc="-25" dirty="0">
                <a:latin typeface="Calibri"/>
                <a:cs typeface="Calibri"/>
              </a:rPr>
              <a:t>is 	cloud-</a:t>
            </a:r>
            <a:r>
              <a:rPr sz="2799" spc="-10" dirty="0">
                <a:latin typeface="Calibri"/>
                <a:cs typeface="Calibri"/>
              </a:rPr>
              <a:t>based.</a:t>
            </a:r>
            <a:endParaRPr sz="2799">
              <a:latin typeface="Calibri"/>
              <a:cs typeface="Calibri"/>
            </a:endParaRPr>
          </a:p>
          <a:p>
            <a:pPr marL="239957" marR="5078" indent="-227261" algn="just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2799" spc="-20" dirty="0">
                <a:latin typeface="Calibri"/>
                <a:cs typeface="Calibri"/>
              </a:rPr>
              <a:t>Level-</a:t>
            </a:r>
            <a:r>
              <a:rPr sz="2799" dirty="0">
                <a:latin typeface="Calibri"/>
                <a:cs typeface="Calibri"/>
              </a:rPr>
              <a:t>3</a:t>
            </a:r>
            <a:r>
              <a:rPr sz="2799" spc="425" dirty="0">
                <a:latin typeface="Calibri"/>
                <a:cs typeface="Calibri"/>
              </a:rPr>
              <a:t>  </a:t>
            </a:r>
            <a:r>
              <a:rPr sz="2799" dirty="0">
                <a:latin typeface="Calibri"/>
                <a:cs typeface="Calibri"/>
              </a:rPr>
              <a:t>IoT</a:t>
            </a:r>
            <a:r>
              <a:rPr sz="2799" spc="434" dirty="0">
                <a:latin typeface="Calibri"/>
                <a:cs typeface="Calibri"/>
              </a:rPr>
              <a:t>  </a:t>
            </a:r>
            <a:r>
              <a:rPr sz="2799" dirty="0">
                <a:latin typeface="Calibri"/>
                <a:cs typeface="Calibri"/>
              </a:rPr>
              <a:t>systems</a:t>
            </a:r>
            <a:r>
              <a:rPr sz="2799" spc="430" dirty="0">
                <a:latin typeface="Calibri"/>
                <a:cs typeface="Calibri"/>
              </a:rPr>
              <a:t>  </a:t>
            </a:r>
            <a:r>
              <a:rPr sz="2799" spc="-25" dirty="0">
                <a:latin typeface="Calibri"/>
                <a:cs typeface="Calibri"/>
              </a:rPr>
              <a:t>are 	</a:t>
            </a:r>
            <a:r>
              <a:rPr sz="2799" dirty="0">
                <a:latin typeface="Calibri"/>
                <a:cs typeface="Calibri"/>
              </a:rPr>
              <a:t>suitable</a:t>
            </a:r>
            <a:r>
              <a:rPr sz="2799" spc="390" dirty="0">
                <a:latin typeface="Calibri"/>
                <a:cs typeface="Calibri"/>
              </a:rPr>
              <a:t>    </a:t>
            </a:r>
            <a:r>
              <a:rPr sz="2799" dirty="0">
                <a:latin typeface="Calibri"/>
                <a:cs typeface="Calibri"/>
              </a:rPr>
              <a:t>for</a:t>
            </a:r>
            <a:r>
              <a:rPr sz="2799" spc="390" dirty="0">
                <a:latin typeface="Calibri"/>
                <a:cs typeface="Calibri"/>
              </a:rPr>
              <a:t>    </a:t>
            </a:r>
            <a:r>
              <a:rPr sz="2799" spc="-10" dirty="0">
                <a:latin typeface="Calibri"/>
                <a:cs typeface="Calibri"/>
              </a:rPr>
              <a:t>solutions 	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sz="27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99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799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involved</a:t>
            </a:r>
            <a:r>
              <a:rPr sz="2799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99" b="1" spc="-2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241" y="4959079"/>
            <a:ext cx="2016870" cy="452002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2799" b="1" spc="-10" dirty="0">
                <a:solidFill>
                  <a:srgbClr val="FF0000"/>
                </a:solidFill>
                <a:latin typeface="Calibri"/>
                <a:cs typeface="Calibri"/>
              </a:rPr>
              <a:t>requirements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240" y="4617792"/>
            <a:ext cx="3942323" cy="79290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R="5078" algn="r">
              <a:lnSpc>
                <a:spcPts val="3024"/>
              </a:lnSpc>
              <a:spcBef>
                <a:spcPts val="95"/>
              </a:spcBef>
              <a:tabLst>
                <a:tab pos="863976" algn="l"/>
                <a:tab pos="1839043" algn="l"/>
                <a:tab pos="2749995" algn="l"/>
              </a:tabLst>
            </a:pPr>
            <a:r>
              <a:rPr sz="2799" b="1" spc="-25" dirty="0">
                <a:solidFill>
                  <a:srgbClr val="FF0000"/>
                </a:solidFill>
                <a:latin typeface="Calibri"/>
                <a:cs typeface="Calibri"/>
              </a:rPr>
              <a:t>big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799" b="1" spc="-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799" b="1" spc="-2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99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799" b="1" spc="-10" dirty="0">
                <a:solidFill>
                  <a:srgbClr val="FF0000"/>
                </a:solidFill>
                <a:latin typeface="Calibri"/>
                <a:cs typeface="Calibri"/>
              </a:rPr>
              <a:t>analysis</a:t>
            </a:r>
            <a:endParaRPr sz="2799">
              <a:latin typeface="Calibri"/>
              <a:cs typeface="Calibri"/>
            </a:endParaRPr>
          </a:p>
          <a:p>
            <a:pPr marR="5078" algn="r">
              <a:lnSpc>
                <a:spcPts val="3024"/>
              </a:lnSpc>
            </a:pPr>
            <a:r>
              <a:rPr sz="2799" b="1" spc="-25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endParaRPr sz="2799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240" y="5300391"/>
            <a:ext cx="2436495" cy="793543"/>
          </a:xfrm>
          <a:prstGeom prst="rect">
            <a:avLst/>
          </a:prstGeom>
        </p:spPr>
        <p:txBody>
          <a:bodyPr vert="horz" wrap="square" lIns="0" tIns="94590" rIns="0" bIns="0" rtlCol="0">
            <a:spAutoFit/>
          </a:bodyPr>
          <a:lstStyle/>
          <a:p>
            <a:pPr marL="12696" marR="5078">
              <a:lnSpc>
                <a:spcPts val="2689"/>
              </a:lnSpc>
              <a:spcBef>
                <a:spcPts val="745"/>
              </a:spcBef>
            </a:pPr>
            <a:r>
              <a:rPr sz="2799" b="1" spc="-10" dirty="0">
                <a:solidFill>
                  <a:srgbClr val="FF0000"/>
                </a:solidFill>
                <a:latin typeface="Calibri"/>
                <a:cs typeface="Calibri"/>
              </a:rPr>
              <a:t>computationally intensive.</a:t>
            </a:r>
            <a:endParaRPr sz="2799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4012" y="1393717"/>
            <a:ext cx="3942266" cy="4795059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EC31132-129F-3C5B-0B9F-CE250F22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46C28-E176-4FE3-91DD-65EF384E8D53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074DD3-1602-0A5A-2044-04BD064D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16461" y="42838"/>
            <a:ext cx="9243324" cy="1294889"/>
          </a:xfrm>
          <a:prstGeom prst="rect">
            <a:avLst/>
          </a:prstGeom>
        </p:spPr>
        <p:txBody>
          <a:bodyPr vert="horz" wrap="square" lIns="0" tIns="88877" rIns="0" bIns="0" rtlCol="0" anchor="b">
            <a:spAutoFit/>
          </a:bodyPr>
          <a:lstStyle/>
          <a:p>
            <a:pPr marL="12696" marR="5078">
              <a:lnSpc>
                <a:spcPts val="4749"/>
              </a:lnSpc>
              <a:spcBef>
                <a:spcPts val="700"/>
              </a:spcBef>
            </a:pPr>
            <a:r>
              <a:rPr dirty="0">
                <a:latin typeface="Calibri Light"/>
                <a:cs typeface="Calibri Light"/>
              </a:rPr>
              <a:t>IoT</a:t>
            </a:r>
            <a:r>
              <a:rPr spc="-6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–</a:t>
            </a:r>
            <a:r>
              <a:rPr spc="-8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Level</a:t>
            </a:r>
            <a:r>
              <a:rPr spc="-6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3</a:t>
            </a:r>
            <a:r>
              <a:rPr spc="-7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Example</a:t>
            </a:r>
            <a:r>
              <a:rPr spc="-90" dirty="0">
                <a:latin typeface="Calibri Light"/>
                <a:cs typeface="Calibri Light"/>
              </a:rPr>
              <a:t> </a:t>
            </a:r>
            <a:r>
              <a:rPr spc="-35" dirty="0">
                <a:latin typeface="Calibri Light"/>
                <a:cs typeface="Calibri Light"/>
              </a:rPr>
              <a:t>…Tracking</a:t>
            </a:r>
            <a:r>
              <a:rPr spc="-80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Package Handling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7867" y="2057758"/>
            <a:ext cx="11248000" cy="4516848"/>
            <a:chOff x="508000" y="2057400"/>
            <a:chExt cx="11250930" cy="4518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000" y="2479420"/>
              <a:ext cx="5588000" cy="40960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4626" y="2057400"/>
              <a:ext cx="4464050" cy="43561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66060" y="1599533"/>
            <a:ext cx="6841613" cy="452002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2799" b="1" dirty="0">
                <a:latin typeface="Cambria"/>
                <a:cs typeface="Cambria"/>
              </a:rPr>
              <a:t>Sensors</a:t>
            </a:r>
            <a:r>
              <a:rPr sz="2799" b="1" spc="-75" dirty="0">
                <a:latin typeface="Cambria"/>
                <a:cs typeface="Cambria"/>
              </a:rPr>
              <a:t> </a:t>
            </a:r>
            <a:r>
              <a:rPr sz="2799" b="1" dirty="0">
                <a:latin typeface="Cambria"/>
                <a:cs typeface="Cambria"/>
              </a:rPr>
              <a:t>used</a:t>
            </a:r>
            <a:r>
              <a:rPr sz="2799" b="1" spc="-45" dirty="0">
                <a:latin typeface="Cambria"/>
                <a:cs typeface="Cambria"/>
              </a:rPr>
              <a:t> </a:t>
            </a:r>
            <a:r>
              <a:rPr sz="2799" b="1" spc="-20" dirty="0">
                <a:latin typeface="Cambria"/>
                <a:cs typeface="Cambria"/>
              </a:rPr>
              <a:t>accelrometer</a:t>
            </a:r>
            <a:r>
              <a:rPr sz="2799" b="1" spc="-80" dirty="0">
                <a:latin typeface="Cambria"/>
                <a:cs typeface="Cambria"/>
              </a:rPr>
              <a:t> </a:t>
            </a:r>
            <a:r>
              <a:rPr sz="2799" b="1" dirty="0">
                <a:latin typeface="Cambria"/>
                <a:cs typeface="Cambria"/>
              </a:rPr>
              <a:t>and</a:t>
            </a:r>
            <a:r>
              <a:rPr sz="2799" b="1" spc="-65" dirty="0">
                <a:latin typeface="Cambria"/>
                <a:cs typeface="Cambria"/>
              </a:rPr>
              <a:t> </a:t>
            </a:r>
            <a:r>
              <a:rPr sz="2799" b="1" spc="-10" dirty="0">
                <a:latin typeface="Cambria"/>
                <a:cs typeface="Cambria"/>
              </a:rPr>
              <a:t>gyroscope</a:t>
            </a:r>
            <a:endParaRPr sz="2799">
              <a:latin typeface="Cambria"/>
              <a:cs typeface="Cambria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5D642-3381-61E0-671D-6672BFD7843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8CDCE4A-CCAC-4FFF-9CFD-8A7A76E38971}" type="datetime1">
              <a:rPr lang="en-US" smtClean="0"/>
              <a:t>29-Jun-25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1CCFC5-1421-9308-A53A-CF467B92B7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 </a:t>
            </a:r>
            <a:r>
              <a:rPr spc="-25" dirty="0"/>
              <a:t>Level-</a:t>
            </a:r>
            <a:r>
              <a:rPr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57353"/>
            <a:ext cx="4132773" cy="3938066"/>
          </a:xfrm>
          <a:prstGeom prst="rect">
            <a:avLst/>
          </a:prstGeom>
        </p:spPr>
        <p:txBody>
          <a:bodyPr vert="horz" wrap="square" lIns="0" tIns="112366" rIns="0" bIns="0" rtlCol="0">
            <a:spAutoFit/>
          </a:bodyPr>
          <a:lstStyle/>
          <a:p>
            <a:pPr marL="241228" marR="5078" indent="-228531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A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spc="-20" dirty="0">
                <a:latin typeface="Calibri"/>
                <a:cs typeface="Calibri"/>
              </a:rPr>
              <a:t>level-</a:t>
            </a:r>
            <a:r>
              <a:rPr sz="2199" dirty="0">
                <a:latin typeface="Calibri"/>
                <a:cs typeface="Calibri"/>
              </a:rPr>
              <a:t>4</a:t>
            </a:r>
            <a:r>
              <a:rPr sz="2199" spc="-2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IoT</a:t>
            </a:r>
            <a:r>
              <a:rPr sz="2199" spc="-1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system</a:t>
            </a:r>
            <a:r>
              <a:rPr sz="2199" spc="-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has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multiple </a:t>
            </a:r>
            <a:r>
              <a:rPr sz="2199" dirty="0">
                <a:latin typeface="Calibri"/>
                <a:cs typeface="Calibri"/>
              </a:rPr>
              <a:t>nodes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that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perform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local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analysis. </a:t>
            </a:r>
            <a:r>
              <a:rPr sz="2199" dirty="0">
                <a:latin typeface="Calibri"/>
                <a:cs typeface="Calibri"/>
              </a:rPr>
              <a:t>Data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stored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in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cloud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application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-1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cloud-based.</a:t>
            </a:r>
            <a:endParaRPr sz="2199">
              <a:latin typeface="Calibri"/>
              <a:cs typeface="Calibri"/>
            </a:endParaRPr>
          </a:p>
          <a:p>
            <a:pPr marL="241228" marR="62846" indent="-228531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spc="-20" dirty="0">
                <a:latin typeface="Calibri"/>
                <a:cs typeface="Calibri"/>
              </a:rPr>
              <a:t>Level-</a:t>
            </a:r>
            <a:r>
              <a:rPr sz="2199" dirty="0">
                <a:latin typeface="Calibri"/>
                <a:cs typeface="Calibri"/>
              </a:rPr>
              <a:t>4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contains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local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cloud- </a:t>
            </a:r>
            <a:r>
              <a:rPr sz="2199" dirty="0">
                <a:latin typeface="Calibri"/>
                <a:cs typeface="Calibri"/>
              </a:rPr>
              <a:t>based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observer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nodes</a:t>
            </a:r>
            <a:r>
              <a:rPr sz="2199" spc="-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which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can </a:t>
            </a:r>
            <a:r>
              <a:rPr sz="2199" dirty="0">
                <a:latin typeface="Calibri"/>
                <a:cs typeface="Calibri"/>
              </a:rPr>
              <a:t>subscribe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to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receive information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collected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in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spc="-20" dirty="0">
                <a:latin typeface="Calibri"/>
                <a:cs typeface="Calibri"/>
              </a:rPr>
              <a:t>cloud </a:t>
            </a:r>
            <a:r>
              <a:rPr sz="2199" dirty="0">
                <a:latin typeface="Calibri"/>
                <a:cs typeface="Calibri"/>
              </a:rPr>
              <a:t>from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IoT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devices.</a:t>
            </a:r>
            <a:endParaRPr sz="2199">
              <a:latin typeface="Calibri"/>
              <a:cs typeface="Calibri"/>
            </a:endParaRPr>
          </a:p>
          <a:p>
            <a:pPr marL="241228" marR="21584" indent="-228531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spc="-25" dirty="0">
                <a:latin typeface="Calibri"/>
                <a:cs typeface="Calibri"/>
              </a:rPr>
              <a:t>Level-</a:t>
            </a:r>
            <a:r>
              <a:rPr sz="2199" dirty="0">
                <a:latin typeface="Calibri"/>
                <a:cs typeface="Calibri"/>
              </a:rPr>
              <a:t>4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IoT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systems</a:t>
            </a:r>
            <a:r>
              <a:rPr sz="2199" spc="-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suitable </a:t>
            </a:r>
            <a:r>
              <a:rPr sz="2199" dirty="0">
                <a:latin typeface="Calibri"/>
                <a:cs typeface="Calibri"/>
              </a:rPr>
              <a:t>for</a:t>
            </a:r>
            <a:r>
              <a:rPr sz="2199" spc="-7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solutions</a:t>
            </a:r>
            <a:r>
              <a:rPr sz="2199" spc="-7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where</a:t>
            </a:r>
            <a:r>
              <a:rPr sz="2199" spc="-7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multiple </a:t>
            </a:r>
            <a:r>
              <a:rPr sz="2199" dirty="0">
                <a:latin typeface="Calibri"/>
                <a:cs typeface="Calibri"/>
              </a:rPr>
              <a:t>nodes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required,</a:t>
            </a:r>
            <a:r>
              <a:rPr sz="2199" spc="-7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45" dirty="0">
                <a:latin typeface="Calibri"/>
                <a:cs typeface="Calibri"/>
              </a:rPr>
              <a:t> </a:t>
            </a:r>
            <a:r>
              <a:rPr sz="2199" spc="-20" dirty="0">
                <a:latin typeface="Calibri"/>
                <a:cs typeface="Calibri"/>
              </a:rPr>
              <a:t>data </a:t>
            </a:r>
            <a:r>
              <a:rPr sz="2199" spc="-10" dirty="0">
                <a:latin typeface="Calibri"/>
                <a:cs typeface="Calibri"/>
              </a:rPr>
              <a:t>involved</a:t>
            </a:r>
            <a:r>
              <a:rPr sz="2199" spc="-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big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analysis requirements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computationally intensive.</a:t>
            </a:r>
            <a:endParaRPr sz="21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8036" y="1806997"/>
            <a:ext cx="4980278" cy="4456539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CD50105-8253-6716-3607-3E5F5338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7DC7-A4AD-428D-8423-3A09B4B969E5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8C3C67-F40A-3C7F-8143-BEA5E739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16461" y="343483"/>
            <a:ext cx="9243324" cy="994244"/>
          </a:xfrm>
          <a:prstGeom prst="rect">
            <a:avLst/>
          </a:prstGeom>
        </p:spPr>
        <p:txBody>
          <a:bodyPr vert="horz" wrap="square" lIns="0" tIns="314370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 Light"/>
                <a:cs typeface="Calibri Light"/>
              </a:rPr>
              <a:t>IoT</a:t>
            </a:r>
            <a:r>
              <a:rPr spc="-4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–</a:t>
            </a:r>
            <a:r>
              <a:rPr spc="-5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Level</a:t>
            </a:r>
            <a:r>
              <a:rPr spc="-30" dirty="0">
                <a:latin typeface="Calibri Light"/>
                <a:cs typeface="Calibri Light"/>
              </a:rPr>
              <a:t> </a:t>
            </a:r>
            <a:r>
              <a:rPr lang="en-US" dirty="0">
                <a:latin typeface="Calibri Light"/>
                <a:cs typeface="Calibri Light"/>
              </a:rPr>
              <a:t>4</a:t>
            </a:r>
            <a:r>
              <a:rPr spc="-4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Example</a:t>
            </a:r>
            <a:r>
              <a:rPr spc="-6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…Noise</a:t>
            </a:r>
            <a:r>
              <a:rPr spc="-40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626" y="1419749"/>
            <a:ext cx="9218964" cy="48406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1981" y="1451489"/>
            <a:ext cx="3879474" cy="452002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2799" b="1" dirty="0">
                <a:latin typeface="Cambria"/>
                <a:cs typeface="Cambria"/>
              </a:rPr>
              <a:t>Sound</a:t>
            </a:r>
            <a:r>
              <a:rPr sz="2799" b="1" spc="-80" dirty="0">
                <a:latin typeface="Cambria"/>
                <a:cs typeface="Cambria"/>
              </a:rPr>
              <a:t> </a:t>
            </a:r>
            <a:r>
              <a:rPr sz="2799" b="1" dirty="0">
                <a:latin typeface="Cambria"/>
                <a:cs typeface="Cambria"/>
              </a:rPr>
              <a:t>Sensors</a:t>
            </a:r>
            <a:r>
              <a:rPr sz="2799" b="1" spc="-85" dirty="0">
                <a:latin typeface="Cambria"/>
                <a:cs typeface="Cambria"/>
              </a:rPr>
              <a:t> </a:t>
            </a:r>
            <a:r>
              <a:rPr sz="2799" b="1" dirty="0">
                <a:latin typeface="Cambria"/>
                <a:cs typeface="Cambria"/>
              </a:rPr>
              <a:t>are</a:t>
            </a:r>
            <a:r>
              <a:rPr sz="2799" b="1" spc="-90" dirty="0">
                <a:latin typeface="Cambria"/>
                <a:cs typeface="Cambria"/>
              </a:rPr>
              <a:t> </a:t>
            </a:r>
            <a:r>
              <a:rPr sz="2799" b="1" spc="-20" dirty="0">
                <a:latin typeface="Cambria"/>
                <a:cs typeface="Cambria"/>
              </a:rPr>
              <a:t>used</a:t>
            </a:r>
            <a:endParaRPr sz="2799">
              <a:latin typeface="Cambria"/>
              <a:cs typeface="Cambria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35665-AEE2-7E4E-0F08-8B53EB8C7A4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3B5FB7E-E0FB-4AED-9648-2FE097BE095E}" type="datetime1">
              <a:rPr lang="en-US" smtClean="0"/>
              <a:t>29-Jun-25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CF4DF-F7A3-C8EC-055C-F2068D8FC3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 </a:t>
            </a:r>
            <a:r>
              <a:rPr spc="-25" dirty="0"/>
              <a:t>Level-</a:t>
            </a:r>
            <a:r>
              <a:rPr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64971"/>
            <a:ext cx="4079447" cy="3825514"/>
          </a:xfrm>
          <a:prstGeom prst="rect">
            <a:avLst/>
          </a:prstGeom>
        </p:spPr>
        <p:txBody>
          <a:bodyPr vert="horz" wrap="square" lIns="0" tIns="104748" rIns="0" bIns="0" rtlCol="0">
            <a:spAutoFit/>
          </a:bodyPr>
          <a:lstStyle/>
          <a:p>
            <a:pPr marL="239323" marR="5078" indent="-226627" algn="just">
              <a:lnSpc>
                <a:spcPct val="70000"/>
              </a:lnSpc>
              <a:spcBef>
                <a:spcPts val="825"/>
              </a:spcBef>
              <a:buFont typeface="Arial MT"/>
              <a:buChar char="•"/>
              <a:tabLst>
                <a:tab pos="241228" algn="l"/>
              </a:tabLst>
            </a:pPr>
            <a:r>
              <a:rPr sz="1999" dirty="0">
                <a:latin typeface="Calibri"/>
                <a:cs typeface="Calibri"/>
              </a:rPr>
              <a:t>A</a:t>
            </a:r>
            <a:r>
              <a:rPr sz="1999" spc="-35" dirty="0">
                <a:latin typeface="Calibri"/>
                <a:cs typeface="Calibri"/>
              </a:rPr>
              <a:t> </a:t>
            </a:r>
            <a:r>
              <a:rPr sz="1999" spc="-25" dirty="0">
                <a:latin typeface="Calibri"/>
                <a:cs typeface="Calibri"/>
              </a:rPr>
              <a:t>level-</a:t>
            </a:r>
            <a:r>
              <a:rPr sz="1999" dirty="0">
                <a:latin typeface="Calibri"/>
                <a:cs typeface="Calibri"/>
              </a:rPr>
              <a:t>5 IoT</a:t>
            </a:r>
            <a:r>
              <a:rPr sz="1999" spc="-55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system</a:t>
            </a:r>
            <a:r>
              <a:rPr sz="1999" spc="-1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has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multiple</a:t>
            </a:r>
            <a:r>
              <a:rPr sz="1999" spc="-20" dirty="0">
                <a:latin typeface="Calibri"/>
                <a:cs typeface="Calibri"/>
              </a:rPr>
              <a:t> </a:t>
            </a:r>
            <a:r>
              <a:rPr sz="1999" spc="-25" dirty="0">
                <a:latin typeface="Calibri"/>
                <a:cs typeface="Calibri"/>
              </a:rPr>
              <a:t>end 	</a:t>
            </a:r>
            <a:r>
              <a:rPr sz="1999" dirty="0">
                <a:latin typeface="Calibri"/>
                <a:cs typeface="Calibri"/>
              </a:rPr>
              <a:t>nodes</a:t>
            </a:r>
            <a:r>
              <a:rPr sz="1999" spc="-2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and</a:t>
            </a:r>
            <a:r>
              <a:rPr sz="1999" spc="-1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one</a:t>
            </a:r>
            <a:r>
              <a:rPr sz="1999" spc="-2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coordinator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node.</a:t>
            </a:r>
            <a:endParaRPr sz="1999">
              <a:latin typeface="Calibri"/>
              <a:cs typeface="Calibri"/>
            </a:endParaRPr>
          </a:p>
          <a:p>
            <a:pPr marL="239323" indent="-226627" algn="just">
              <a:lnSpc>
                <a:spcPts val="2038"/>
              </a:lnSpc>
              <a:spcBef>
                <a:spcPts val="275"/>
              </a:spcBef>
              <a:buFont typeface="Arial MT"/>
              <a:buChar char="•"/>
              <a:tabLst>
                <a:tab pos="239323" algn="l"/>
              </a:tabLst>
            </a:pPr>
            <a:r>
              <a:rPr sz="1999" dirty="0">
                <a:latin typeface="Calibri"/>
                <a:cs typeface="Calibri"/>
              </a:rPr>
              <a:t>The</a:t>
            </a:r>
            <a:r>
              <a:rPr sz="1999" spc="-3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end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nodes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perform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sensing</a:t>
            </a:r>
            <a:endParaRPr sz="1999">
              <a:latin typeface="Calibri"/>
              <a:cs typeface="Calibri"/>
            </a:endParaRPr>
          </a:p>
          <a:p>
            <a:pPr marL="241228" algn="just">
              <a:lnSpc>
                <a:spcPts val="2038"/>
              </a:lnSpc>
            </a:pPr>
            <a:r>
              <a:rPr sz="1999" dirty="0">
                <a:latin typeface="Calibri"/>
                <a:cs typeface="Calibri"/>
              </a:rPr>
              <a:t>and/or</a:t>
            </a:r>
            <a:r>
              <a:rPr sz="1999" spc="-7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actuation.</a:t>
            </a:r>
            <a:endParaRPr sz="1999">
              <a:latin typeface="Calibri"/>
              <a:cs typeface="Calibri"/>
            </a:endParaRPr>
          </a:p>
          <a:p>
            <a:pPr marL="239323" marR="220913" indent="-226627" algn="just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228" algn="l"/>
              </a:tabLst>
            </a:pPr>
            <a:r>
              <a:rPr sz="1999" dirty="0">
                <a:latin typeface="Calibri"/>
                <a:cs typeface="Calibri"/>
              </a:rPr>
              <a:t>The</a:t>
            </a:r>
            <a:r>
              <a:rPr sz="1999" spc="-25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coordinator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node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collects</a:t>
            </a:r>
            <a:r>
              <a:rPr sz="1999" spc="-20" dirty="0">
                <a:latin typeface="Calibri"/>
                <a:cs typeface="Calibri"/>
              </a:rPr>
              <a:t> data 	</a:t>
            </a:r>
            <a:r>
              <a:rPr sz="1999" dirty="0">
                <a:latin typeface="Calibri"/>
                <a:cs typeface="Calibri"/>
              </a:rPr>
              <a:t>from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the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end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nodes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and</a:t>
            </a:r>
            <a:r>
              <a:rPr sz="1999" spc="-3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sends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it</a:t>
            </a:r>
            <a:r>
              <a:rPr sz="1999" spc="-20" dirty="0">
                <a:latin typeface="Calibri"/>
                <a:cs typeface="Calibri"/>
              </a:rPr>
              <a:t> </a:t>
            </a:r>
            <a:r>
              <a:rPr sz="1999" spc="-25" dirty="0">
                <a:latin typeface="Calibri"/>
                <a:cs typeface="Calibri"/>
              </a:rPr>
              <a:t>to 	</a:t>
            </a:r>
            <a:r>
              <a:rPr sz="1999" dirty="0">
                <a:latin typeface="Calibri"/>
                <a:cs typeface="Calibri"/>
              </a:rPr>
              <a:t>the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cloud.</a:t>
            </a:r>
            <a:endParaRPr sz="1999">
              <a:latin typeface="Calibri"/>
              <a:cs typeface="Calibri"/>
            </a:endParaRPr>
          </a:p>
          <a:p>
            <a:pPr marL="239323" marR="293917" indent="-226627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1999" dirty="0">
                <a:latin typeface="Calibri"/>
                <a:cs typeface="Calibri"/>
              </a:rPr>
              <a:t>Data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is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stored</a:t>
            </a:r>
            <a:r>
              <a:rPr sz="1999" spc="-3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and</a:t>
            </a:r>
            <a:r>
              <a:rPr sz="1999" spc="-6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analyzed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in</a:t>
            </a:r>
            <a:r>
              <a:rPr sz="1999" spc="-55" dirty="0">
                <a:latin typeface="Calibri"/>
                <a:cs typeface="Calibri"/>
              </a:rPr>
              <a:t> </a:t>
            </a:r>
            <a:r>
              <a:rPr sz="1999" spc="-25" dirty="0">
                <a:latin typeface="Calibri"/>
                <a:cs typeface="Calibri"/>
              </a:rPr>
              <a:t>the 	</a:t>
            </a:r>
            <a:r>
              <a:rPr sz="1999" dirty="0">
                <a:latin typeface="Calibri"/>
                <a:cs typeface="Calibri"/>
              </a:rPr>
              <a:t>cloud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and</a:t>
            </a:r>
            <a:r>
              <a:rPr sz="1999" spc="-4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the</a:t>
            </a:r>
            <a:r>
              <a:rPr sz="1999" spc="-3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application</a:t>
            </a:r>
            <a:r>
              <a:rPr sz="1999" spc="-4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is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cloud- 	based.</a:t>
            </a:r>
            <a:endParaRPr sz="1999">
              <a:latin typeface="Calibri"/>
              <a:cs typeface="Calibri"/>
            </a:endParaRPr>
          </a:p>
          <a:p>
            <a:pPr marL="241228" marR="50150" indent="-228531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1999" spc="-20" dirty="0">
                <a:latin typeface="Calibri"/>
                <a:cs typeface="Calibri"/>
              </a:rPr>
              <a:t>Level-</a:t>
            </a:r>
            <a:r>
              <a:rPr sz="1999" dirty="0">
                <a:latin typeface="Calibri"/>
                <a:cs typeface="Calibri"/>
              </a:rPr>
              <a:t>5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IoT</a:t>
            </a:r>
            <a:r>
              <a:rPr sz="1999" spc="-6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systems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are</a:t>
            </a:r>
            <a:r>
              <a:rPr sz="1999" spc="-3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suitable</a:t>
            </a:r>
            <a:r>
              <a:rPr sz="1999" spc="-40" dirty="0">
                <a:latin typeface="Calibri"/>
                <a:cs typeface="Calibri"/>
              </a:rPr>
              <a:t> </a:t>
            </a:r>
            <a:r>
              <a:rPr sz="1999" spc="-25" dirty="0">
                <a:latin typeface="Calibri"/>
                <a:cs typeface="Calibri"/>
              </a:rPr>
              <a:t>for </a:t>
            </a:r>
            <a:r>
              <a:rPr sz="1999" dirty="0">
                <a:latin typeface="Calibri"/>
                <a:cs typeface="Calibri"/>
              </a:rPr>
              <a:t>solutions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based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on</a:t>
            </a:r>
            <a:r>
              <a:rPr sz="1999" spc="-6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wireless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sensor </a:t>
            </a:r>
            <a:r>
              <a:rPr sz="1999" dirty="0">
                <a:latin typeface="Calibri"/>
                <a:cs typeface="Calibri"/>
              </a:rPr>
              <a:t>networks,</a:t>
            </a:r>
            <a:r>
              <a:rPr sz="1999" spc="-3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in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which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the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data</a:t>
            </a:r>
            <a:r>
              <a:rPr sz="1999" spc="-4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involved </a:t>
            </a:r>
            <a:r>
              <a:rPr sz="1999" dirty="0">
                <a:latin typeface="Calibri"/>
                <a:cs typeface="Calibri"/>
              </a:rPr>
              <a:t>is</a:t>
            </a:r>
            <a:r>
              <a:rPr sz="1999" spc="-2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big</a:t>
            </a:r>
            <a:r>
              <a:rPr sz="1999" spc="-4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and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the</a:t>
            </a:r>
            <a:r>
              <a:rPr sz="1999" spc="-2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analysis</a:t>
            </a:r>
            <a:r>
              <a:rPr sz="1999" spc="-15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requirements </a:t>
            </a:r>
            <a:r>
              <a:rPr sz="1999" dirty="0">
                <a:latin typeface="Calibri"/>
                <a:cs typeface="Calibri"/>
              </a:rPr>
              <a:t>are</a:t>
            </a:r>
            <a:r>
              <a:rPr sz="1999" spc="-25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computationally</a:t>
            </a:r>
            <a:r>
              <a:rPr sz="1999" spc="-2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intensive.</a:t>
            </a:r>
            <a:endParaRPr sz="19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7212" y="1338749"/>
            <a:ext cx="5914549" cy="4677957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0342185-5FCF-B10B-64C9-639B54E4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36F1-CE17-43D9-A6E2-92056B31F529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84AA9D-6364-EDBD-B5C3-126240B8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IoT </a:t>
            </a:r>
            <a:r>
              <a:rPr spc="-25" dirty="0"/>
              <a:t>Level-</a:t>
            </a:r>
            <a:r>
              <a:rPr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757353"/>
            <a:ext cx="4137851" cy="4153088"/>
          </a:xfrm>
          <a:prstGeom prst="rect">
            <a:avLst/>
          </a:prstGeom>
        </p:spPr>
        <p:txBody>
          <a:bodyPr vert="horz" wrap="square" lIns="0" tIns="112366" rIns="0" bIns="0" rtlCol="0">
            <a:spAutoFit/>
          </a:bodyPr>
          <a:lstStyle/>
          <a:p>
            <a:pPr marL="241228" marR="78716" indent="-228531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A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spc="-20" dirty="0">
                <a:latin typeface="Calibri"/>
                <a:cs typeface="Calibri"/>
              </a:rPr>
              <a:t>level-</a:t>
            </a:r>
            <a:r>
              <a:rPr sz="2199" dirty="0">
                <a:latin typeface="Calibri"/>
                <a:cs typeface="Calibri"/>
              </a:rPr>
              <a:t>6</a:t>
            </a:r>
            <a:r>
              <a:rPr sz="2199" spc="-2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IoT</a:t>
            </a:r>
            <a:r>
              <a:rPr sz="2199" spc="-1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system</a:t>
            </a:r>
            <a:r>
              <a:rPr sz="2199" spc="-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has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multiple </a:t>
            </a:r>
            <a:r>
              <a:rPr sz="2199" dirty="0">
                <a:latin typeface="Calibri"/>
                <a:cs typeface="Calibri"/>
              </a:rPr>
              <a:t>independent</a:t>
            </a:r>
            <a:r>
              <a:rPr sz="2199" spc="-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end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nodes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20" dirty="0">
                <a:latin typeface="Calibri"/>
                <a:cs typeface="Calibri"/>
              </a:rPr>
              <a:t>that </a:t>
            </a:r>
            <a:r>
              <a:rPr sz="2199" spc="-10" dirty="0">
                <a:latin typeface="Calibri"/>
                <a:cs typeface="Calibri"/>
              </a:rPr>
              <a:t>perform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sensing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and/or</a:t>
            </a:r>
            <a:r>
              <a:rPr sz="2199" spc="-8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actuation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send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data</a:t>
            </a:r>
            <a:r>
              <a:rPr sz="2199" spc="-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to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cloud.</a:t>
            </a:r>
            <a:endParaRPr sz="2199">
              <a:latin typeface="Calibri"/>
              <a:cs typeface="Calibri"/>
            </a:endParaRPr>
          </a:p>
          <a:p>
            <a:pPr marL="241228" marR="7618" indent="-228531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Data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stored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in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cloud</a:t>
            </a:r>
            <a:r>
              <a:rPr sz="2199" spc="-2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the </a:t>
            </a:r>
            <a:r>
              <a:rPr sz="2199" dirty="0">
                <a:latin typeface="Calibri"/>
                <a:cs typeface="Calibri"/>
              </a:rPr>
              <a:t>application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-1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cloud-based.</a:t>
            </a:r>
            <a:endParaRPr sz="2199">
              <a:latin typeface="Calibri"/>
              <a:cs typeface="Calibri"/>
            </a:endParaRPr>
          </a:p>
          <a:p>
            <a:pPr marL="241228" marR="33010" indent="-228531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The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analytics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component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analyzes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data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8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stores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results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in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2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cloud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database.</a:t>
            </a:r>
            <a:endParaRPr sz="2199">
              <a:latin typeface="Calibri"/>
              <a:cs typeface="Calibri"/>
            </a:endParaRPr>
          </a:p>
          <a:p>
            <a:pPr marL="240593" indent="-227897">
              <a:lnSpc>
                <a:spcPts val="2244"/>
              </a:lnSpc>
              <a:spcBef>
                <a:spcPts val="220"/>
              </a:spcBef>
              <a:buFont typeface="Arial MT"/>
              <a:buChar char="•"/>
              <a:tabLst>
                <a:tab pos="240593" algn="l"/>
              </a:tabLst>
            </a:pPr>
            <a:r>
              <a:rPr sz="2199" dirty="0">
                <a:latin typeface="Calibri"/>
                <a:cs typeface="Calibri"/>
              </a:rPr>
              <a:t>The</a:t>
            </a:r>
            <a:r>
              <a:rPr sz="2199" spc="-4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results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are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visualized</a:t>
            </a:r>
            <a:r>
              <a:rPr sz="2199" spc="-7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with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the</a:t>
            </a:r>
            <a:endParaRPr sz="2199">
              <a:latin typeface="Calibri"/>
              <a:cs typeface="Calibri"/>
            </a:endParaRPr>
          </a:p>
          <a:p>
            <a:pPr marL="241228">
              <a:lnSpc>
                <a:spcPts val="2244"/>
              </a:lnSpc>
            </a:pPr>
            <a:r>
              <a:rPr sz="2199" spc="-10" dirty="0">
                <a:latin typeface="Calibri"/>
                <a:cs typeface="Calibri"/>
              </a:rPr>
              <a:t>cloud-</a:t>
            </a:r>
            <a:r>
              <a:rPr sz="2199" dirty="0">
                <a:latin typeface="Calibri"/>
                <a:cs typeface="Calibri"/>
              </a:rPr>
              <a:t>based</a:t>
            </a:r>
            <a:r>
              <a:rPr sz="2199" spc="-1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application.</a:t>
            </a:r>
            <a:endParaRPr sz="2199">
              <a:latin typeface="Calibri"/>
              <a:cs typeface="Calibri"/>
            </a:endParaRPr>
          </a:p>
          <a:p>
            <a:pPr marL="241228" marR="5078" indent="-228531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228" algn="l"/>
              </a:tabLst>
            </a:pPr>
            <a:r>
              <a:rPr sz="2199" dirty="0">
                <a:latin typeface="Calibri"/>
                <a:cs typeface="Calibri"/>
              </a:rPr>
              <a:t>The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centralized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controller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is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aware </a:t>
            </a:r>
            <a:r>
              <a:rPr sz="2199" dirty="0">
                <a:latin typeface="Calibri"/>
                <a:cs typeface="Calibri"/>
              </a:rPr>
              <a:t>of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4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status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of</a:t>
            </a:r>
            <a:r>
              <a:rPr sz="2199" spc="-3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all</a:t>
            </a:r>
            <a:r>
              <a:rPr sz="2199" spc="-5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2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end</a:t>
            </a:r>
            <a:r>
              <a:rPr sz="2199" spc="-3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nodes </a:t>
            </a:r>
            <a:r>
              <a:rPr sz="2199" dirty="0">
                <a:latin typeface="Calibri"/>
                <a:cs typeface="Calibri"/>
              </a:rPr>
              <a:t>and</a:t>
            </a:r>
            <a:r>
              <a:rPr sz="2199" spc="-75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sends</a:t>
            </a:r>
            <a:r>
              <a:rPr sz="2199" spc="-60" dirty="0">
                <a:latin typeface="Calibri"/>
                <a:cs typeface="Calibri"/>
              </a:rPr>
              <a:t> </a:t>
            </a:r>
            <a:r>
              <a:rPr sz="2199" dirty="0">
                <a:latin typeface="Calibri"/>
                <a:cs typeface="Calibri"/>
              </a:rPr>
              <a:t>control</a:t>
            </a:r>
            <a:r>
              <a:rPr sz="2199" spc="-65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commands</a:t>
            </a:r>
            <a:r>
              <a:rPr sz="2199" spc="-55" dirty="0">
                <a:latin typeface="Calibri"/>
                <a:cs typeface="Calibri"/>
              </a:rPr>
              <a:t> </a:t>
            </a:r>
            <a:r>
              <a:rPr sz="2199" spc="-25" dirty="0">
                <a:latin typeface="Calibri"/>
                <a:cs typeface="Calibri"/>
              </a:rPr>
              <a:t>to </a:t>
            </a:r>
            <a:r>
              <a:rPr sz="2199" dirty="0">
                <a:latin typeface="Calibri"/>
                <a:cs typeface="Calibri"/>
              </a:rPr>
              <a:t>the</a:t>
            </a:r>
            <a:r>
              <a:rPr sz="2199" spc="-20" dirty="0">
                <a:latin typeface="Calibri"/>
                <a:cs typeface="Calibri"/>
              </a:rPr>
              <a:t> </a:t>
            </a:r>
            <a:r>
              <a:rPr sz="2199" spc="-10" dirty="0">
                <a:latin typeface="Calibri"/>
                <a:cs typeface="Calibri"/>
              </a:rPr>
              <a:t>nodes.</a:t>
            </a:r>
            <a:endParaRPr sz="21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1179" y="1572446"/>
            <a:ext cx="6153952" cy="47487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532675" y="6596367"/>
            <a:ext cx="1840385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Bahga</a:t>
            </a:r>
            <a:r>
              <a:rPr sz="1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&amp;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Madisetti,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©</a:t>
            </a:r>
            <a:r>
              <a:rPr sz="1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2015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504" y="6610689"/>
            <a:ext cx="3612844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Book website:</a:t>
            </a:r>
            <a:r>
              <a:rPr sz="1200" spc="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  <a:hlinkClick r:id="rId3"/>
              </a:rPr>
              <a:t>http://www.internet-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  <a:hlinkClick r:id="rId3"/>
              </a:rPr>
              <a:t>of-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  <a:hlinkClick r:id="rId3"/>
              </a:rPr>
              <a:t>things-book.com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8590A8-C3FF-F49C-FD25-4267FEA5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A20A-75DA-45F1-8636-5B2A8CF28D1C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50F4C9-F361-9EB5-6097-147783BE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D54B8-4342-D7C9-9171-ECE880F65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36524"/>
            <a:ext cx="10157354" cy="6035676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1DCF-269C-E012-BEDD-563CF007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5C78-C505-4C37-8276-4A615E5DBFD8}" type="datetime1">
              <a:rPr lang="en-US" smtClean="0"/>
              <a:t>29-Jun-25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606EC-FAE1-8900-664A-1CDC6A5C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3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888</TotalTime>
  <Words>2799</Words>
  <Application>Microsoft Office PowerPoint</Application>
  <PresentationFormat>Custom</PresentationFormat>
  <Paragraphs>504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Arial MT</vt:lpstr>
      <vt:lpstr>Calibri</vt:lpstr>
      <vt:lpstr>Calibri Light</vt:lpstr>
      <vt:lpstr>Cambria</vt:lpstr>
      <vt:lpstr>Century Gothic</vt:lpstr>
      <vt:lpstr>Times New Roman</vt:lpstr>
      <vt:lpstr>Retrospect</vt:lpstr>
      <vt:lpstr>Internet of Things</vt:lpstr>
      <vt:lpstr>Course Outline</vt:lpstr>
      <vt:lpstr>PowerPoint Presentation</vt:lpstr>
      <vt:lpstr>Internet of things</vt:lpstr>
      <vt:lpstr>Formal Definition of IoT</vt:lpstr>
      <vt:lpstr>Characteristics of IoT</vt:lpstr>
      <vt:lpstr>Physical Design of IoT</vt:lpstr>
      <vt:lpstr>Things in IoT</vt:lpstr>
      <vt:lpstr>Generic Block Diagram of an IoT Device</vt:lpstr>
      <vt:lpstr>IoT Protocols</vt:lpstr>
      <vt:lpstr>IoT Protocols…Link Layer…Ethernet</vt:lpstr>
      <vt:lpstr>IoT Protocols…Link Layer…WiFi</vt:lpstr>
      <vt:lpstr>IoT Protocols…Link Layer…WiMax</vt:lpstr>
      <vt:lpstr>IoT Protocols…Link Layer…LR-WPAN</vt:lpstr>
      <vt:lpstr>IoT Protocols…Link Layer…2G/3G/4G/5G –Mobile Communication</vt:lpstr>
      <vt:lpstr>IoT Protocols…Network/Internet Layer</vt:lpstr>
      <vt:lpstr>IoT Protocols…Network Layer</vt:lpstr>
      <vt:lpstr>IoT Protocols…Transport Layer</vt:lpstr>
      <vt:lpstr>IoT Protocols…TCP</vt:lpstr>
      <vt:lpstr>IoT Protocols…UDP</vt:lpstr>
      <vt:lpstr>IoT Protocols…Application Layer…Hyper Transfer Protocol</vt:lpstr>
      <vt:lpstr>IoT Protocols…Application Layer…CoAP</vt:lpstr>
      <vt:lpstr>IoT Protocols…Application Layer</vt:lpstr>
      <vt:lpstr>IoT Protocols…Application Layer…XMPP</vt:lpstr>
      <vt:lpstr>IoT Protocols…Application Layer…DDS</vt:lpstr>
      <vt:lpstr>IoT Protocols…Application Layer…AMQP</vt:lpstr>
      <vt:lpstr>Comparisons of  IoT Protocols</vt:lpstr>
      <vt:lpstr>Comparisons of  IoT Protocols</vt:lpstr>
      <vt:lpstr>Logical Design of IoT</vt:lpstr>
      <vt:lpstr>Request–Response Communication Model</vt:lpstr>
      <vt:lpstr>Publish–Subscribe Communication Model</vt:lpstr>
      <vt:lpstr>Push–Pull Communication Model</vt:lpstr>
      <vt:lpstr>Exclusive Pair Communication Model</vt:lpstr>
      <vt:lpstr>REST-based Communication APIs</vt:lpstr>
      <vt:lpstr>REST-based Communication APIs Constraints</vt:lpstr>
      <vt:lpstr>WebSocket-based Communication APIs</vt:lpstr>
      <vt:lpstr>Difference between REST and WebSocket-based Communication APIs</vt:lpstr>
      <vt:lpstr>IoT Levels and Deployment Templates</vt:lpstr>
      <vt:lpstr>IoT Level-1</vt:lpstr>
      <vt:lpstr>IoT – Level 1 Example …Home Automation System</vt:lpstr>
      <vt:lpstr>IoT Level-2</vt:lpstr>
      <vt:lpstr>IoT – Level 2 Example …Smart Irrigation</vt:lpstr>
      <vt:lpstr>IoT Level-3</vt:lpstr>
      <vt:lpstr>IoT – Level 3 Example …Tracking Package Handling</vt:lpstr>
      <vt:lpstr>IoT Level-4</vt:lpstr>
      <vt:lpstr>IoT – Level 4 Example …Noise Monitoring</vt:lpstr>
      <vt:lpstr>IoT Level-5</vt:lpstr>
      <vt:lpstr>IoT Level-6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Raihan Ul Islam</dc:creator>
  <cp:lastModifiedBy>Dr. Raihan Ul Islam</cp:lastModifiedBy>
  <cp:revision>42</cp:revision>
  <dcterms:created xsi:type="dcterms:W3CDTF">2023-11-06T21:34:41Z</dcterms:created>
  <dcterms:modified xsi:type="dcterms:W3CDTF">2025-06-29T07:19:02Z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