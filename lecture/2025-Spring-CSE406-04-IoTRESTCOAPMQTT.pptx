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media/image16.jpg" ContentType="image/jpg"/>
  <Override PartName="/ppt/media/image19.jpg" ContentType="image/jpg"/>
  <Override PartName="/ppt/media/image20.jpg" ContentType="image/jpg"/>
  <Override PartName="/ppt/media/image24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53"/>
  </p:notesMasterIdLst>
  <p:handoutMasterIdLst>
    <p:handoutMasterId r:id="rId54"/>
  </p:handoutMasterIdLst>
  <p:sldIdLst>
    <p:sldId id="264" r:id="rId2"/>
    <p:sldId id="717" r:id="rId3"/>
    <p:sldId id="718" r:id="rId4"/>
    <p:sldId id="719" r:id="rId5"/>
    <p:sldId id="720" r:id="rId6"/>
    <p:sldId id="721" r:id="rId7"/>
    <p:sldId id="722" r:id="rId8"/>
    <p:sldId id="723" r:id="rId9"/>
    <p:sldId id="724" r:id="rId10"/>
    <p:sldId id="725" r:id="rId11"/>
    <p:sldId id="726" r:id="rId12"/>
    <p:sldId id="727" r:id="rId13"/>
    <p:sldId id="728" r:id="rId14"/>
    <p:sldId id="729" r:id="rId15"/>
    <p:sldId id="730" r:id="rId16"/>
    <p:sldId id="731" r:id="rId17"/>
    <p:sldId id="732" r:id="rId18"/>
    <p:sldId id="733" r:id="rId19"/>
    <p:sldId id="734" r:id="rId20"/>
    <p:sldId id="735" r:id="rId21"/>
    <p:sldId id="277" r:id="rId22"/>
    <p:sldId id="278" r:id="rId23"/>
    <p:sldId id="736" r:id="rId24"/>
    <p:sldId id="737" r:id="rId25"/>
    <p:sldId id="738" r:id="rId26"/>
    <p:sldId id="739" r:id="rId27"/>
    <p:sldId id="740" r:id="rId28"/>
    <p:sldId id="741" r:id="rId29"/>
    <p:sldId id="742" r:id="rId30"/>
    <p:sldId id="743" r:id="rId31"/>
    <p:sldId id="744" r:id="rId32"/>
    <p:sldId id="745" r:id="rId33"/>
    <p:sldId id="746" r:id="rId34"/>
    <p:sldId id="747" r:id="rId35"/>
    <p:sldId id="748" r:id="rId36"/>
    <p:sldId id="749" r:id="rId37"/>
    <p:sldId id="750" r:id="rId38"/>
    <p:sldId id="751" r:id="rId39"/>
    <p:sldId id="752" r:id="rId40"/>
    <p:sldId id="258" r:id="rId41"/>
    <p:sldId id="259" r:id="rId42"/>
    <p:sldId id="260" r:id="rId43"/>
    <p:sldId id="261" r:id="rId44"/>
    <p:sldId id="262" r:id="rId45"/>
    <p:sldId id="263" r:id="rId46"/>
    <p:sldId id="755" r:id="rId47"/>
    <p:sldId id="265" r:id="rId48"/>
    <p:sldId id="266" r:id="rId49"/>
    <p:sldId id="267" r:id="rId50"/>
    <p:sldId id="754" r:id="rId51"/>
    <p:sldId id="468" r:id="rId5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98" autoAdjust="0"/>
    <p:restoredTop sz="92131" autoAdjust="0"/>
  </p:normalViewPr>
  <p:slideViewPr>
    <p:cSldViewPr showGuides="1">
      <p:cViewPr varScale="1">
        <p:scale>
          <a:sx n="79" d="100"/>
          <a:sy n="79" d="100"/>
        </p:scale>
        <p:origin x="1122" y="96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16-Mar-25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16-Mar-25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Shape 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Shape 1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Shape 1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Shape 1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Shape 1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Shape 1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Shape 1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Shape 1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Shape 1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Shape 1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Shape 1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Shape 1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Shape 1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Shape 2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Shape 2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Shape 2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Shape 22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Shape 2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6994" y="758952"/>
            <a:ext cx="10055781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998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9764" y="4455620"/>
            <a:ext cx="10055781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399" cap="all" spc="200" baseline="0">
                <a:solidFill>
                  <a:schemeClr val="tx2"/>
                </a:solidFill>
                <a:latin typeface="+mj-lt"/>
              </a:defRPr>
            </a:lvl1pPr>
            <a:lvl2pPr marL="457063" indent="0" algn="ctr">
              <a:buNone/>
              <a:defRPr sz="2399"/>
            </a:lvl2pPr>
            <a:lvl3pPr marL="914126" indent="0" algn="ctr">
              <a:buNone/>
              <a:defRPr sz="2399"/>
            </a:lvl3pPr>
            <a:lvl4pPr marL="1371189" indent="0" algn="ctr">
              <a:buNone/>
              <a:defRPr sz="1999"/>
            </a:lvl4pPr>
            <a:lvl5pPr marL="1828251" indent="0" algn="ctr">
              <a:buNone/>
              <a:defRPr sz="1999"/>
            </a:lvl5pPr>
            <a:lvl6pPr marL="2285314" indent="0" algn="ctr">
              <a:buNone/>
              <a:defRPr sz="1999"/>
            </a:lvl6pPr>
            <a:lvl7pPr marL="2742377" indent="0" algn="ctr">
              <a:buNone/>
              <a:defRPr sz="1999"/>
            </a:lvl7pPr>
            <a:lvl8pPr marL="3199440" indent="0" algn="ctr">
              <a:buNone/>
              <a:defRPr sz="1999"/>
            </a:lvl8pPr>
            <a:lvl9pPr marL="3656503" indent="0" algn="ctr">
              <a:buNone/>
              <a:defRPr sz="19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9822-BAB7-4368-8F24-B53B3A05D627}" type="datetime1">
              <a:rPr lang="en-US" smtClean="0"/>
              <a:t>16-Mar-25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344" y="4343400"/>
            <a:ext cx="987294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983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E42B6-08B4-44C6-AB01-4B32D9E60F6B}" type="datetime1">
              <a:rPr lang="en-US" smtClean="0"/>
              <a:t>16-Mar-25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6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94" y="758952"/>
            <a:ext cx="10055781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7998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4453128"/>
            <a:ext cx="10055781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399" cap="all" spc="200" baseline="0">
                <a:solidFill>
                  <a:schemeClr val="tx2"/>
                </a:solidFill>
                <a:latin typeface="+mj-lt"/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BDCF0-EEE2-4CCE-A57D-009BC34499C4}" type="datetime1">
              <a:rPr lang="en-US" smtClean="0"/>
              <a:t>16-Mar-25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344" y="4343400"/>
            <a:ext cx="987294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48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6993" y="1845734"/>
            <a:ext cx="4936474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301" y="1845735"/>
            <a:ext cx="4936474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8FFC-599B-4678-A0EF-54173C5E941B}" type="datetime1">
              <a:rPr lang="en-US" smtClean="0"/>
              <a:t>16-Mar-25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1846052"/>
            <a:ext cx="493647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999" b="0" cap="all" baseline="0">
                <a:solidFill>
                  <a:schemeClr val="tx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6994" y="2582334"/>
            <a:ext cx="4936474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6301" y="1846052"/>
            <a:ext cx="493647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999" b="0" cap="all" baseline="0">
                <a:solidFill>
                  <a:schemeClr val="tx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6301" y="2582334"/>
            <a:ext cx="4936474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AE2B2-6B71-48AB-A931-E8697405F8CE}" type="datetime1">
              <a:rPr lang="en-US" smtClean="0"/>
              <a:t>16-Mar-25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7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6D7DC-6AFC-4BD3-8485-0F402D55AED0}" type="datetime1">
              <a:rPr lang="en-US" smtClean="0"/>
              <a:t>16-Mar-25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5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B948-3677-4F19-BE0D-E138A2E07B97}" type="datetime1">
              <a:rPr lang="en-US" smtClean="0"/>
              <a:t>16-Mar-25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7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7" y="0"/>
            <a:ext cx="404973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39019" y="0"/>
            <a:ext cx="6399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594359"/>
            <a:ext cx="3199567" cy="2286000"/>
          </a:xfrm>
        </p:spPr>
        <p:txBody>
          <a:bodyPr anchor="b">
            <a:normAutofit/>
          </a:bodyPr>
          <a:lstStyle>
            <a:lvl1pPr>
              <a:defRPr sz="3599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9350" y="731520"/>
            <a:ext cx="6490549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081" y="2926080"/>
            <a:ext cx="3199567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391" y="6459786"/>
            <a:ext cx="2617828" cy="365125"/>
          </a:xfrm>
        </p:spPr>
        <p:txBody>
          <a:bodyPr/>
          <a:lstStyle>
            <a:lvl1pPr algn="l">
              <a:defRPr/>
            </a:lvl1pPr>
          </a:lstStyle>
          <a:p>
            <a:fld id="{B19E39D1-8478-41A4-843D-9C98DA7A5533}" type="datetime1">
              <a:rPr lang="en-US" smtClean="0"/>
              <a:t>16-Mar-25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799350" y="6459786"/>
            <a:ext cx="464699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41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565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94" y="5074920"/>
            <a:ext cx="10110630" cy="822960"/>
          </a:xfrm>
        </p:spPr>
        <p:txBody>
          <a:bodyPr lIns="91440" tIns="0" rIns="91440" bIns="0" anchor="b">
            <a:noAutofit/>
          </a:bodyPr>
          <a:lstStyle>
            <a:lvl1pPr>
              <a:defRPr sz="3599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88810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199">
                <a:solidFill>
                  <a:schemeClr val="bg1"/>
                </a:solidFill>
              </a:defRPr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994" y="5907023"/>
            <a:ext cx="1011063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B3BD-D38A-41D0-8783-0D4C201EF8EE}" type="datetime1">
              <a:rPr lang="en-US" smtClean="0"/>
              <a:t>16-Mar-25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59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F3FAF-8F6B-49B5-A761-A35D4D3E14DB}" type="datetime1">
              <a:rPr lang="en-US" smtClean="0"/>
              <a:t>16-Mar-25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6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414779"/>
            <a:ext cx="262821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414778"/>
            <a:ext cx="7732286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8F7C-861B-4B3E-B3B7-41A3299C3875}" type="datetime1">
              <a:rPr lang="en-US" smtClean="0"/>
              <a:t>16-Mar-25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25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/>
        </p:nvSpPr>
        <p:spPr>
          <a:xfrm>
            <a:off x="-100" y="6727600"/>
            <a:ext cx="12188825" cy="130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121868" tIns="121868" rIns="121868" bIns="121868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2399"/>
          </a:p>
        </p:txBody>
      </p:sp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415492" y="593367"/>
            <a:ext cx="11357841" cy="943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15492" y="1688433"/>
            <a:ext cx="11357841" cy="440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11293668" y="6217621"/>
            <a:ext cx="731409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63455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68635" y="0"/>
            <a:ext cx="1218883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7" name="bg object 17"/>
          <p:cNvSpPr/>
          <p:nvPr/>
        </p:nvSpPr>
        <p:spPr>
          <a:xfrm>
            <a:off x="7422995" y="3681984"/>
            <a:ext cx="4762529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8" name="bg object 18"/>
          <p:cNvSpPr/>
          <p:nvPr/>
        </p:nvSpPr>
        <p:spPr>
          <a:xfrm>
            <a:off x="9179709" y="0"/>
            <a:ext cx="3006577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484" y="0"/>
                </a:lnTo>
                <a:lnTo>
                  <a:pt x="0" y="6858000"/>
                </a:lnTo>
                <a:lnTo>
                  <a:pt x="3006852" y="6858000"/>
                </a:lnTo>
                <a:lnTo>
                  <a:pt x="3006852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9" name="bg object 19"/>
          <p:cNvSpPr/>
          <p:nvPr/>
        </p:nvSpPr>
        <p:spPr>
          <a:xfrm>
            <a:off x="9601834" y="0"/>
            <a:ext cx="2587586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5" y="0"/>
                </a:moveTo>
                <a:lnTo>
                  <a:pt x="0" y="0"/>
                </a:lnTo>
                <a:lnTo>
                  <a:pt x="1208191" y="6858000"/>
                </a:lnTo>
                <a:lnTo>
                  <a:pt x="2587665" y="6858000"/>
                </a:lnTo>
                <a:lnTo>
                  <a:pt x="2587665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0" name="bg object 20"/>
          <p:cNvSpPr/>
          <p:nvPr/>
        </p:nvSpPr>
        <p:spPr>
          <a:xfrm>
            <a:off x="8929838" y="3048000"/>
            <a:ext cx="3259241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1" name="bg object 21"/>
          <p:cNvSpPr/>
          <p:nvPr/>
        </p:nvSpPr>
        <p:spPr>
          <a:xfrm>
            <a:off x="9335359" y="0"/>
            <a:ext cx="2851042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1" y="6858000"/>
                </a:lnTo>
                <a:lnTo>
                  <a:pt x="2851161" y="6858000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2" name="bg object 22"/>
          <p:cNvSpPr/>
          <p:nvPr/>
        </p:nvSpPr>
        <p:spPr>
          <a:xfrm>
            <a:off x="10895286" y="0"/>
            <a:ext cx="1290619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8" y="0"/>
                </a:moveTo>
                <a:lnTo>
                  <a:pt x="1018959" y="0"/>
                </a:lnTo>
                <a:lnTo>
                  <a:pt x="0" y="6858000"/>
                </a:lnTo>
                <a:lnTo>
                  <a:pt x="1290828" y="6858000"/>
                </a:lnTo>
                <a:lnTo>
                  <a:pt x="1290828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3" name="bg object 23"/>
          <p:cNvSpPr/>
          <p:nvPr/>
        </p:nvSpPr>
        <p:spPr>
          <a:xfrm>
            <a:off x="10937900" y="0"/>
            <a:ext cx="1248085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4" name="bg object 24"/>
          <p:cNvSpPr/>
          <p:nvPr/>
        </p:nvSpPr>
        <p:spPr>
          <a:xfrm>
            <a:off x="10369643" y="3590543"/>
            <a:ext cx="1816262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5" name="bg object 25"/>
          <p:cNvSpPr/>
          <p:nvPr/>
        </p:nvSpPr>
        <p:spPr>
          <a:xfrm>
            <a:off x="1" y="4012692"/>
            <a:ext cx="448192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99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441" y="1577340"/>
            <a:ext cx="5302139" cy="2768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7245" y="1577340"/>
            <a:ext cx="5302139" cy="2768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16-Mar-25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7861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88826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8233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1176090"/>
            <a:ext cx="10055781" cy="469300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95" y="6459786"/>
            <a:ext cx="2471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F77EC56-6D43-4DF6-9473-9F94D77662AE}" type="datetime1">
              <a:rPr lang="en-US" smtClean="0"/>
              <a:t>16-Mar-25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5225" y="6459786"/>
            <a:ext cx="48215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7880" y="6459786"/>
            <a:ext cx="13116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12230" y="1143000"/>
            <a:ext cx="996436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01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4" r:id="rId12"/>
    <p:sldLayoutId id="2147483695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126" rtl="0" eaLnBrk="1" latinLnBrk="0" hangingPunct="1">
        <a:lnSpc>
          <a:spcPct val="85000"/>
        </a:lnSpc>
        <a:spcBef>
          <a:spcPct val="0"/>
        </a:spcBef>
        <a:buNone/>
        <a:defRPr sz="4799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13" indent="-91413" algn="l" defTabSz="914126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3933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758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583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408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67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61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55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49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raihan.islam@ewubd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st_of_HTTP_status_code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mframework.com/docs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1930399"/>
          </a:xfrm>
        </p:spPr>
        <p:txBody>
          <a:bodyPr>
            <a:normAutofit fontScale="90000"/>
          </a:bodyPr>
          <a:lstStyle/>
          <a:p>
            <a:r>
              <a:rPr lang="en-US" dirty="0"/>
              <a:t>Internet of Things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2383" y="4419600"/>
            <a:ext cx="7008574" cy="1752600"/>
          </a:xfrm>
        </p:spPr>
        <p:txBody>
          <a:bodyPr>
            <a:noAutofit/>
          </a:bodyPr>
          <a:lstStyle/>
          <a:p>
            <a:pPr algn="r"/>
            <a:r>
              <a:rPr lang="en-US" sz="1400" b="1" dirty="0"/>
              <a:t>Dr. Raihan Ul Islam</a:t>
            </a:r>
          </a:p>
          <a:p>
            <a:pPr algn="r"/>
            <a:r>
              <a:rPr lang="en-US" sz="1400" dirty="0"/>
              <a:t>Associate Professor</a:t>
            </a:r>
          </a:p>
          <a:p>
            <a:pPr algn="r"/>
            <a:r>
              <a:rPr lang="en-US" sz="1400" dirty="0"/>
              <a:t>Department of Computer Science &amp; Engineering</a:t>
            </a:r>
          </a:p>
          <a:p>
            <a:pPr algn="r"/>
            <a:r>
              <a:rPr lang="en-US" sz="1400" dirty="0"/>
              <a:t>Room No# AB3-1003</a:t>
            </a:r>
            <a:br>
              <a:rPr lang="en-US" sz="1400" dirty="0"/>
            </a:br>
            <a:r>
              <a:rPr lang="en-US" sz="1400" dirty="0"/>
              <a:t>Email: </a:t>
            </a:r>
            <a:r>
              <a:rPr lang="en-US" sz="1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raihan.islam@ewubd.edu</a:t>
            </a:r>
            <a:endParaRPr lang="en-US" sz="1400" dirty="0"/>
          </a:p>
          <a:p>
            <a:pPr algn="r"/>
            <a:r>
              <a:rPr lang="en-US" sz="1400" dirty="0"/>
              <a:t>Mobile: +8801992392611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F9BB5-1CF4-61ED-83F2-36817058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6DD03-69E0-4D1A-89C2-9CA7435B8379}" type="datetime1">
              <a:rPr lang="en-US" smtClean="0"/>
              <a:t>16-Mar-25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44383C-64C0-69F5-19AD-E13611CF7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title"/>
          </p:nvPr>
        </p:nvSpPr>
        <p:spPr>
          <a:xfrm>
            <a:off x="830984" y="457200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What is REST ?</a:t>
            </a:r>
          </a:p>
          <a:p>
            <a:endParaRPr dirty="0"/>
          </a:p>
        </p:txBody>
      </p:sp>
      <p:sp>
        <p:nvSpPr>
          <p:cNvPr id="92" name="Shape 92"/>
          <p:cNvSpPr txBox="1">
            <a:spLocks noGrp="1"/>
          </p:cNvSpPr>
          <p:nvPr>
            <p:ph type="body" idx="1"/>
          </p:nvPr>
        </p:nvSpPr>
        <p:spPr>
          <a:xfrm>
            <a:off x="415492" y="1688887"/>
            <a:ext cx="11357841" cy="4402453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pPr marL="1218895" indent="609448">
              <a:buNone/>
            </a:pPr>
            <a:r>
              <a:rPr lang="en" sz="4799"/>
              <a:t>REST means </a:t>
            </a:r>
          </a:p>
          <a:p>
            <a:pPr marL="1218895" indent="609448">
              <a:buNone/>
            </a:pPr>
            <a:r>
              <a:rPr lang="en" sz="4799" b="1" u="sng"/>
              <a:t>RE</a:t>
            </a:r>
            <a:r>
              <a:rPr lang="en" sz="4799"/>
              <a:t>presentational </a:t>
            </a:r>
          </a:p>
          <a:p>
            <a:pPr marL="1218895" indent="609448">
              <a:buNone/>
            </a:pPr>
            <a:r>
              <a:rPr lang="en" sz="4799" b="1" u="sng"/>
              <a:t>S</a:t>
            </a:r>
            <a:r>
              <a:rPr lang="en" sz="4799"/>
              <a:t>tate </a:t>
            </a:r>
          </a:p>
          <a:p>
            <a:pPr marL="1218895" indent="609448">
              <a:buNone/>
            </a:pPr>
            <a:r>
              <a:rPr lang="en" sz="4799" b="1" u="sng"/>
              <a:t>T</a:t>
            </a:r>
            <a:r>
              <a:rPr lang="en" sz="4799"/>
              <a:t>ransfer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 txBox="1">
            <a:spLocks noGrp="1"/>
          </p:cNvSpPr>
          <p:nvPr>
            <p:ph type="title"/>
          </p:nvPr>
        </p:nvSpPr>
        <p:spPr>
          <a:xfrm>
            <a:off x="912812" y="457200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REpresentational ? State ? Transfer ?</a:t>
            </a:r>
          </a:p>
          <a:p>
            <a:endParaRPr dirty="0"/>
          </a:p>
          <a:p>
            <a:endParaRPr dirty="0"/>
          </a:p>
        </p:txBody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415492" y="1688887"/>
            <a:ext cx="11357841" cy="4402453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pPr marL="761924" indent="-457200">
              <a:buFont typeface="Wingdings" panose="05000000000000000000" pitchFamily="2" charset="2"/>
              <a:buChar char="q"/>
            </a:pPr>
            <a:r>
              <a:rPr lang="en" sz="2800" dirty="0"/>
              <a:t>It represent the state of database at a time. But how???</a:t>
            </a:r>
          </a:p>
          <a:p>
            <a:pPr marL="761924" indent="-457200">
              <a:buFont typeface="Wingdings" panose="05000000000000000000" pitchFamily="2" charset="2"/>
              <a:buChar char="q"/>
            </a:pPr>
            <a:r>
              <a:rPr lang="en" sz="2800" dirty="0"/>
              <a:t>REST is an architectural style which is based on web-standards and the </a:t>
            </a:r>
            <a:r>
              <a:rPr lang="en" sz="2800" b="1" dirty="0"/>
              <a:t>HTTP</a:t>
            </a:r>
            <a:r>
              <a:rPr lang="en" sz="2800" dirty="0"/>
              <a:t> protocol.</a:t>
            </a:r>
          </a:p>
          <a:p>
            <a:pPr marL="761924" indent="-457200">
              <a:buFont typeface="Wingdings" panose="05000000000000000000" pitchFamily="2" charset="2"/>
              <a:buChar char="q"/>
            </a:pPr>
            <a:r>
              <a:rPr lang="en" sz="2800" dirty="0"/>
              <a:t>In a REST based architecture everything is a </a:t>
            </a:r>
            <a:r>
              <a:rPr lang="en" sz="2800" b="1" dirty="0"/>
              <a:t>Resource</a:t>
            </a:r>
            <a:r>
              <a:rPr lang="en" sz="2800" dirty="0"/>
              <a:t>.</a:t>
            </a:r>
          </a:p>
          <a:p>
            <a:pPr marL="761924" indent="-457200">
              <a:buFont typeface="Wingdings" panose="05000000000000000000" pitchFamily="2" charset="2"/>
              <a:buChar char="q"/>
            </a:pPr>
            <a:r>
              <a:rPr lang="en" sz="2800" dirty="0"/>
              <a:t>A resource is accessed via a common interface based on the HTTP standard methods.</a:t>
            </a:r>
          </a:p>
          <a:p>
            <a:pPr marL="761924" indent="-457200">
              <a:buFont typeface="Wingdings" panose="05000000000000000000" pitchFamily="2" charset="2"/>
              <a:buChar char="q"/>
            </a:pPr>
            <a:r>
              <a:rPr lang="en" sz="2800" dirty="0"/>
              <a:t>You typically have a REST server which provides access to the resources and a REST client which accesses and modifies the REST resources.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>
            <a:spLocks noGrp="1"/>
          </p:cNvSpPr>
          <p:nvPr>
            <p:ph type="title"/>
          </p:nvPr>
        </p:nvSpPr>
        <p:spPr>
          <a:xfrm>
            <a:off x="1065212" y="295183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REpresentational ? State ? Transfer ?</a:t>
            </a:r>
          </a:p>
          <a:p>
            <a:endParaRPr dirty="0"/>
          </a:p>
        </p:txBody>
      </p:sp>
      <p:sp>
        <p:nvSpPr>
          <p:cNvPr id="104" name="Shape 104"/>
          <p:cNvSpPr txBox="1">
            <a:spLocks noGrp="1"/>
          </p:cNvSpPr>
          <p:nvPr>
            <p:ph type="body" idx="1"/>
          </p:nvPr>
        </p:nvSpPr>
        <p:spPr>
          <a:xfrm>
            <a:off x="415492" y="1688887"/>
            <a:ext cx="11357841" cy="4402453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pPr marL="761924" indent="-457200">
              <a:buFont typeface="Wingdings" panose="05000000000000000000" pitchFamily="2" charset="2"/>
              <a:buChar char="q"/>
            </a:pPr>
            <a:r>
              <a:rPr lang="en" sz="2800" dirty="0"/>
              <a:t>Every resource should support the HTTP common operations.</a:t>
            </a:r>
          </a:p>
          <a:p>
            <a:pPr marL="761924" indent="-457200">
              <a:buFont typeface="Wingdings" panose="05000000000000000000" pitchFamily="2" charset="2"/>
              <a:buChar char="q"/>
            </a:pPr>
            <a:r>
              <a:rPr lang="en" sz="2800" dirty="0"/>
              <a:t>Resources are identified by global IDs (which are typically </a:t>
            </a:r>
            <a:r>
              <a:rPr lang="en" sz="2800" b="1" dirty="0"/>
              <a:t>URIs</a:t>
            </a:r>
            <a:r>
              <a:rPr lang="en" sz="2800" dirty="0"/>
              <a:t> or </a:t>
            </a:r>
            <a:r>
              <a:rPr lang="en" sz="2800" b="1" dirty="0"/>
              <a:t>URLs</a:t>
            </a:r>
            <a:r>
              <a:rPr lang="en" sz="2800" dirty="0"/>
              <a:t>).</a:t>
            </a:r>
          </a:p>
          <a:p>
            <a:pPr marL="761924" indent="-457200">
              <a:buFont typeface="Wingdings" panose="05000000000000000000" pitchFamily="2" charset="2"/>
              <a:buChar char="q"/>
            </a:pPr>
            <a:r>
              <a:rPr lang="en" sz="2800" dirty="0"/>
              <a:t>REST allows that resources have different representations, e.g., text, XML, JSON etc.</a:t>
            </a:r>
          </a:p>
          <a:p>
            <a:pPr marL="761924" indent="-457200">
              <a:buFont typeface="Wingdings" panose="05000000000000000000" pitchFamily="2" charset="2"/>
              <a:buChar char="q"/>
            </a:pPr>
            <a:r>
              <a:rPr lang="en" sz="2800" b="1" dirty="0"/>
              <a:t>Stateless </a:t>
            </a:r>
            <a:r>
              <a:rPr lang="en" sz="2800" dirty="0"/>
              <a:t>in nature.</a:t>
            </a:r>
            <a:r>
              <a:rPr lang="en" sz="2800" b="1" dirty="0"/>
              <a:t> Excellent</a:t>
            </a:r>
            <a:r>
              <a:rPr lang="en" sz="2800" dirty="0"/>
              <a:t> for </a:t>
            </a:r>
            <a:r>
              <a:rPr lang="en" sz="2800" b="1" dirty="0"/>
              <a:t>distributed system.</a:t>
            </a:r>
          </a:p>
          <a:p>
            <a:pPr marL="761924" indent="-457200">
              <a:buFont typeface="Wingdings" panose="05000000000000000000" pitchFamily="2" charset="2"/>
              <a:buChar char="q"/>
            </a:pPr>
            <a:r>
              <a:rPr lang="en" sz="2800" dirty="0"/>
              <a:t>Stateless components can be freely redeployed if something fails, and they can </a:t>
            </a:r>
            <a:r>
              <a:rPr lang="en" sz="2800" b="1" dirty="0"/>
              <a:t>scale</a:t>
            </a:r>
            <a:r>
              <a:rPr lang="en" sz="2800" dirty="0"/>
              <a:t> to accommodate load changes.</a:t>
            </a:r>
          </a:p>
          <a:p>
            <a:pPr marL="761924" indent="-457200">
              <a:buFont typeface="Wingdings" panose="05000000000000000000" pitchFamily="2" charset="2"/>
              <a:buChar char="q"/>
            </a:pPr>
            <a:r>
              <a:rPr lang="en" sz="2800" dirty="0"/>
              <a:t>This is because any request can be directed to any instance of a component.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 txBox="1">
            <a:spLocks noGrp="1"/>
          </p:cNvSpPr>
          <p:nvPr>
            <p:ph type="title"/>
          </p:nvPr>
        </p:nvSpPr>
        <p:spPr>
          <a:xfrm>
            <a:off x="912812" y="452498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HTTP Methods</a:t>
            </a:r>
          </a:p>
        </p:txBody>
      </p:sp>
      <p:sp>
        <p:nvSpPr>
          <p:cNvPr id="110" name="Shape 110"/>
          <p:cNvSpPr txBox="1">
            <a:spLocks noGrp="1"/>
          </p:cNvSpPr>
          <p:nvPr>
            <p:ph type="body" idx="1"/>
          </p:nvPr>
        </p:nvSpPr>
        <p:spPr>
          <a:xfrm>
            <a:off x="803424" y="1395452"/>
            <a:ext cx="11357841" cy="4889926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pPr algn="just">
              <a:buNone/>
            </a:pPr>
            <a:r>
              <a:rPr lang="en" dirty="0"/>
              <a:t>The </a:t>
            </a:r>
            <a:r>
              <a:rPr lang="en" i="1" dirty="0"/>
              <a:t>PUT</a:t>
            </a:r>
            <a:r>
              <a:rPr lang="en" dirty="0"/>
              <a:t>, </a:t>
            </a:r>
            <a:r>
              <a:rPr lang="en" i="1" dirty="0"/>
              <a:t>GET</a:t>
            </a:r>
            <a:r>
              <a:rPr lang="en" dirty="0"/>
              <a:t>, </a:t>
            </a:r>
            <a:r>
              <a:rPr lang="en" i="1" dirty="0"/>
              <a:t>POST</a:t>
            </a:r>
            <a:r>
              <a:rPr lang="en" dirty="0"/>
              <a:t> and </a:t>
            </a:r>
            <a:r>
              <a:rPr lang="en" i="1" dirty="0"/>
              <a:t>DELETE</a:t>
            </a:r>
            <a:r>
              <a:rPr lang="en" dirty="0"/>
              <a:t> methods are typically used in REST based architectures. The following table gives an explanation of these operations:</a:t>
            </a:r>
          </a:p>
          <a:p>
            <a:pPr algn="just">
              <a:buNone/>
            </a:pPr>
            <a:endParaRPr dirty="0"/>
          </a:p>
        </p:txBody>
      </p:sp>
      <p:graphicFrame>
        <p:nvGraphicFramePr>
          <p:cNvPr id="111" name="Shape 111"/>
          <p:cNvGraphicFramePr/>
          <p:nvPr>
            <p:extLst>
              <p:ext uri="{D42A27DB-BD31-4B8C-83A1-F6EECF244321}">
                <p14:modId xmlns:p14="http://schemas.microsoft.com/office/powerpoint/2010/main" val="2441837657"/>
              </p:ext>
            </p:extLst>
          </p:nvPr>
        </p:nvGraphicFramePr>
        <p:xfrm>
          <a:off x="1104944" y="2514600"/>
          <a:ext cx="11073149" cy="355057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13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0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97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835"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HTTP Method</a:t>
                      </a:r>
                    </a:p>
                  </a:txBody>
                  <a:tcPr marL="121868" marR="121868" marT="121868" marB="121868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CRUD Operation</a:t>
                      </a:r>
                    </a:p>
                  </a:txBody>
                  <a:tcPr marL="121868" marR="121868" marT="121868" marB="121868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Description</a:t>
                      </a:r>
                    </a:p>
                  </a:txBody>
                  <a:tcPr marL="121868" marR="121868" marT="121868" marB="121868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9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835"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POST</a:t>
                      </a:r>
                    </a:p>
                  </a:txBody>
                  <a:tcPr marL="121868" marR="121868" marT="121868" marB="121868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INSERT</a:t>
                      </a:r>
                    </a:p>
                  </a:txBody>
                  <a:tcPr marL="121868" marR="121868" marT="121868" marB="121868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Addes to an existing resource</a:t>
                      </a:r>
                    </a:p>
                  </a:txBody>
                  <a:tcPr marL="121868" marR="121868" marT="121868" marB="121868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835"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PUT</a:t>
                      </a:r>
                    </a:p>
                  </a:txBody>
                  <a:tcPr marL="121868" marR="121868" marT="121868" marB="121868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UPDATE</a:t>
                      </a:r>
                    </a:p>
                  </a:txBody>
                  <a:tcPr marL="121868" marR="121868" marT="121868" marB="121868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Overrides existing resource</a:t>
                      </a:r>
                    </a:p>
                  </a:txBody>
                  <a:tcPr marL="121868" marR="121868" marT="121868" marB="121868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5236"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GET</a:t>
                      </a:r>
                    </a:p>
                  </a:txBody>
                  <a:tcPr marL="121868" marR="121868" marT="121868" marB="121868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SELECT</a:t>
                      </a:r>
                    </a:p>
                  </a:txBody>
                  <a:tcPr marL="121868" marR="121868" marT="121868" marB="121868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Fetches a resource. The resource is never changed via a GET request</a:t>
                      </a:r>
                    </a:p>
                  </a:txBody>
                  <a:tcPr marL="121868" marR="121868" marT="121868" marB="121868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835"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400" dirty="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DELETE</a:t>
                      </a:r>
                    </a:p>
                  </a:txBody>
                  <a:tcPr marL="121868" marR="121868" marT="121868" marB="121868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DELETE</a:t>
                      </a:r>
                    </a:p>
                  </a:txBody>
                  <a:tcPr marL="121868" marR="121868" marT="121868" marB="121868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400" dirty="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Deletes a resource</a:t>
                      </a:r>
                    </a:p>
                  </a:txBody>
                  <a:tcPr marL="121868" marR="121868" marT="121868" marB="121868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title"/>
          </p:nvPr>
        </p:nvSpPr>
        <p:spPr>
          <a:xfrm>
            <a:off x="989012" y="467272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Architecture:</a:t>
            </a:r>
          </a:p>
        </p:txBody>
      </p:sp>
      <p:pic>
        <p:nvPicPr>
          <p:cNvPr id="117" name="Shape 117" descr="REST-API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2212" y="1410226"/>
            <a:ext cx="3983280" cy="4652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 txBox="1">
            <a:spLocks noGrp="1"/>
          </p:cNvSpPr>
          <p:nvPr>
            <p:ph type="title"/>
          </p:nvPr>
        </p:nvSpPr>
        <p:spPr>
          <a:xfrm>
            <a:off x="1065212" y="457200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HTTP Request Example:</a:t>
            </a:r>
          </a:p>
        </p:txBody>
      </p:sp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415492" y="1688887"/>
            <a:ext cx="11357841" cy="4402453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pPr>
              <a:buNone/>
            </a:pPr>
            <a:endParaRPr/>
          </a:p>
        </p:txBody>
      </p:sp>
      <p:pic>
        <p:nvPicPr>
          <p:cNvPr id="124" name="Shape 124" descr="HTTP_RequestMessageExam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630" y="1688887"/>
            <a:ext cx="11249702" cy="4480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title"/>
          </p:nvPr>
        </p:nvSpPr>
        <p:spPr>
          <a:xfrm>
            <a:off x="989012" y="381000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HTTP Response Example:</a:t>
            </a:r>
          </a:p>
        </p:txBody>
      </p:sp>
      <p:sp>
        <p:nvSpPr>
          <p:cNvPr id="130" name="Shape 130"/>
          <p:cNvSpPr txBox="1">
            <a:spLocks noGrp="1"/>
          </p:cNvSpPr>
          <p:nvPr>
            <p:ph type="body" idx="1"/>
          </p:nvPr>
        </p:nvSpPr>
        <p:spPr>
          <a:xfrm>
            <a:off x="415492" y="1688887"/>
            <a:ext cx="11357841" cy="4402453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pPr>
              <a:buNone/>
            </a:pPr>
            <a:endParaRPr/>
          </a:p>
        </p:txBody>
      </p:sp>
      <p:pic>
        <p:nvPicPr>
          <p:cNvPr id="131" name="Shape 131" descr="HTTP_ResponseMessageExam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92" y="1734009"/>
            <a:ext cx="11357841" cy="4402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 txBox="1">
            <a:spLocks noGrp="1"/>
          </p:cNvSpPr>
          <p:nvPr>
            <p:ph type="title"/>
          </p:nvPr>
        </p:nvSpPr>
        <p:spPr>
          <a:xfrm>
            <a:off x="942524" y="464089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HTTP REST Request:</a:t>
            </a:r>
          </a:p>
        </p:txBody>
      </p:sp>
      <p:sp>
        <p:nvSpPr>
          <p:cNvPr id="137" name="Shape 137"/>
          <p:cNvSpPr txBox="1">
            <a:spLocks noGrp="1"/>
          </p:cNvSpPr>
          <p:nvPr>
            <p:ph type="body" idx="1"/>
          </p:nvPr>
        </p:nvSpPr>
        <p:spPr>
          <a:xfrm>
            <a:off x="415492" y="1688886"/>
            <a:ext cx="11357841" cy="4791952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pPr>
              <a:buNone/>
            </a:pPr>
            <a:endParaRPr/>
          </a:p>
          <a:p>
            <a:pPr>
              <a:buNone/>
            </a:pPr>
            <a:endParaRPr/>
          </a:p>
          <a:p>
            <a:pPr>
              <a:buNone/>
            </a:pPr>
            <a:endParaRPr/>
          </a:p>
          <a:p>
            <a:pPr>
              <a:buNone/>
            </a:pPr>
            <a:endParaRPr/>
          </a:p>
          <a:p>
            <a:pPr>
              <a:buNone/>
            </a:pPr>
            <a:endParaRPr/>
          </a:p>
          <a:p>
            <a:pPr>
              <a:buNone/>
            </a:pPr>
            <a:endParaRPr/>
          </a:p>
          <a:p>
            <a:pPr algn="ctr">
              <a:buNone/>
            </a:pPr>
            <a:r>
              <a:rPr lang="en" sz="2133"/>
              <a:t>HTTP REST API Request</a:t>
            </a:r>
          </a:p>
          <a:p>
            <a:pPr>
              <a:buNone/>
            </a:pPr>
            <a:endParaRPr/>
          </a:p>
        </p:txBody>
      </p:sp>
      <p:sp>
        <p:nvSpPr>
          <p:cNvPr id="138" name="Shape 138"/>
          <p:cNvSpPr/>
          <p:nvPr/>
        </p:nvSpPr>
        <p:spPr>
          <a:xfrm>
            <a:off x="939955" y="1688887"/>
            <a:ext cx="9916217" cy="687421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868" tIns="121868" rIns="121868" bIns="121868" anchor="ctr" anchorCtr="0">
            <a:noAutofit/>
          </a:bodyPr>
          <a:lstStyle/>
          <a:p>
            <a:r>
              <a:rPr lang="en" sz="2399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GET  https://www.myhost.com/api/v1/user/1/cities</a:t>
            </a:r>
          </a:p>
        </p:txBody>
      </p:sp>
      <p:cxnSp>
        <p:nvCxnSpPr>
          <p:cNvPr id="139" name="Shape 139"/>
          <p:cNvCxnSpPr/>
          <p:nvPr/>
        </p:nvCxnSpPr>
        <p:spPr>
          <a:xfrm flipH="1">
            <a:off x="1358079" y="2192605"/>
            <a:ext cx="32791" cy="58904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40" name="Shape 140"/>
          <p:cNvSpPr txBox="1"/>
          <p:nvPr/>
        </p:nvSpPr>
        <p:spPr>
          <a:xfrm>
            <a:off x="939955" y="2699856"/>
            <a:ext cx="10308915" cy="458281"/>
          </a:xfrm>
          <a:prstGeom prst="rect">
            <a:avLst/>
          </a:prstGeom>
          <a:noFill/>
          <a:ln>
            <a:noFill/>
          </a:ln>
        </p:spPr>
        <p:txBody>
          <a:bodyPr lIns="121868" tIns="121868" rIns="121868" bIns="121868" anchor="t" anchorCtr="0">
            <a:noAutofit/>
          </a:bodyPr>
          <a:lstStyle/>
          <a:p>
            <a:r>
              <a:rPr lang="en" sz="2399">
                <a:latin typeface="Open Sans"/>
                <a:ea typeface="Open Sans"/>
                <a:cs typeface="Open Sans"/>
                <a:sym typeface="Open Sans"/>
              </a:rPr>
              <a:t>Read,  All the cities for user whose id is 1</a:t>
            </a:r>
          </a:p>
        </p:txBody>
      </p:sp>
      <p:cxnSp>
        <p:nvCxnSpPr>
          <p:cNvPr id="141" name="Shape 141"/>
          <p:cNvCxnSpPr/>
          <p:nvPr/>
        </p:nvCxnSpPr>
        <p:spPr>
          <a:xfrm flipH="1">
            <a:off x="5547121" y="2176209"/>
            <a:ext cx="409093" cy="6218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42" name="Shape 142"/>
          <p:cNvSpPr/>
          <p:nvPr/>
        </p:nvSpPr>
        <p:spPr>
          <a:xfrm>
            <a:off x="965448" y="3502647"/>
            <a:ext cx="9916217" cy="2209025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868" tIns="121868" rIns="121868" bIns="121868" anchor="ctr" anchorCtr="0">
            <a:noAutofit/>
          </a:bodyPr>
          <a:lstStyle/>
          <a:p>
            <a:r>
              <a:rPr lang="en" sz="2133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2133">
                <a:solidFill>
                  <a:srgbClr val="F3F3F3"/>
                </a:solidFill>
                <a:latin typeface="Open Sans"/>
                <a:ea typeface="Open Sans"/>
                <a:cs typeface="Open Sans"/>
                <a:sym typeface="Open Sans"/>
              </a:rPr>
              <a:t>GET /user/1/cities http/1.1</a:t>
            </a:r>
          </a:p>
          <a:p>
            <a:r>
              <a:rPr lang="en" sz="2133">
                <a:solidFill>
                  <a:srgbClr val="F3F3F3"/>
                </a:solidFill>
                <a:latin typeface="Open Sans"/>
                <a:ea typeface="Open Sans"/>
                <a:cs typeface="Open Sans"/>
                <a:sym typeface="Open Sans"/>
              </a:rPr>
              <a:t> host: https://www.myhost.com/api/v1</a:t>
            </a:r>
          </a:p>
          <a:p>
            <a:r>
              <a:rPr lang="en" sz="2133">
                <a:solidFill>
                  <a:srgbClr val="F3F3F3"/>
                </a:solidFill>
                <a:latin typeface="Open Sans"/>
                <a:ea typeface="Open Sans"/>
                <a:cs typeface="Open Sans"/>
                <a:sym typeface="Open Sans"/>
              </a:rPr>
              <a:t> Content-Type: application/json</a:t>
            </a:r>
          </a:p>
          <a:p>
            <a:r>
              <a:rPr lang="en" sz="2133">
                <a:solidFill>
                  <a:srgbClr val="F3F3F3"/>
                </a:solidFill>
                <a:latin typeface="Open Sans"/>
                <a:ea typeface="Open Sans"/>
                <a:cs typeface="Open Sans"/>
                <a:sym typeface="Open Sans"/>
              </a:rPr>
              <a:t> Accept-Language: us-en</a:t>
            </a:r>
          </a:p>
          <a:p>
            <a:r>
              <a:rPr lang="en" sz="2133">
                <a:solidFill>
                  <a:srgbClr val="F3F3F3"/>
                </a:solidFill>
                <a:latin typeface="Open Sans"/>
                <a:ea typeface="Open Sans"/>
                <a:cs typeface="Open Sans"/>
                <a:sym typeface="Open Sans"/>
              </a:rPr>
              <a:t> state_id: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>
            <a:spLocks noGrp="1"/>
          </p:cNvSpPr>
          <p:nvPr>
            <p:ph type="title"/>
          </p:nvPr>
        </p:nvSpPr>
        <p:spPr>
          <a:xfrm>
            <a:off x="989012" y="478337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HTTP REST Response:</a:t>
            </a:r>
          </a:p>
        </p:txBody>
      </p:sp>
      <p:sp>
        <p:nvSpPr>
          <p:cNvPr id="148" name="Shape 148"/>
          <p:cNvSpPr txBox="1">
            <a:spLocks noGrp="1"/>
          </p:cNvSpPr>
          <p:nvPr>
            <p:ph type="body" idx="1"/>
          </p:nvPr>
        </p:nvSpPr>
        <p:spPr>
          <a:xfrm>
            <a:off x="415492" y="1688887"/>
            <a:ext cx="11357841" cy="4906322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pPr>
              <a:buNone/>
            </a:pPr>
            <a:endParaRPr/>
          </a:p>
          <a:p>
            <a:pPr>
              <a:buNone/>
            </a:pPr>
            <a:endParaRPr/>
          </a:p>
          <a:p>
            <a:pPr>
              <a:buNone/>
            </a:pPr>
            <a:endParaRPr/>
          </a:p>
          <a:p>
            <a:pPr>
              <a:buNone/>
            </a:pPr>
            <a:endParaRPr/>
          </a:p>
          <a:p>
            <a:pPr>
              <a:buNone/>
            </a:pPr>
            <a:endParaRPr/>
          </a:p>
          <a:p>
            <a:pPr>
              <a:buNone/>
            </a:pPr>
            <a:endParaRPr/>
          </a:p>
          <a:p>
            <a:pPr algn="ctr">
              <a:buNone/>
            </a:pPr>
            <a:r>
              <a:rPr lang="en" sz="2133"/>
              <a:t>HTTP REST API Response</a:t>
            </a:r>
          </a:p>
          <a:p>
            <a:pPr>
              <a:buNone/>
            </a:pPr>
            <a:endParaRPr/>
          </a:p>
        </p:txBody>
      </p:sp>
      <p:sp>
        <p:nvSpPr>
          <p:cNvPr id="149" name="Shape 149"/>
          <p:cNvSpPr/>
          <p:nvPr/>
        </p:nvSpPr>
        <p:spPr>
          <a:xfrm>
            <a:off x="752703" y="1882670"/>
            <a:ext cx="10668821" cy="3910981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868" tIns="121868" rIns="121868" bIns="121868" anchor="ctr" anchorCtr="0">
            <a:noAutofit/>
          </a:bodyPr>
          <a:lstStyle/>
          <a:p>
            <a:pPr algn="just"/>
            <a:r>
              <a:rPr lang="en" sz="21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HTTP/1.1 200 OK (285ms)</a:t>
            </a:r>
          </a:p>
          <a:p>
            <a:pPr algn="just"/>
            <a:r>
              <a:rPr lang="en" sz="21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Date: Fri, 21 Apr 2017 10:27:20 GMT</a:t>
            </a:r>
          </a:p>
          <a:p>
            <a:pPr algn="just"/>
            <a:r>
              <a:rPr lang="en" sz="21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Server: Apache/2.4.6 (CentOS) OpenSSL/1.0.1e-fips PHP/7.0.16</a:t>
            </a:r>
          </a:p>
          <a:p>
            <a:pPr algn="just"/>
            <a:r>
              <a:rPr lang="en" sz="21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X-Powered-By: PHP/7.0.16</a:t>
            </a:r>
          </a:p>
          <a:p>
            <a:pPr algn="just"/>
            <a:r>
              <a:rPr lang="en" sz="21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Content-Length: 109</a:t>
            </a:r>
          </a:p>
          <a:p>
            <a:pPr algn="just"/>
            <a:r>
              <a:rPr lang="en" sz="21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Keep-Alive: timeout=5, max=100</a:t>
            </a:r>
          </a:p>
          <a:p>
            <a:pPr algn="just"/>
            <a:r>
              <a:rPr lang="en" sz="21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Connection: Keep-Alive</a:t>
            </a:r>
          </a:p>
          <a:p>
            <a:pPr algn="just"/>
            <a:r>
              <a:rPr lang="en" sz="21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Content-Type: application/json; charset=UTF-8</a:t>
            </a:r>
          </a:p>
          <a:p>
            <a:pPr algn="just"/>
            <a:endParaRPr sz="213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r>
              <a:rPr lang="en" sz="21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{"status":"success","message":"City List","data":[{"city_name":"Visakhapatnam"},{"city_name":"Vijayawada"}]}</a:t>
            </a:r>
          </a:p>
        </p:txBody>
      </p:sp>
      <p:cxnSp>
        <p:nvCxnSpPr>
          <p:cNvPr id="150" name="Shape 150"/>
          <p:cNvCxnSpPr/>
          <p:nvPr/>
        </p:nvCxnSpPr>
        <p:spPr>
          <a:xfrm rot="10800000" flipH="1">
            <a:off x="1178159" y="4795211"/>
            <a:ext cx="9507124" cy="65583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>
            <a:spLocks noGrp="1"/>
          </p:cNvSpPr>
          <p:nvPr>
            <p:ph type="title"/>
          </p:nvPr>
        </p:nvSpPr>
        <p:spPr>
          <a:xfrm>
            <a:off x="912812" y="411121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HTTP Response Status Code:</a:t>
            </a:r>
          </a:p>
        </p:txBody>
      </p:sp>
      <p:graphicFrame>
        <p:nvGraphicFramePr>
          <p:cNvPr id="156" name="Shape 156"/>
          <p:cNvGraphicFramePr/>
          <p:nvPr/>
        </p:nvGraphicFramePr>
        <p:xfrm>
          <a:off x="669159" y="1611174"/>
          <a:ext cx="10704878" cy="402811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499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48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7746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1xx</a:t>
                      </a:r>
                    </a:p>
                  </a:txBody>
                  <a:tcPr marL="121868" marR="121868" marT="121868" marB="121868" anchor="ctr">
                    <a:lnL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00000"/>
                        </a:lnSpc>
                        <a:spcBef>
                          <a:spcPts val="1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Inform­ational Codes</a:t>
                      </a:r>
                    </a:p>
                  </a:txBody>
                  <a:tcPr marL="121868" marR="121868" marT="121868" marB="121868" anchor="ctr">
                    <a:lnL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746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2xx</a:t>
                      </a:r>
                    </a:p>
                  </a:txBody>
                  <a:tcPr marL="121868" marR="121868" marT="121868" marB="121868" anchor="ctr">
                    <a:lnL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00000"/>
                        </a:lnSpc>
                        <a:spcBef>
                          <a:spcPts val="1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Successful Codes</a:t>
                      </a:r>
                    </a:p>
                  </a:txBody>
                  <a:tcPr marL="121868" marR="121868" marT="121868" marB="121868" anchor="ctr">
                    <a:lnL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7746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3xx</a:t>
                      </a:r>
                    </a:p>
                  </a:txBody>
                  <a:tcPr marL="121868" marR="121868" marT="121868" marB="121868" anchor="ctr">
                    <a:lnL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00000"/>
                        </a:lnSpc>
                        <a:spcBef>
                          <a:spcPts val="1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Redire­ction Codes</a:t>
                      </a:r>
                    </a:p>
                  </a:txBody>
                  <a:tcPr marL="121868" marR="121868" marT="121868" marB="121868" anchor="ctr">
                    <a:lnL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122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4xx</a:t>
                      </a:r>
                    </a:p>
                  </a:txBody>
                  <a:tcPr marL="121868" marR="121868" marT="121868" marB="121868" anchor="ctr">
                    <a:lnL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00000"/>
                        </a:lnSpc>
                        <a:spcBef>
                          <a:spcPts val="1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Client Error Code</a:t>
                      </a:r>
                    </a:p>
                  </a:txBody>
                  <a:tcPr marL="121868" marR="121868" marT="121868" marB="121868" anchor="ctr">
                    <a:lnL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758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5xx</a:t>
                      </a:r>
                    </a:p>
                  </a:txBody>
                  <a:tcPr marL="121868" marR="121868" marT="121868" marB="121868" anchor="ctr">
                    <a:lnL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00000"/>
                        </a:lnSpc>
                        <a:spcBef>
                          <a:spcPts val="1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Server Error Codes</a:t>
                      </a:r>
                    </a:p>
                  </a:txBody>
                  <a:tcPr marL="121868" marR="121868" marT="121868" marB="121868" anchor="ctr">
                    <a:lnL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7" name="Shape 157"/>
          <p:cNvSpPr txBox="1"/>
          <p:nvPr/>
        </p:nvSpPr>
        <p:spPr>
          <a:xfrm>
            <a:off x="669225" y="6153490"/>
            <a:ext cx="10704812" cy="376302"/>
          </a:xfrm>
          <a:prstGeom prst="rect">
            <a:avLst/>
          </a:prstGeom>
          <a:noFill/>
          <a:ln>
            <a:noFill/>
          </a:ln>
        </p:spPr>
        <p:txBody>
          <a:bodyPr lIns="121868" tIns="121868" rIns="121868" bIns="121868" anchor="t" anchorCtr="0">
            <a:noAutofit/>
          </a:bodyPr>
          <a:lstStyle/>
          <a:p>
            <a:pPr algn="ctr"/>
            <a:r>
              <a:rPr lang="en" sz="2399">
                <a:solidFill>
                  <a:schemeClr val="dk2"/>
                </a:solidFill>
              </a:rPr>
              <a:t>List at here: </a:t>
            </a:r>
            <a:r>
              <a:rPr lang="en" sz="2399" u="sng">
                <a:solidFill>
                  <a:schemeClr val="dk2"/>
                </a:solidFill>
                <a:hlinkClick r:id="rId3"/>
              </a:rPr>
              <a:t>https://en.wikipedia.org/wiki/List_of_HTTP_status_codes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 txBox="1">
            <a:spLocks noGrp="1"/>
          </p:cNvSpPr>
          <p:nvPr>
            <p:ph type="ctrTitle"/>
          </p:nvPr>
        </p:nvSpPr>
        <p:spPr>
          <a:xfrm>
            <a:off x="1338517" y="2335970"/>
            <a:ext cx="9513122" cy="1362845"/>
          </a:xfrm>
          <a:prstGeom prst="rect">
            <a:avLst/>
          </a:prstGeom>
        </p:spPr>
        <p:txBody>
          <a:bodyPr vert="horz" lIns="121868" tIns="121868" rIns="121868" bIns="121868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/>
              <a:t>Points to be noted</a:t>
            </a:r>
          </a:p>
        </p:txBody>
      </p:sp>
      <p:sp>
        <p:nvSpPr>
          <p:cNvPr id="163" name="Shape 163"/>
          <p:cNvSpPr txBox="1">
            <a:spLocks noGrp="1"/>
          </p:cNvSpPr>
          <p:nvPr>
            <p:ph type="subTitle" idx="1"/>
          </p:nvPr>
        </p:nvSpPr>
        <p:spPr>
          <a:xfrm>
            <a:off x="2848891" y="3799955"/>
            <a:ext cx="6492309" cy="1056525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/>
              <a:t>For REST APIs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 txBox="1">
            <a:spLocks noGrp="1"/>
          </p:cNvSpPr>
          <p:nvPr>
            <p:ph type="title"/>
          </p:nvPr>
        </p:nvSpPr>
        <p:spPr>
          <a:xfrm>
            <a:off x="912812" y="513159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Use Nouns but no verbs in path/URI:</a:t>
            </a:r>
          </a:p>
        </p:txBody>
      </p:sp>
      <p:graphicFrame>
        <p:nvGraphicFramePr>
          <p:cNvPr id="169" name="Shape 169"/>
          <p:cNvGraphicFramePr/>
          <p:nvPr/>
        </p:nvGraphicFramePr>
        <p:xfrm>
          <a:off x="512882" y="1733409"/>
          <a:ext cx="11163059" cy="366847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067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4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9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1202"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Purpose</a:t>
                      </a:r>
                    </a:p>
                  </a:txBody>
                  <a:tcPr marL="121868" marR="121868" marT="121868" marB="121868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Method</a:t>
                      </a:r>
                    </a:p>
                  </a:txBody>
                  <a:tcPr marL="121868" marR="121868" marT="121868" marB="121868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2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Incorrect</a:t>
                      </a:r>
                    </a:p>
                  </a:txBody>
                  <a:tcPr marL="121868" marR="121868" marT="121868" marB="121868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2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Correct</a:t>
                      </a:r>
                    </a:p>
                  </a:txBody>
                  <a:tcPr marL="121868" marR="121868" marT="121868" marB="121868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9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670"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Retrieves a list of users</a:t>
                      </a:r>
                    </a:p>
                  </a:txBody>
                  <a:tcPr marL="121868" marR="121868" marT="121868" marB="121868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GET</a:t>
                      </a:r>
                    </a:p>
                  </a:txBody>
                  <a:tcPr marL="121868" marR="121868" marT="121868" marB="121868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/getAllCars</a:t>
                      </a:r>
                    </a:p>
                  </a:txBody>
                  <a:tcPr marL="121868" marR="121868" marT="121868" marB="121868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/users</a:t>
                      </a:r>
                    </a:p>
                  </a:txBody>
                  <a:tcPr marL="121868" marR="121868" marT="121868" marB="121868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1502"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Create a new user</a:t>
                      </a:r>
                    </a:p>
                  </a:txBody>
                  <a:tcPr marL="121868" marR="121868" marT="121868" marB="121868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POST</a:t>
                      </a:r>
                    </a:p>
                  </a:txBody>
                  <a:tcPr marL="121868" marR="121868" marT="121868" marB="121868"/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/createUser</a:t>
                      </a:r>
                    </a:p>
                  </a:txBody>
                  <a:tcPr marL="121868" marR="121868" marT="121868" marB="121868"/>
                </a:tc>
                <a:tc>
                  <a:txBody>
                    <a:bodyPr/>
                    <a:lstStyle/>
                    <a:p>
                      <a:pPr marL="0" lvl="0" indent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/users</a:t>
                      </a:r>
                    </a:p>
                  </a:txBody>
                  <a:tcPr marL="121868" marR="121868" marT="121868" marB="12186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052"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Delete a user</a:t>
                      </a:r>
                    </a:p>
                  </a:txBody>
                  <a:tcPr marL="121868" marR="121868" marT="121868" marB="121868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DELETE</a:t>
                      </a:r>
                    </a:p>
                  </a:txBody>
                  <a:tcPr marL="121868" marR="121868" marT="121868" marB="121868"/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/deleteUser</a:t>
                      </a:r>
                    </a:p>
                  </a:txBody>
                  <a:tcPr marL="121868" marR="121868" marT="121868" marB="121868"/>
                </a:tc>
                <a:tc>
                  <a:txBody>
                    <a:bodyPr/>
                    <a:lstStyle/>
                    <a:p>
                      <a:pPr marL="0" lvl="0" indent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/users/10</a:t>
                      </a:r>
                    </a:p>
                  </a:txBody>
                  <a:tcPr marL="121868" marR="121868" marT="121868" marB="12186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052"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Get balance of user</a:t>
                      </a:r>
                    </a:p>
                  </a:txBody>
                  <a:tcPr marL="121868" marR="121868" marT="121868" marB="121868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GET</a:t>
                      </a:r>
                    </a:p>
                  </a:txBody>
                  <a:tcPr marL="121868" marR="121868" marT="121868" marB="121868"/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/getUserBalance</a:t>
                      </a:r>
                    </a:p>
                  </a:txBody>
                  <a:tcPr marL="121868" marR="121868" marT="121868" marB="121868"/>
                </a:tc>
                <a:tc>
                  <a:txBody>
                    <a:bodyPr/>
                    <a:lstStyle/>
                    <a:p>
                      <a:pPr marL="0" lvl="0" indent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/users/11/balance</a:t>
                      </a:r>
                    </a:p>
                  </a:txBody>
                  <a:tcPr marL="121868" marR="121868" marT="121868" marB="12186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869020" y="457200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Use plural nouns:</a:t>
            </a:r>
          </a:p>
        </p:txBody>
      </p:sp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415492" y="1688887"/>
            <a:ext cx="11357841" cy="4402453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pPr marL="609448" indent="-304724"/>
            <a:r>
              <a:rPr lang="en"/>
              <a:t>Do not mix up singular and plural nouns. Keep it simple and use only plural nouns for all resources.</a:t>
            </a:r>
          </a:p>
          <a:p>
            <a:pPr indent="609448">
              <a:lnSpc>
                <a:spcPct val="150000"/>
              </a:lnSpc>
              <a:buNone/>
            </a:pPr>
            <a:r>
              <a:rPr lang="en"/>
              <a:t>/cars instead of /car</a:t>
            </a:r>
            <a:br>
              <a:rPr lang="en"/>
            </a:br>
            <a:r>
              <a:rPr lang="en"/>
              <a:t>	/users instead of /user</a:t>
            </a:r>
            <a:br>
              <a:rPr lang="en"/>
            </a:br>
            <a:r>
              <a:rPr lang="en"/>
              <a:t>	/products instead of /product</a:t>
            </a:r>
            <a:br>
              <a:rPr lang="en"/>
            </a:br>
            <a:r>
              <a:rPr lang="en"/>
              <a:t>	/settings instead of /setting</a:t>
            </a:r>
            <a:br>
              <a:rPr lang="en"/>
            </a:br>
            <a:endParaRPr lang="en"/>
          </a:p>
          <a:p>
            <a:pPr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>
            <a:spLocks noGrp="1"/>
          </p:cNvSpPr>
          <p:nvPr>
            <p:ph type="title"/>
          </p:nvPr>
        </p:nvSpPr>
        <p:spPr>
          <a:xfrm>
            <a:off x="989012" y="457200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GET method should not alter the state:</a:t>
            </a:r>
          </a:p>
        </p:txBody>
      </p:sp>
      <p:sp>
        <p:nvSpPr>
          <p:cNvPr id="181" name="Shape 181"/>
          <p:cNvSpPr txBox="1">
            <a:spLocks noGrp="1"/>
          </p:cNvSpPr>
          <p:nvPr>
            <p:ph type="body" idx="1"/>
          </p:nvPr>
        </p:nvSpPr>
        <p:spPr>
          <a:xfrm>
            <a:off x="415492" y="1688887"/>
            <a:ext cx="11357841" cy="4402453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pPr marL="609448" indent="-304724"/>
            <a:r>
              <a:rPr lang="en"/>
              <a:t>Use </a:t>
            </a:r>
            <a:r>
              <a:rPr lang="en" b="1"/>
              <a:t>PUT, POST</a:t>
            </a:r>
            <a:r>
              <a:rPr lang="en"/>
              <a:t> and </a:t>
            </a:r>
            <a:r>
              <a:rPr lang="en" b="1"/>
              <a:t>DELETE</a:t>
            </a:r>
            <a:r>
              <a:rPr lang="en"/>
              <a:t> methods  instead of the</a:t>
            </a:r>
            <a:r>
              <a:rPr lang="en" b="1"/>
              <a:t> GET</a:t>
            </a:r>
            <a:r>
              <a:rPr lang="en"/>
              <a:t> method to alter the state.</a:t>
            </a:r>
          </a:p>
          <a:p>
            <a:pPr marL="609448" indent="-304724"/>
            <a:r>
              <a:rPr lang="en"/>
              <a:t>Do not use </a:t>
            </a:r>
            <a:r>
              <a:rPr lang="en" b="1"/>
              <a:t>GET</a:t>
            </a:r>
            <a:r>
              <a:rPr lang="en"/>
              <a:t> method or Query parameters for state changes:</a:t>
            </a:r>
          </a:p>
          <a:p>
            <a:pPr indent="609448">
              <a:buNone/>
            </a:pPr>
            <a:r>
              <a:rPr lang="en"/>
              <a:t>GET /users/711?activate or</a:t>
            </a:r>
            <a:br>
              <a:rPr lang="en"/>
            </a:br>
            <a:r>
              <a:rPr lang="en"/>
              <a:t>	</a:t>
            </a:r>
          </a:p>
          <a:p>
            <a:pPr indent="609448">
              <a:buNone/>
            </a:pPr>
            <a:r>
              <a:rPr lang="en"/>
              <a:t>GET /users/711/activate</a:t>
            </a:r>
            <a:br>
              <a:rPr lang="en"/>
            </a:br>
            <a:endParaRPr lang="en"/>
          </a:p>
          <a:p>
            <a:pPr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>
            <a:spLocks noGrp="1"/>
          </p:cNvSpPr>
          <p:nvPr>
            <p:ph type="title"/>
          </p:nvPr>
        </p:nvSpPr>
        <p:spPr>
          <a:xfrm>
            <a:off x="989012" y="381000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Use sub-resources for relation:</a:t>
            </a:r>
          </a:p>
        </p:txBody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415492" y="1688887"/>
            <a:ext cx="11357841" cy="4402453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pPr marL="609448" indent="-304724"/>
            <a:r>
              <a:rPr lang="en" sz="2800" dirty="0"/>
              <a:t>If a resource is related to another resource use subresources</a:t>
            </a:r>
          </a:p>
          <a:p>
            <a:pPr indent="609448">
              <a:buNone/>
            </a:pPr>
            <a:endParaRPr sz="2800" dirty="0"/>
          </a:p>
          <a:p>
            <a:pPr indent="609448">
              <a:buNone/>
            </a:pPr>
            <a:r>
              <a:rPr lang="en" sz="2800" dirty="0"/>
              <a:t>GET /cars/711/drivers/  (Returns a list of drivers for car 711)</a:t>
            </a:r>
            <a:br>
              <a:rPr lang="en" sz="2800" dirty="0"/>
            </a:br>
            <a:endParaRPr lang="en" sz="2800" dirty="0"/>
          </a:p>
          <a:p>
            <a:pPr indent="609448">
              <a:buNone/>
            </a:pPr>
            <a:r>
              <a:rPr lang="en" sz="2800" dirty="0"/>
              <a:t>GET /cars/711/drivers/4  (Returns driver #4 for car 711)</a:t>
            </a:r>
          </a:p>
          <a:p>
            <a:pPr>
              <a:buNone/>
            </a:pPr>
            <a:endParaRPr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>
            <a:spLocks noGrp="1"/>
          </p:cNvSpPr>
          <p:nvPr>
            <p:ph type="title"/>
          </p:nvPr>
        </p:nvSpPr>
        <p:spPr>
          <a:xfrm>
            <a:off x="912812" y="457200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Use HTTP headers for serialization formats:</a:t>
            </a:r>
          </a:p>
        </p:txBody>
      </p:sp>
      <p:sp>
        <p:nvSpPr>
          <p:cNvPr id="193" name="Shape 193"/>
          <p:cNvSpPr txBox="1">
            <a:spLocks noGrp="1"/>
          </p:cNvSpPr>
          <p:nvPr>
            <p:ph type="body" idx="1"/>
          </p:nvPr>
        </p:nvSpPr>
        <p:spPr>
          <a:xfrm>
            <a:off x="415492" y="1688887"/>
            <a:ext cx="11357841" cy="4402453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pPr marL="761924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" sz="2800" dirty="0"/>
              <a:t>Both, client and server need to know which format is used for the communication. The format has to be specified in the HTTP-Header.</a:t>
            </a:r>
          </a:p>
          <a:p>
            <a:pPr marL="761924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" sz="2800" i="1" dirty="0"/>
              <a:t>Content-Type</a:t>
            </a:r>
            <a:r>
              <a:rPr lang="en" sz="2800" dirty="0"/>
              <a:t> defines the request format.</a:t>
            </a:r>
          </a:p>
          <a:p>
            <a:pPr marL="761924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" sz="2800" i="1" dirty="0"/>
              <a:t>Accept</a:t>
            </a:r>
            <a:r>
              <a:rPr lang="en" sz="2800" dirty="0"/>
              <a:t> defines a list of acceptable response formats.</a:t>
            </a:r>
          </a:p>
          <a:p>
            <a:pPr>
              <a:buNone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>
            <a:spLocks noGrp="1"/>
          </p:cNvSpPr>
          <p:nvPr>
            <p:ph type="title"/>
          </p:nvPr>
        </p:nvSpPr>
        <p:spPr>
          <a:xfrm>
            <a:off x="989012" y="457200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Versioning is important:</a:t>
            </a:r>
          </a:p>
        </p:txBody>
      </p:sp>
      <p:sp>
        <p:nvSpPr>
          <p:cNvPr id="199" name="Shape 199"/>
          <p:cNvSpPr txBox="1">
            <a:spLocks noGrp="1"/>
          </p:cNvSpPr>
          <p:nvPr>
            <p:ph type="body" idx="1"/>
          </p:nvPr>
        </p:nvSpPr>
        <p:spPr>
          <a:xfrm>
            <a:off x="415492" y="1688887"/>
            <a:ext cx="11357841" cy="4402453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pPr marL="876224" indent="-571500">
              <a:buFont typeface="Wingdings" panose="05000000000000000000" pitchFamily="2" charset="2"/>
              <a:buChar char="q"/>
            </a:pPr>
            <a:r>
              <a:rPr lang="en" sz="3600" dirty="0"/>
              <a:t>Make the API Version mandatory and do not release an unversioned API. </a:t>
            </a:r>
          </a:p>
          <a:p>
            <a:pPr marL="876224" indent="-571500">
              <a:buFont typeface="Wingdings" panose="05000000000000000000" pitchFamily="2" charset="2"/>
              <a:buChar char="q"/>
            </a:pPr>
            <a:r>
              <a:rPr lang="en" sz="3600" dirty="0"/>
              <a:t>Use a simple ordinal number and avoid dot notation such as 2.5</a:t>
            </a:r>
          </a:p>
          <a:p>
            <a:pPr marL="876224" indent="-571500">
              <a:buFont typeface="Wingdings" panose="05000000000000000000" pitchFamily="2" charset="2"/>
              <a:buChar char="q"/>
            </a:pPr>
            <a:r>
              <a:rPr lang="en" sz="3600" dirty="0"/>
              <a:t>We are using the url for the API versioning starting with the letter “v”</a:t>
            </a:r>
          </a:p>
          <a:p>
            <a:pPr indent="0">
              <a:buNone/>
            </a:pPr>
            <a:r>
              <a:rPr lang="en" sz="3600" dirty="0"/>
              <a:t>                     /blog/api/v1</a:t>
            </a:r>
            <a:br>
              <a:rPr lang="en" dirty="0"/>
            </a:br>
            <a:endParaRPr lang="en" dirty="0"/>
          </a:p>
          <a:p>
            <a:pPr>
              <a:buNone/>
            </a:pP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xfrm>
            <a:off x="856828" y="457200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Handle Errors with HTTP Status code:</a:t>
            </a:r>
          </a:p>
        </p:txBody>
      </p:sp>
      <p:graphicFrame>
        <p:nvGraphicFramePr>
          <p:cNvPr id="205" name="Shape 205"/>
          <p:cNvGraphicFramePr/>
          <p:nvPr>
            <p:extLst>
              <p:ext uri="{D42A27DB-BD31-4B8C-83A1-F6EECF244321}">
                <p14:modId xmlns:p14="http://schemas.microsoft.com/office/powerpoint/2010/main" val="4189945041"/>
              </p:ext>
            </p:extLst>
          </p:nvPr>
        </p:nvGraphicFramePr>
        <p:xfrm>
          <a:off x="227012" y="1366626"/>
          <a:ext cx="11887200" cy="494210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88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5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72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3174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buNone/>
                      </a:pPr>
                      <a:r>
                        <a:rPr lang="en" sz="2000"/>
                        <a:t>200</a:t>
                      </a:r>
                    </a:p>
                  </a:txBody>
                  <a:tcPr marL="121868" marR="121868" marT="121868" marB="1218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buNone/>
                      </a:pPr>
                      <a:r>
                        <a:rPr lang="en" sz="2000" dirty="0"/>
                        <a:t>OK (Everything is working)</a:t>
                      </a:r>
                    </a:p>
                  </a:txBody>
                  <a:tcPr marL="121868" marR="121868" marT="121868" marB="1218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000"/>
                        <a:t>403</a:t>
                      </a:r>
                    </a:p>
                  </a:txBody>
                  <a:tcPr marL="121868" marR="121868" marT="121868" marB="1218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just" rtl="0">
                        <a:spcBef>
                          <a:spcPts val="0"/>
                        </a:spcBef>
                        <a:buNone/>
                      </a:pPr>
                      <a:r>
                        <a:rPr lang="en" sz="2000"/>
                        <a:t>Forbidden (The server understood the request, but is refusing it or the access is not allowed)</a:t>
                      </a:r>
                    </a:p>
                  </a:txBody>
                  <a:tcPr marL="121868" marR="121868" marT="121868" marB="1218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293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buNone/>
                      </a:pPr>
                      <a:r>
                        <a:rPr lang="en" sz="2000"/>
                        <a:t>201</a:t>
                      </a:r>
                    </a:p>
                  </a:txBody>
                  <a:tcPr marL="121868" marR="121868" marT="121868" marB="1218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buNone/>
                      </a:pPr>
                      <a:r>
                        <a:rPr lang="en" sz="2000"/>
                        <a:t>OK (New resource has been created)</a:t>
                      </a:r>
                    </a:p>
                  </a:txBody>
                  <a:tcPr marL="121868" marR="121868" marT="121868" marB="1218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just" rtl="0">
                        <a:spcBef>
                          <a:spcPts val="0"/>
                        </a:spcBef>
                        <a:buNone/>
                      </a:pPr>
                      <a:r>
                        <a:rPr lang="en" sz="2000"/>
                        <a:t>404</a:t>
                      </a:r>
                    </a:p>
                  </a:txBody>
                  <a:tcPr marL="121868" marR="121868" marT="121868" marB="1218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just" rtl="0">
                        <a:spcBef>
                          <a:spcPts val="0"/>
                        </a:spcBef>
                        <a:buNone/>
                      </a:pPr>
                      <a:r>
                        <a:rPr lang="en" sz="2000"/>
                        <a:t>Not found (There is no resource behind the URI)</a:t>
                      </a:r>
                    </a:p>
                  </a:txBody>
                  <a:tcPr marL="121868" marR="121868" marT="121868" marB="1218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502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buNone/>
                      </a:pPr>
                      <a:r>
                        <a:rPr lang="en" sz="2000"/>
                        <a:t>204</a:t>
                      </a:r>
                    </a:p>
                  </a:txBody>
                  <a:tcPr marL="121868" marR="121868" marT="121868" marB="1218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buNone/>
                      </a:pPr>
                      <a:r>
                        <a:rPr lang="en" sz="2000"/>
                        <a:t>OK (Resource successfully deleted)</a:t>
                      </a:r>
                    </a:p>
                  </a:txBody>
                  <a:tcPr marL="121868" marR="121868" marT="121868" marB="1218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000"/>
                        <a:t>405</a:t>
                      </a:r>
                    </a:p>
                  </a:txBody>
                  <a:tcPr marL="121868" marR="121868" marT="121868" marB="1218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2000"/>
                        <a:t>Method not allowed</a:t>
                      </a:r>
                    </a:p>
                  </a:txBody>
                  <a:tcPr marL="121868" marR="121868" marT="121868" marB="1218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buNone/>
                      </a:pPr>
                      <a:r>
                        <a:rPr lang="en" sz="2000"/>
                        <a:t>400</a:t>
                      </a:r>
                    </a:p>
                  </a:txBody>
                  <a:tcPr marL="121868" marR="121868" marT="121868" marB="1218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buNone/>
                      </a:pPr>
                      <a:r>
                        <a:rPr lang="en" sz="2000"/>
                        <a:t>Bad Request  (The request was invalid or cannot be served. The exact error should be explained in the error payload. E.g. „The JSON is not valid“)</a:t>
                      </a:r>
                    </a:p>
                  </a:txBody>
                  <a:tcPr marL="121868" marR="121868" marT="121868" marB="1218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just" rtl="0">
                        <a:spcBef>
                          <a:spcPts val="0"/>
                        </a:spcBef>
                        <a:buNone/>
                      </a:pPr>
                      <a:r>
                        <a:rPr lang="en" sz="2000" dirty="0"/>
                        <a:t>408</a:t>
                      </a:r>
                    </a:p>
                  </a:txBody>
                  <a:tcPr marL="121868" marR="121868" marT="121868" marB="1218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just" rtl="0">
                        <a:spcBef>
                          <a:spcPts val="0"/>
                        </a:spcBef>
                        <a:buNone/>
                      </a:pPr>
                      <a:r>
                        <a:rPr lang="en" sz="2000" dirty="0"/>
                        <a:t>Request timeout</a:t>
                      </a:r>
                    </a:p>
                  </a:txBody>
                  <a:tcPr marL="121868" marR="121868" marT="121868" marB="1218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4727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buNone/>
                      </a:pPr>
                      <a:r>
                        <a:rPr lang="en" sz="2000"/>
                        <a:t>401</a:t>
                      </a:r>
                    </a:p>
                  </a:txBody>
                  <a:tcPr marL="121868" marR="121868" marT="121868" marB="1218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buNone/>
                      </a:pPr>
                      <a:r>
                        <a:rPr lang="en" sz="2000"/>
                        <a:t>Unauthorized (The request requires an user authentication)</a:t>
                      </a:r>
                    </a:p>
                  </a:txBody>
                  <a:tcPr marL="121868" marR="121868" marT="121868" marB="1218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buNone/>
                      </a:pPr>
                      <a:r>
                        <a:rPr lang="en" sz="2000"/>
                        <a:t>500</a:t>
                      </a:r>
                    </a:p>
                  </a:txBody>
                  <a:tcPr marL="121868" marR="121868" marT="121868" marB="1218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buNone/>
                      </a:pPr>
                      <a:r>
                        <a:rPr lang="en" sz="2000" dirty="0"/>
                        <a:t>Internal server error</a:t>
                      </a:r>
                    </a:p>
                  </a:txBody>
                  <a:tcPr marL="121868" marR="121868" marT="121868" marB="1218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>
            <a:spLocks noGrp="1"/>
          </p:cNvSpPr>
          <p:nvPr>
            <p:ph type="title"/>
          </p:nvPr>
        </p:nvSpPr>
        <p:spPr>
          <a:xfrm>
            <a:off x="865972" y="457200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Filtering: </a:t>
            </a:r>
          </a:p>
        </p:txBody>
      </p:sp>
      <p:sp>
        <p:nvSpPr>
          <p:cNvPr id="211" name="Shape 211"/>
          <p:cNvSpPr txBox="1">
            <a:spLocks noGrp="1"/>
          </p:cNvSpPr>
          <p:nvPr>
            <p:ph type="body" idx="1"/>
          </p:nvPr>
        </p:nvSpPr>
        <p:spPr>
          <a:xfrm>
            <a:off x="415492" y="1688887"/>
            <a:ext cx="11357841" cy="4402453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pPr marL="876224" indent="-571500">
              <a:buFont typeface="Wingdings" panose="05000000000000000000" pitchFamily="2" charset="2"/>
              <a:buChar char="q"/>
            </a:pPr>
            <a:r>
              <a:rPr lang="en" sz="3600" dirty="0"/>
              <a:t>Use a unique query parameter for all fields or a query language for filtering.</a:t>
            </a:r>
          </a:p>
          <a:p>
            <a:pPr marL="876224" indent="-571500">
              <a:buFont typeface="Wingdings" panose="05000000000000000000" pitchFamily="2" charset="2"/>
              <a:buChar char="q"/>
            </a:pPr>
            <a:endParaRPr lang="en" sz="3600" dirty="0"/>
          </a:p>
          <a:p>
            <a:pPr marL="1138258" lvl="2" indent="-571500">
              <a:buFont typeface="Wingdings" panose="05000000000000000000" pitchFamily="2" charset="2"/>
              <a:buChar char="q"/>
            </a:pPr>
            <a:r>
              <a:rPr lang="en" sz="3001" dirty="0"/>
              <a:t>GET /cars?color=red  (Returns a list of red cars)</a:t>
            </a:r>
          </a:p>
          <a:p>
            <a:pPr marL="1138258" lvl="2" indent="-571500">
              <a:buFont typeface="Wingdings" panose="05000000000000000000" pitchFamily="2" charset="2"/>
              <a:buChar char="q"/>
            </a:pPr>
            <a:r>
              <a:rPr lang="en" sz="3600" dirty="0"/>
              <a:t>GET /users?name=tom  (Returns a list of users whose name matches tom)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 txBox="1">
            <a:spLocks noGrp="1"/>
          </p:cNvSpPr>
          <p:nvPr>
            <p:ph type="title"/>
          </p:nvPr>
        </p:nvSpPr>
        <p:spPr>
          <a:xfrm>
            <a:off x="989012" y="457200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Sorting:</a:t>
            </a:r>
          </a:p>
        </p:txBody>
      </p:sp>
      <p:sp>
        <p:nvSpPr>
          <p:cNvPr id="217" name="Shape 217"/>
          <p:cNvSpPr txBox="1">
            <a:spLocks noGrp="1"/>
          </p:cNvSpPr>
          <p:nvPr>
            <p:ph type="body" idx="1"/>
          </p:nvPr>
        </p:nvSpPr>
        <p:spPr>
          <a:xfrm>
            <a:off x="415492" y="1688887"/>
            <a:ext cx="11357841" cy="4402453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pPr marL="876224" indent="-571500">
              <a:buFont typeface="Wingdings" panose="05000000000000000000" pitchFamily="2" charset="2"/>
              <a:buChar char="q"/>
            </a:pPr>
            <a:r>
              <a:rPr lang="en" sz="3600" dirty="0"/>
              <a:t>Allow ascending and descending sorting over multiple fields.</a:t>
            </a:r>
          </a:p>
          <a:p>
            <a:pPr indent="609448">
              <a:buNone/>
            </a:pPr>
            <a:r>
              <a:rPr lang="en" sz="3600" dirty="0"/>
              <a:t>GET  /cars?sort=-manufacturer,+model  </a:t>
            </a:r>
          </a:p>
          <a:p>
            <a:pPr marL="609448" indent="-304724"/>
            <a:r>
              <a:rPr lang="en" sz="3600" dirty="0"/>
              <a:t>This returns a list of cars sorted by descending manufacturers and ascending models)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>
            <a:spLocks noGrp="1"/>
          </p:cNvSpPr>
          <p:nvPr>
            <p:ph type="title"/>
          </p:nvPr>
        </p:nvSpPr>
        <p:spPr>
          <a:xfrm>
            <a:off x="1065212" y="381000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Paging:</a:t>
            </a:r>
          </a:p>
        </p:txBody>
      </p:sp>
      <p:sp>
        <p:nvSpPr>
          <p:cNvPr id="223" name="Shape 223"/>
          <p:cNvSpPr txBox="1">
            <a:spLocks noGrp="1"/>
          </p:cNvSpPr>
          <p:nvPr>
            <p:ph type="body" idx="1"/>
          </p:nvPr>
        </p:nvSpPr>
        <p:spPr>
          <a:xfrm>
            <a:off x="415492" y="1688887"/>
            <a:ext cx="11357841" cy="4402453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pPr marL="876224" indent="-571500">
              <a:buFont typeface="Wingdings" panose="05000000000000000000" pitchFamily="2" charset="2"/>
              <a:buChar char="q"/>
            </a:pPr>
            <a:r>
              <a:rPr lang="en" sz="4000" dirty="0"/>
              <a:t>Use limit and offset. It is flexible for the user and common in leading databases. </a:t>
            </a:r>
          </a:p>
          <a:p>
            <a:pPr marL="609448" indent="-304724"/>
            <a:r>
              <a:rPr lang="en" sz="4000" dirty="0"/>
              <a:t>The default should be limit=20 and offset=0</a:t>
            </a:r>
          </a:p>
          <a:p>
            <a:pPr indent="609448">
              <a:buNone/>
            </a:pPr>
            <a:r>
              <a:rPr lang="en" sz="4000" dirty="0"/>
              <a:t>GET /cars?offset=10&amp;limit=5</a:t>
            </a:r>
            <a:br>
              <a:rPr lang="en" sz="4000" dirty="0"/>
            </a:br>
            <a:endParaRPr lang="en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 txBox="1">
            <a:spLocks noGrp="1"/>
          </p:cNvSpPr>
          <p:nvPr>
            <p:ph type="title"/>
          </p:nvPr>
        </p:nvSpPr>
        <p:spPr>
          <a:xfrm>
            <a:off x="1065212" y="381000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Aliases for common queries:</a:t>
            </a:r>
          </a:p>
        </p:txBody>
      </p:sp>
      <p:sp>
        <p:nvSpPr>
          <p:cNvPr id="229" name="Shape 229"/>
          <p:cNvSpPr txBox="1">
            <a:spLocks noGrp="1"/>
          </p:cNvSpPr>
          <p:nvPr>
            <p:ph type="body" idx="1"/>
          </p:nvPr>
        </p:nvSpPr>
        <p:spPr>
          <a:xfrm>
            <a:off x="415492" y="1688887"/>
            <a:ext cx="11357841" cy="4402453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pPr marL="876224" indent="-571500">
              <a:buFont typeface="Wingdings" panose="05000000000000000000" pitchFamily="2" charset="2"/>
              <a:buChar char="q"/>
            </a:pPr>
            <a:r>
              <a:rPr lang="en" sz="3600" dirty="0"/>
              <a:t>To make the API experience more pleasant for the average consumer, consider packaging up sets of conditions into easily accessible RESTful paths.</a:t>
            </a:r>
          </a:p>
          <a:p>
            <a:pPr marL="609448" indent="-304724"/>
            <a:r>
              <a:rPr lang="en" sz="3600" dirty="0"/>
              <a:t>For example consider following use case:</a:t>
            </a:r>
          </a:p>
          <a:p>
            <a:pPr marL="609448" indent="0">
              <a:buNone/>
            </a:pPr>
            <a:r>
              <a:rPr lang="en" sz="3600" dirty="0"/>
              <a:t>POST /users (User Register: Creates a new user)</a:t>
            </a:r>
          </a:p>
          <a:p>
            <a:pPr marL="609448" indent="0">
              <a:buNone/>
            </a:pPr>
            <a:r>
              <a:rPr lang="en" sz="3600" dirty="0"/>
              <a:t>POST /users/login (User Login: Creates auth token for user authentication)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 txBox="1">
            <a:spLocks noGrp="1"/>
          </p:cNvSpPr>
          <p:nvPr>
            <p:ph type="title"/>
          </p:nvPr>
        </p:nvSpPr>
        <p:spPr>
          <a:xfrm>
            <a:off x="838540" y="457200"/>
            <a:ext cx="11357841" cy="942954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r>
              <a:rPr lang="en" dirty="0"/>
              <a:t>Want to develop REST APIs easily???</a:t>
            </a:r>
          </a:p>
        </p:txBody>
      </p:sp>
      <p:sp>
        <p:nvSpPr>
          <p:cNvPr id="235" name="Shape 235"/>
          <p:cNvSpPr txBox="1">
            <a:spLocks noGrp="1"/>
          </p:cNvSpPr>
          <p:nvPr>
            <p:ph type="body" idx="1"/>
          </p:nvPr>
        </p:nvSpPr>
        <p:spPr>
          <a:xfrm>
            <a:off x="1141412" y="1600200"/>
            <a:ext cx="11357841" cy="4402453"/>
          </a:xfrm>
          <a:prstGeom prst="rect">
            <a:avLst/>
          </a:prstGeom>
        </p:spPr>
        <p:txBody>
          <a:bodyPr vert="horz" lIns="121868" tIns="121868" rIns="121868" bIns="121868" rtlCol="0" anchor="t" anchorCtr="0">
            <a:noAutofit/>
          </a:bodyPr>
          <a:lstStyle/>
          <a:p>
            <a:pPr>
              <a:buNone/>
            </a:pPr>
            <a:endParaRPr dirty="0"/>
          </a:p>
          <a:p>
            <a:pPr marL="609448" indent="-304724"/>
            <a:r>
              <a:rPr lang="en" dirty="0"/>
              <a:t>Checkout Slim - A microframework for php.</a:t>
            </a:r>
          </a:p>
          <a:p>
            <a:pPr>
              <a:buNone/>
            </a:pPr>
            <a:r>
              <a:rPr lang="en" dirty="0"/>
              <a:t>	Documentation: 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https://www.slimframework.com/docs/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Introduction To CoAP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The Constrained Application Protocol (CoAP) is a specialized web transfer protocol for use with constrained devices(such as microcontrollers) and constrained networks in the 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Internet of Things.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This protocol is designed for machine-to-machine (M2M) applications such as smart energy and building automation.</a:t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2" y="180956"/>
            <a:ext cx="8229600" cy="1066800"/>
          </a:xfrm>
        </p:spPr>
        <p:txBody>
          <a:bodyPr>
            <a:normAutofit/>
          </a:bodyPr>
          <a:lstStyle/>
          <a:p>
            <a:r>
              <a:rPr lang="en-US" b="1" dirty="0"/>
              <a:t>Architecture Of CoAP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5812" y="1524000"/>
            <a:ext cx="7715304" cy="414340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 It is specified in RFC 7252.It is open IETF standard 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 It is very efficient </a:t>
            </a:r>
            <a:r>
              <a:rPr lang="en-US" sz="2200" dirty="0" err="1">
                <a:latin typeface="Arial" pitchFamily="34" charset="0"/>
                <a:cs typeface="Arial" pitchFamily="34" charset="0"/>
              </a:rPr>
              <a:t>RESTful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 protocol.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 Easy to proxy to/from HTTP.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 It is Embedded web transfer protocol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 It uses asynchronous transaction model. 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 UDP is binding with reliability and multicast support. 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 GET, POST, PUT and DELETE methods are used. 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 uses subset of MIME types and HTTP response codes. 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 Uses built in discovery mechanism.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2" y="150003"/>
            <a:ext cx="8229600" cy="1066800"/>
          </a:xfrm>
        </p:spPr>
        <p:txBody>
          <a:bodyPr/>
          <a:lstStyle/>
          <a:p>
            <a:r>
              <a:rPr lang="en-US" b="1" dirty="0"/>
              <a:t>Architecture Of CoAP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7612" y="1266444"/>
            <a:ext cx="8229600" cy="43251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URI is supported. 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 It uses small and simple 4 byte header. 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Supports binding to UDP, SMS and TCP. 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 DTLS based PSK, RPK and certificate security is used. </a:t>
            </a:r>
          </a:p>
          <a:p>
            <a:endParaRPr lang="en-US" sz="2000" dirty="0"/>
          </a:p>
        </p:txBody>
      </p:sp>
      <p:pic>
        <p:nvPicPr>
          <p:cNvPr id="4" name="Picture 2" descr="CoAP Architectur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57642" y="3124200"/>
            <a:ext cx="6494646" cy="31242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2" y="228600"/>
            <a:ext cx="8382000" cy="1069848"/>
          </a:xfrm>
        </p:spPr>
        <p:txBody>
          <a:bodyPr/>
          <a:lstStyle/>
          <a:p>
            <a:r>
              <a:rPr lang="en-IN" b="1" dirty="0"/>
              <a:t>CoAP Structure</a:t>
            </a:r>
            <a:endParaRPr lang="en-US" b="1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2"/>
          </p:nvPr>
        </p:nvSpPr>
        <p:spPr>
          <a:xfrm>
            <a:off x="1217611" y="1298448"/>
            <a:ext cx="4662487" cy="4797552"/>
          </a:xfrm>
        </p:spPr>
        <p:txBody>
          <a:bodyPr>
            <a:normAutofit/>
          </a:bodyPr>
          <a:lstStyle/>
          <a:p>
            <a:r>
              <a:rPr lang="en-US" dirty="0"/>
              <a:t>There are two different layers that make CoAP protocol: </a:t>
            </a:r>
          </a:p>
          <a:p>
            <a:r>
              <a:rPr lang="en-US" dirty="0"/>
              <a:t>1)Messages </a:t>
            </a:r>
          </a:p>
          <a:p>
            <a:r>
              <a:rPr lang="en-US" dirty="0"/>
              <a:t>2)Request/Response.</a:t>
            </a:r>
          </a:p>
          <a:p>
            <a:endParaRPr lang="en-US" dirty="0"/>
          </a:p>
          <a:p>
            <a:r>
              <a:rPr lang="en-US" dirty="0"/>
              <a:t> The </a:t>
            </a:r>
            <a:r>
              <a:rPr lang="en-US" b="1" dirty="0"/>
              <a:t>Messages layer</a:t>
            </a:r>
            <a:r>
              <a:rPr lang="en-US" dirty="0"/>
              <a:t> deals with UDP and with asynchronous messages.</a:t>
            </a:r>
          </a:p>
          <a:p>
            <a:endParaRPr lang="en-US" dirty="0"/>
          </a:p>
          <a:p>
            <a:r>
              <a:rPr lang="en-US" dirty="0"/>
              <a:t> The </a:t>
            </a:r>
            <a:r>
              <a:rPr lang="en-US" b="1" dirty="0"/>
              <a:t>Request/Response layer </a:t>
            </a:r>
            <a:r>
              <a:rPr lang="en-US" dirty="0"/>
              <a:t>manages request/response interaction based on request/response messages.</a:t>
            </a:r>
          </a:p>
        </p:txBody>
      </p:sp>
      <p:pic>
        <p:nvPicPr>
          <p:cNvPr id="1026" name="Picture 2" descr="Image result for coap protoco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01044" y="1449058"/>
            <a:ext cx="4357686" cy="415054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CoAP Structure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>
                <a:latin typeface="Arial" pitchFamily="34" charset="0"/>
                <a:cs typeface="Arial" pitchFamily="34" charset="0"/>
              </a:rPr>
              <a:t>Message layer supports 4 types of messages: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Confirmable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Non-confirmable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Acknowledgment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Reset</a:t>
            </a:r>
          </a:p>
          <a:p>
            <a:pPr marL="457200" indent="-457200"/>
            <a:r>
              <a:rPr lang="en-IN" sz="2200" dirty="0">
                <a:latin typeface="Arial" pitchFamily="34" charset="0"/>
                <a:cs typeface="Arial" pitchFamily="34" charset="0"/>
              </a:rPr>
              <a:t>Message layer is meant for Re-transmitting lost packets. Request/Response layer contains methods like GET,PUT,POST and DELETE.</a:t>
            </a:r>
            <a:endParaRPr lang="en-US" sz="2200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buNone/>
            </a:pPr>
            <a:endParaRPr lang="en-US" sz="2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Terms in CoAP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b="1" dirty="0">
                <a:latin typeface="Arial" pitchFamily="34" charset="0"/>
                <a:cs typeface="Arial" pitchFamily="34" charset="0"/>
              </a:rPr>
              <a:t>Client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: The entity that sends a request and the destination of the response</a:t>
            </a:r>
          </a:p>
          <a:p>
            <a:r>
              <a:rPr lang="en-US" sz="2200" b="1" dirty="0">
                <a:latin typeface="Arial" pitchFamily="34" charset="0"/>
                <a:cs typeface="Arial" pitchFamily="34" charset="0"/>
              </a:rPr>
              <a:t>Server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: The entity that receives a request from a client and sends back a response to the client</a:t>
            </a:r>
          </a:p>
          <a:p>
            <a:r>
              <a:rPr lang="en-US" sz="2200" b="1" dirty="0">
                <a:latin typeface="Arial" pitchFamily="34" charset="0"/>
                <a:cs typeface="Arial" pitchFamily="34" charset="0"/>
              </a:rPr>
              <a:t>Endpoint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: An entity that participates in the CoAP protocol. Usually, an Endpoint is identified with a host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Arial" pitchFamily="34" charset="0"/>
                <a:cs typeface="Arial" pitchFamily="34" charset="0"/>
              </a:rPr>
              <a:t>Sender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: The entity that sends a message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Arial" pitchFamily="34" charset="0"/>
                <a:cs typeface="Arial" pitchFamily="34" charset="0"/>
              </a:rPr>
              <a:t>Recipient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: The destination of a message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9012" y="152400"/>
            <a:ext cx="8229600" cy="1066800"/>
          </a:xfrm>
        </p:spPr>
        <p:txBody>
          <a:bodyPr>
            <a:noAutofit/>
          </a:bodyPr>
          <a:lstStyle/>
          <a:p>
            <a:r>
              <a:rPr lang="en-US" sz="4500" dirty="0"/>
              <a:t>CoAP Messages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0012" y="1524000"/>
            <a:ext cx="10055781" cy="4693004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Arial" pitchFamily="34" charset="0"/>
                <a:cs typeface="Arial" pitchFamily="34" charset="0"/>
              </a:rPr>
              <a:t>This is the lowest layer of CoAP.</a:t>
            </a:r>
          </a:p>
          <a:p>
            <a:r>
              <a:rPr lang="en-US" sz="2200" dirty="0">
                <a:latin typeface="Arial" pitchFamily="34" charset="0"/>
                <a:cs typeface="Arial" pitchFamily="34" charset="0"/>
              </a:rPr>
              <a:t> This layer deals with UDP exchanging messages between endpoints. </a:t>
            </a:r>
          </a:p>
          <a:p>
            <a:r>
              <a:rPr lang="en-US" sz="2200" dirty="0">
                <a:latin typeface="Arial" pitchFamily="34" charset="0"/>
                <a:cs typeface="Arial" pitchFamily="34" charset="0"/>
              </a:rPr>
              <a:t>Each CoAP message has a unique ID; this is useful to detect message duplicates. </a:t>
            </a:r>
          </a:p>
          <a:p>
            <a:r>
              <a:rPr lang="en-US" sz="2200" dirty="0">
                <a:latin typeface="Arial" pitchFamily="34" charset="0"/>
                <a:cs typeface="Arial" pitchFamily="34" charset="0"/>
              </a:rPr>
              <a:t>The CoAP protocol uses two kinds of messages:</a:t>
            </a:r>
          </a:p>
          <a:p>
            <a:pPr marL="859536" lvl="1" indent="-457200">
              <a:buFont typeface="+mj-lt"/>
              <a:buAutoNum type="arabicPeriod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Confirmable message -</a:t>
            </a:r>
            <a:r>
              <a:rPr lang="en-US" sz="2000" dirty="0"/>
              <a:t> this is a reliable message.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859536" lvl="1" indent="-457200">
              <a:buFont typeface="+mj-lt"/>
              <a:buAutoNum type="arabicPeriod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Non-confirmable message-this are unreliable messages.</a:t>
            </a:r>
          </a:p>
          <a:p>
            <a:endParaRPr lang="en-US" sz="2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66521" y="-152400"/>
            <a:ext cx="10055781" cy="1450757"/>
          </a:xfrm>
        </p:spPr>
        <p:txBody>
          <a:bodyPr>
            <a:normAutofit/>
          </a:bodyPr>
          <a:lstStyle/>
          <a:p>
            <a:r>
              <a:rPr lang="en-US" dirty="0"/>
              <a:t>CoAP Messages Model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2"/>
          </p:nvPr>
        </p:nvSpPr>
        <p:spPr>
          <a:xfrm>
            <a:off x="1217612" y="1524000"/>
            <a:ext cx="4041648" cy="4308727"/>
          </a:xfrm>
        </p:spPr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In CoAP, a reliable message is obtained using a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Confirmable message (CON). 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 Confirmable message is sent again and again until the other party sends an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acknowledge message (ACK). </a:t>
            </a:r>
            <a:r>
              <a:rPr lang="en-US" dirty="0">
                <a:latin typeface="Arial" pitchFamily="34" charset="0"/>
                <a:cs typeface="Arial" pitchFamily="34" charset="0"/>
              </a:rPr>
              <a:t>The ACK message contains the same ID of the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confirmable message (CON).</a:t>
            </a:r>
          </a:p>
        </p:txBody>
      </p:sp>
      <p:pic>
        <p:nvPicPr>
          <p:cNvPr id="18434" name="Picture 2" descr="coap messages ac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4411" y="1508760"/>
            <a:ext cx="4357718" cy="417195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521" y="-228600"/>
            <a:ext cx="10055781" cy="1450757"/>
          </a:xfrm>
        </p:spPr>
        <p:txBody>
          <a:bodyPr>
            <a:normAutofit/>
          </a:bodyPr>
          <a:lstStyle/>
          <a:p>
            <a:r>
              <a:rPr lang="en-US" dirty="0"/>
              <a:t>CoAP Messages Model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522412" y="1677173"/>
            <a:ext cx="4041648" cy="4451603"/>
          </a:xfrm>
        </p:spPr>
        <p:txBody>
          <a:bodyPr/>
          <a:lstStyle/>
          <a:p>
            <a:r>
              <a:rPr lang="en-US" dirty="0"/>
              <a:t>if the server has troubles managing the incoming request, it can send back a </a:t>
            </a:r>
            <a:r>
              <a:rPr lang="en-US" b="1" dirty="0"/>
              <a:t>Rest message (RST)</a:t>
            </a:r>
            <a:r>
              <a:rPr lang="en-US" dirty="0"/>
              <a:t> instead of the Acknowledge message (ACK)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2050" name="Picture 2" descr="coap messages reset (RST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28970" y="1677173"/>
            <a:ext cx="4708423" cy="400052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2" y="128005"/>
            <a:ext cx="8382000" cy="1069848"/>
          </a:xfrm>
        </p:spPr>
        <p:txBody>
          <a:bodyPr/>
          <a:lstStyle/>
          <a:p>
            <a:r>
              <a:rPr lang="en-US" dirty="0"/>
              <a:t>CoAP Messages Model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065212" y="1447800"/>
            <a:ext cx="4333876" cy="4665917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The other message category is the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Non-confirmable (NON)</a:t>
            </a:r>
            <a:r>
              <a:rPr lang="en-US" dirty="0">
                <a:latin typeface="Arial" pitchFamily="34" charset="0"/>
                <a:cs typeface="Arial" pitchFamily="34" charset="0"/>
              </a:rPr>
              <a:t> messages. These are messages that don’t require an Acknowledge by the server. 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They are unreliable messages or in other words messages that do not contain critical information that must be delivered to the server. 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To this category belongs messages that contain values read from sensors.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Even if these messages are unreliable, they have a unique ID.</a:t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 descr="coap messages n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18212" y="1234429"/>
            <a:ext cx="4167174" cy="478634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CoAP Request/Response Model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3412" y="1928803"/>
            <a:ext cx="8262966" cy="4665917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Arial" pitchFamily="34" charset="0"/>
                <a:cs typeface="Arial" pitchFamily="34" charset="0"/>
              </a:rPr>
              <a:t>The CoAP Request/Response is the second layer in the CoAP abstraction layer.</a:t>
            </a:r>
          </a:p>
          <a:p>
            <a:r>
              <a:rPr lang="en-US" sz="2200" dirty="0">
                <a:latin typeface="Arial" pitchFamily="34" charset="0"/>
                <a:cs typeface="Arial" pitchFamily="34" charset="0"/>
              </a:rPr>
              <a:t>The request is sent using a Confirmable (CON) or Non-Confirmable (NON) message. </a:t>
            </a:r>
          </a:p>
          <a:p>
            <a:r>
              <a:rPr lang="en-US" sz="2200" dirty="0">
                <a:latin typeface="Arial" pitchFamily="34" charset="0"/>
                <a:cs typeface="Arial" pitchFamily="34" charset="0"/>
              </a:rPr>
              <a:t>There are several scenarios depending on if the server can answer immediately to the client request or the answer if not available.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989012" y="2286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/>
              <a:t>CoAP Request/Response Model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If the server can answer immediately to the client request, then if the request is carried using a Confirmable message (CON), the server sends back to the client an Acknowledge message containing the response or the error code.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The Token </a:t>
            </a:r>
            <a:r>
              <a:rPr lang="en-US" dirty="0">
                <a:latin typeface="Arial" pitchFamily="34" charset="0"/>
                <a:cs typeface="Arial" pitchFamily="34" charset="0"/>
              </a:rPr>
              <a:t>is different from the Message-ID and it is used to match the request and the response.</a:t>
            </a:r>
          </a:p>
        </p:txBody>
      </p:sp>
      <p:pic>
        <p:nvPicPr>
          <p:cNvPr id="23554" name="Picture 2" descr="request ack con"/>
          <p:cNvPicPr>
            <a:picLocks noChangeAspect="1" noChangeArrowheads="1"/>
          </p:cNvPicPr>
          <p:nvPr/>
        </p:nvPicPr>
        <p:blipFill>
          <a:blip r:embed="rId2"/>
          <a:srcRect l="3467" t="4902" r="1771" b="5228"/>
          <a:stretch>
            <a:fillRect/>
          </a:stretch>
        </p:blipFill>
        <p:spPr bwMode="auto">
          <a:xfrm>
            <a:off x="6165818" y="1928802"/>
            <a:ext cx="4357750" cy="392909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9012" y="212287"/>
            <a:ext cx="8229600" cy="1066800"/>
          </a:xfrm>
        </p:spPr>
        <p:txBody>
          <a:bodyPr/>
          <a:lstStyle/>
          <a:p>
            <a:r>
              <a:rPr lang="en-US" dirty="0"/>
              <a:t>CoAP Request/Response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If the server can’t answer to the request coming from the client immediately, then it sends an Acknowledge message with an empty response. 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As soon as the response is available, then the server sends a new Confirmable message to the client containing the response.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 At this point, the client sends back an Acknowledge message:</a:t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6626" name="Picture 2" descr="request ack con async"/>
          <p:cNvPicPr>
            <a:picLocks noChangeAspect="1" noChangeArrowheads="1"/>
          </p:cNvPicPr>
          <p:nvPr/>
        </p:nvPicPr>
        <p:blipFill>
          <a:blip r:embed="rId2"/>
          <a:srcRect t="2778" r="2857"/>
          <a:stretch>
            <a:fillRect/>
          </a:stretch>
        </p:blipFill>
        <p:spPr bwMode="auto">
          <a:xfrm>
            <a:off x="6155359" y="1219200"/>
            <a:ext cx="4429155" cy="500063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9012" y="2286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/>
              <a:t>CoAP Message Format</a:t>
            </a:r>
          </a:p>
        </p:txBody>
      </p:sp>
      <p:pic>
        <p:nvPicPr>
          <p:cNvPr id="27650" name="Picture 2" descr="coap message forma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4812" y="1295400"/>
            <a:ext cx="8534400" cy="2419351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227012" y="3714751"/>
            <a:ext cx="828680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Where:</a:t>
            </a:r>
          </a:p>
          <a:p>
            <a:r>
              <a:rPr lang="en-US" b="1" dirty="0" err="1"/>
              <a:t>Ver</a:t>
            </a:r>
            <a:r>
              <a:rPr lang="en-US" dirty="0"/>
              <a:t>: It is a 2 bit unsigned integer indicating the version</a:t>
            </a:r>
          </a:p>
          <a:p>
            <a:r>
              <a:rPr lang="en-US" b="1" dirty="0"/>
              <a:t> T</a:t>
            </a:r>
            <a:r>
              <a:rPr lang="en-US" dirty="0"/>
              <a:t>:     it is a 2 bit unsigned integer indicating the message type: 0 confirmable, 1    	non-confirmable</a:t>
            </a:r>
          </a:p>
          <a:p>
            <a:r>
              <a:rPr lang="en-US" b="1" dirty="0"/>
              <a:t>TKL</a:t>
            </a:r>
            <a:r>
              <a:rPr lang="en-US" dirty="0"/>
              <a:t>: Token Length is the token 4 bit length</a:t>
            </a:r>
          </a:p>
          <a:p>
            <a:r>
              <a:rPr lang="en-US" b="1" dirty="0"/>
              <a:t>Code</a:t>
            </a:r>
            <a:r>
              <a:rPr lang="en-US" dirty="0"/>
              <a:t>: It is the code response (8 bit length)</a:t>
            </a:r>
          </a:p>
          <a:p>
            <a:r>
              <a:rPr lang="en-US" b="1" dirty="0"/>
              <a:t>Message ID</a:t>
            </a:r>
            <a:r>
              <a:rPr lang="en-US" dirty="0"/>
              <a:t>: It is the message ID expressed with 16 bit</a:t>
            </a:r>
          </a:p>
          <a:p>
            <a:r>
              <a:rPr lang="en-US" dirty="0"/>
              <a:t>And so 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94C78E-38F2-E5D7-3E48-0977FE9D3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012" y="4776678"/>
            <a:ext cx="6106377" cy="15718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9012" y="-152400"/>
            <a:ext cx="10055781" cy="1450757"/>
          </a:xfrm>
        </p:spPr>
        <p:txBody>
          <a:bodyPr>
            <a:normAutofit/>
          </a:bodyPr>
          <a:lstStyle/>
          <a:p>
            <a:r>
              <a:rPr lang="en-US" dirty="0"/>
              <a:t>CoAP Security Aspects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9796" y="1328837"/>
            <a:ext cx="4471990" cy="4525963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CoAP uses UDP to transport information. CoAP relies on UDP security aspects to protect the information.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As HTTP uses TLS over TCP,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CoAP uses Datagram TLS over UDP. </a:t>
            </a:r>
            <a:r>
              <a:rPr lang="en-US" dirty="0">
                <a:latin typeface="Arial" pitchFamily="34" charset="0"/>
                <a:cs typeface="Arial" pitchFamily="34" charset="0"/>
              </a:rPr>
              <a:t>DTLS supports RSA, AES, and so on. 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Anyway, we should consider that in some constrained devices some of DTLS cipher suits may not be available. 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It is important to notice that some cipher suites introduces some complexity and constrained devices may not have resources enough to manage it.</a:t>
            </a:r>
          </a:p>
        </p:txBody>
      </p:sp>
      <p:pic>
        <p:nvPicPr>
          <p:cNvPr id="28674" name="Picture 2" descr="secured coa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32612" y="1428736"/>
            <a:ext cx="2786082" cy="400052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113" y="629887"/>
            <a:ext cx="1190315" cy="573891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MQTT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113" y="2155979"/>
            <a:ext cx="6471504" cy="4046436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12696">
              <a:lnSpc>
                <a:spcPts val="2279"/>
              </a:lnSpc>
              <a:spcBef>
                <a:spcPts val="105"/>
              </a:spcBef>
              <a:tabLst>
                <a:tab pos="354859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MQTT</a:t>
            </a:r>
            <a:r>
              <a:rPr sz="1999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999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described</a:t>
            </a:r>
            <a:r>
              <a:rPr sz="1999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sz="19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999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mqtt.org</a:t>
            </a:r>
            <a:r>
              <a:rPr sz="19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site</a:t>
            </a:r>
            <a:r>
              <a:rPr sz="19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as</a:t>
            </a:r>
            <a:r>
              <a:rPr sz="19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999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spc="-10" dirty="0">
                <a:solidFill>
                  <a:srgbClr val="404040"/>
                </a:solidFill>
                <a:latin typeface="Trebuchet MS"/>
                <a:cs typeface="Trebuchet MS"/>
              </a:rPr>
              <a:t>machine-</a:t>
            </a:r>
            <a:endParaRPr sz="1999">
              <a:latin typeface="Trebuchet MS"/>
              <a:cs typeface="Trebuchet MS"/>
            </a:endParaRPr>
          </a:p>
          <a:p>
            <a:pPr marL="355493">
              <a:lnSpc>
                <a:spcPts val="2279"/>
              </a:lnSpc>
            </a:pPr>
            <a:r>
              <a:rPr sz="1999" spc="-10" dirty="0">
                <a:solidFill>
                  <a:srgbClr val="404040"/>
                </a:solidFill>
                <a:latin typeface="Trebuchet MS"/>
                <a:cs typeface="Trebuchet MS"/>
              </a:rPr>
              <a:t>to-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machine</a:t>
            </a:r>
            <a:r>
              <a:rPr sz="1999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(M2M)</a:t>
            </a:r>
            <a:r>
              <a:rPr sz="1999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/</a:t>
            </a:r>
            <a:r>
              <a:rPr sz="19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IoT</a:t>
            </a:r>
            <a:r>
              <a:rPr sz="1999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connectivity</a:t>
            </a:r>
            <a:r>
              <a:rPr sz="1999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spc="-10" dirty="0">
                <a:solidFill>
                  <a:srgbClr val="404040"/>
                </a:solidFill>
                <a:latin typeface="Trebuchet MS"/>
                <a:cs typeface="Trebuchet MS"/>
              </a:rPr>
              <a:t>protocol.</a:t>
            </a:r>
            <a:endParaRPr sz="1999">
              <a:latin typeface="Trebuchet MS"/>
              <a:cs typeface="Trebuchet MS"/>
            </a:endParaRPr>
          </a:p>
          <a:p>
            <a:pPr marL="355493" marR="682420" indent="-342797">
              <a:lnSpc>
                <a:spcPts val="2159"/>
              </a:lnSpc>
              <a:spcBef>
                <a:spcPts val="1030"/>
              </a:spcBef>
              <a:tabLst>
                <a:tab pos="354859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MQTT</a:t>
            </a:r>
            <a:r>
              <a:rPr sz="1999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999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19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Event</a:t>
            </a:r>
            <a:r>
              <a:rPr sz="19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based</a:t>
            </a:r>
            <a:r>
              <a:rPr sz="19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IoT</a:t>
            </a:r>
            <a:r>
              <a:rPr sz="1999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middleware</a:t>
            </a:r>
            <a:r>
              <a:rPr sz="19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(one</a:t>
            </a:r>
            <a:r>
              <a:rPr sz="19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spc="-25" dirty="0">
                <a:solidFill>
                  <a:srgbClr val="404040"/>
                </a:solidFill>
                <a:latin typeface="Trebuchet MS"/>
                <a:cs typeface="Trebuchet MS"/>
              </a:rPr>
              <a:t>to </a:t>
            </a:r>
            <a:r>
              <a:rPr sz="1999" spc="-20" dirty="0">
                <a:solidFill>
                  <a:srgbClr val="404040"/>
                </a:solidFill>
                <a:latin typeface="Trebuchet MS"/>
                <a:cs typeface="Trebuchet MS"/>
              </a:rPr>
              <a:t>many)</a:t>
            </a:r>
            <a:endParaRPr sz="1999">
              <a:latin typeface="Trebuchet MS"/>
              <a:cs typeface="Trebuchet MS"/>
            </a:endParaRPr>
          </a:p>
          <a:p>
            <a:pPr marL="469759">
              <a:spcBef>
                <a:spcPts val="755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59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publish/subscribe</a:t>
            </a:r>
            <a:r>
              <a:rPr sz="1799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messaging</a:t>
            </a:r>
            <a:r>
              <a:rPr sz="1799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transport</a:t>
            </a:r>
            <a:r>
              <a:rPr sz="1799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protocol</a:t>
            </a:r>
            <a:endParaRPr sz="1799">
              <a:latin typeface="Trebuchet MS"/>
              <a:cs typeface="Trebuchet MS"/>
            </a:endParaRPr>
          </a:p>
          <a:p>
            <a:pPr marL="469759">
              <a:spcBef>
                <a:spcPts val="795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15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Over</a:t>
            </a:r>
            <a:r>
              <a:rPr sz="1799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TCP/IP</a:t>
            </a:r>
            <a:r>
              <a:rPr sz="1799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(or</a:t>
            </a:r>
            <a:r>
              <a:rPr sz="1799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MQTT-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over</a:t>
            </a:r>
            <a:r>
              <a:rPr sz="1799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UDP</a:t>
            </a:r>
            <a:r>
              <a:rPr sz="1799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799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20" dirty="0">
                <a:solidFill>
                  <a:srgbClr val="404040"/>
                </a:solidFill>
                <a:latin typeface="Trebuchet MS"/>
                <a:cs typeface="Trebuchet MS"/>
              </a:rPr>
              <a:t>LAN)</a:t>
            </a:r>
            <a:endParaRPr sz="1799">
              <a:latin typeface="Trebuchet MS"/>
              <a:cs typeface="Trebuchet MS"/>
            </a:endParaRPr>
          </a:p>
          <a:p>
            <a:pPr marL="12696">
              <a:spcBef>
                <a:spcPts val="745"/>
              </a:spcBef>
              <a:tabLst>
                <a:tab pos="354859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Its</a:t>
            </a:r>
            <a:r>
              <a:rPr sz="1999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protocol</a:t>
            </a:r>
            <a:r>
              <a:rPr sz="19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999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spc="-10" dirty="0">
                <a:solidFill>
                  <a:srgbClr val="404040"/>
                </a:solidFill>
                <a:latin typeface="Trebuchet MS"/>
                <a:cs typeface="Trebuchet MS"/>
              </a:rPr>
              <a:t>lightweight</a:t>
            </a:r>
            <a:endParaRPr sz="1999">
              <a:latin typeface="Trebuchet MS"/>
              <a:cs typeface="Trebuchet MS"/>
            </a:endParaRPr>
          </a:p>
          <a:p>
            <a:pPr marL="469759">
              <a:lnSpc>
                <a:spcPts val="2049"/>
              </a:lnSpc>
              <a:spcBef>
                <a:spcPts val="790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8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799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1799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supported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some</a:t>
            </a:r>
            <a:r>
              <a:rPr sz="1799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99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smallest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measuring</a:t>
            </a:r>
            <a:endParaRPr sz="1799">
              <a:latin typeface="Trebuchet MS"/>
              <a:cs typeface="Trebuchet MS"/>
            </a:endParaRPr>
          </a:p>
          <a:p>
            <a:pPr marL="756058">
              <a:lnSpc>
                <a:spcPts val="2049"/>
              </a:lnSpc>
            </a:pP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monitoring</a:t>
            </a:r>
            <a:r>
              <a:rPr sz="1799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devices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(ex.</a:t>
            </a:r>
            <a:r>
              <a:rPr sz="1799" spc="-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Arduino)</a:t>
            </a:r>
            <a:endParaRPr sz="1799">
              <a:latin typeface="Trebuchet MS"/>
              <a:cs typeface="Trebuchet MS"/>
            </a:endParaRPr>
          </a:p>
          <a:p>
            <a:pPr marL="469759">
              <a:spcBef>
                <a:spcPts val="795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6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transmit</a:t>
            </a:r>
            <a:r>
              <a:rPr sz="1799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over</a:t>
            </a:r>
            <a:r>
              <a:rPr sz="1799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far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reaching</a:t>
            </a:r>
            <a:r>
              <a:rPr sz="1799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networks</a:t>
            </a:r>
            <a:endParaRPr sz="1799">
              <a:latin typeface="Trebuchet MS"/>
              <a:cs typeface="Trebuchet MS"/>
            </a:endParaRPr>
          </a:p>
          <a:p>
            <a:pPr marL="756058" marR="651949" indent="-286934">
              <a:lnSpc>
                <a:spcPts val="1938"/>
              </a:lnSpc>
              <a:spcBef>
                <a:spcPts val="1025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5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transmit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over</a:t>
            </a:r>
            <a:r>
              <a:rPr sz="1799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sometimes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intermittent networks.</a:t>
            </a:r>
            <a:endParaRPr sz="1799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81244" y="515109"/>
            <a:ext cx="4240695" cy="1201107"/>
          </a:xfrm>
          <a:custGeom>
            <a:avLst/>
            <a:gdLst/>
            <a:ahLst/>
            <a:cxnLst/>
            <a:rect l="l" t="t" r="r" b="b"/>
            <a:pathLst>
              <a:path w="4241800" h="1201420">
                <a:moveTo>
                  <a:pt x="4241292" y="0"/>
                </a:moveTo>
                <a:lnTo>
                  <a:pt x="0" y="0"/>
                </a:lnTo>
                <a:lnTo>
                  <a:pt x="0" y="1200912"/>
                </a:lnTo>
                <a:lnTo>
                  <a:pt x="4241292" y="1200912"/>
                </a:lnTo>
                <a:lnTo>
                  <a:pt x="42412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5" name="object 5"/>
          <p:cNvSpPr txBox="1"/>
          <p:nvPr/>
        </p:nvSpPr>
        <p:spPr>
          <a:xfrm>
            <a:off x="7681244" y="515110"/>
            <a:ext cx="4240695" cy="1146938"/>
          </a:xfrm>
          <a:prstGeom prst="rect">
            <a:avLst/>
          </a:prstGeom>
          <a:ln w="19811">
            <a:solidFill>
              <a:srgbClr val="539F20"/>
            </a:solidFill>
          </a:ln>
        </p:spPr>
        <p:txBody>
          <a:bodyPr vert="horz" wrap="square" lIns="0" tIns="39360" rIns="0" bIns="0" rtlCol="0">
            <a:spAutoFit/>
          </a:bodyPr>
          <a:lstStyle/>
          <a:p>
            <a:pPr marL="91413">
              <a:spcBef>
                <a:spcPts val="310"/>
              </a:spcBef>
            </a:pPr>
            <a:r>
              <a:rPr sz="1799" dirty="0">
                <a:latin typeface="Trebuchet MS"/>
                <a:cs typeface="Trebuchet MS"/>
              </a:rPr>
              <a:t>Event</a:t>
            </a:r>
            <a:r>
              <a:rPr sz="1799" spc="-30" dirty="0">
                <a:latin typeface="Trebuchet MS"/>
                <a:cs typeface="Trebuchet MS"/>
              </a:rPr>
              <a:t> </a:t>
            </a:r>
            <a:r>
              <a:rPr sz="1799" dirty="0">
                <a:latin typeface="Trebuchet MS"/>
                <a:cs typeface="Trebuchet MS"/>
              </a:rPr>
              <a:t>based</a:t>
            </a:r>
            <a:r>
              <a:rPr sz="1799" spc="-60" dirty="0">
                <a:latin typeface="Trebuchet MS"/>
                <a:cs typeface="Trebuchet MS"/>
              </a:rPr>
              <a:t> </a:t>
            </a:r>
            <a:r>
              <a:rPr sz="1799" dirty="0">
                <a:latin typeface="Trebuchet MS"/>
                <a:cs typeface="Trebuchet MS"/>
              </a:rPr>
              <a:t>IoT</a:t>
            </a:r>
            <a:r>
              <a:rPr sz="1799" spc="-80" dirty="0">
                <a:latin typeface="Trebuchet MS"/>
                <a:cs typeface="Trebuchet MS"/>
              </a:rPr>
              <a:t> </a:t>
            </a:r>
            <a:r>
              <a:rPr sz="1799" spc="-10" dirty="0">
                <a:latin typeface="Trebuchet MS"/>
                <a:cs typeface="Trebuchet MS"/>
              </a:rPr>
              <a:t>Middleware</a:t>
            </a:r>
            <a:endParaRPr sz="1799">
              <a:latin typeface="Trebuchet MS"/>
              <a:cs typeface="Trebuchet MS"/>
            </a:endParaRPr>
          </a:p>
          <a:p>
            <a:pPr marL="377712" marR="533240" indent="-286934">
              <a:buFont typeface="Arial MT"/>
              <a:buChar char="•"/>
              <a:tabLst>
                <a:tab pos="377712" algn="l"/>
              </a:tabLst>
            </a:pPr>
            <a:r>
              <a:rPr sz="1799" dirty="0">
                <a:latin typeface="Trebuchet MS"/>
                <a:cs typeface="Trebuchet MS"/>
              </a:rPr>
              <a:t>Event</a:t>
            </a:r>
            <a:r>
              <a:rPr sz="1799" spc="-40" dirty="0">
                <a:latin typeface="Trebuchet MS"/>
                <a:cs typeface="Trebuchet MS"/>
              </a:rPr>
              <a:t> </a:t>
            </a:r>
            <a:r>
              <a:rPr sz="1799" dirty="0">
                <a:latin typeface="Trebuchet MS"/>
                <a:cs typeface="Trebuchet MS"/>
              </a:rPr>
              <a:t>pattern</a:t>
            </a:r>
            <a:r>
              <a:rPr sz="1799" spc="-50" dirty="0">
                <a:latin typeface="Trebuchet MS"/>
                <a:cs typeface="Trebuchet MS"/>
              </a:rPr>
              <a:t> </a:t>
            </a:r>
            <a:r>
              <a:rPr sz="1799" dirty="0">
                <a:latin typeface="Trebuchet MS"/>
                <a:cs typeface="Trebuchet MS"/>
              </a:rPr>
              <a:t>of</a:t>
            </a:r>
            <a:r>
              <a:rPr sz="1799" spc="-65" dirty="0">
                <a:latin typeface="Trebuchet MS"/>
                <a:cs typeface="Trebuchet MS"/>
              </a:rPr>
              <a:t> </a:t>
            </a:r>
            <a:r>
              <a:rPr sz="1799" spc="-10" dirty="0">
                <a:latin typeface="Trebuchet MS"/>
                <a:cs typeface="Trebuchet MS"/>
              </a:rPr>
              <a:t>communication </a:t>
            </a:r>
            <a:r>
              <a:rPr sz="1799" dirty="0">
                <a:latin typeface="Trebuchet MS"/>
                <a:cs typeface="Trebuchet MS"/>
              </a:rPr>
              <a:t>(one</a:t>
            </a:r>
            <a:r>
              <a:rPr sz="1799" spc="-10" dirty="0">
                <a:latin typeface="Trebuchet MS"/>
                <a:cs typeface="Trebuchet MS"/>
              </a:rPr>
              <a:t> </a:t>
            </a:r>
            <a:r>
              <a:rPr sz="1799" dirty="0">
                <a:latin typeface="Trebuchet MS"/>
                <a:cs typeface="Trebuchet MS"/>
              </a:rPr>
              <a:t>to</a:t>
            </a:r>
            <a:r>
              <a:rPr sz="1799" spc="-30" dirty="0">
                <a:latin typeface="Trebuchet MS"/>
                <a:cs typeface="Trebuchet MS"/>
              </a:rPr>
              <a:t> </a:t>
            </a:r>
            <a:r>
              <a:rPr sz="1799" spc="-20" dirty="0">
                <a:latin typeface="Trebuchet MS"/>
                <a:cs typeface="Trebuchet MS"/>
              </a:rPr>
              <a:t>many)</a:t>
            </a:r>
            <a:endParaRPr sz="1799">
              <a:latin typeface="Trebuchet MS"/>
              <a:cs typeface="Trebuchet MS"/>
            </a:endParaRPr>
          </a:p>
          <a:p>
            <a:pPr marL="377712" indent="-286299">
              <a:buFont typeface="Arial MT"/>
              <a:buChar char="•"/>
              <a:tabLst>
                <a:tab pos="377712" algn="l"/>
              </a:tabLst>
            </a:pPr>
            <a:r>
              <a:rPr sz="1799" dirty="0">
                <a:latin typeface="Trebuchet MS"/>
                <a:cs typeface="Trebuchet MS"/>
              </a:rPr>
              <a:t>Over</a:t>
            </a:r>
            <a:r>
              <a:rPr sz="1799" spc="-25" dirty="0">
                <a:latin typeface="Trebuchet MS"/>
                <a:cs typeface="Trebuchet MS"/>
              </a:rPr>
              <a:t> </a:t>
            </a:r>
            <a:r>
              <a:rPr sz="1799" dirty="0">
                <a:latin typeface="Trebuchet MS"/>
                <a:cs typeface="Trebuchet MS"/>
              </a:rPr>
              <a:t>IP</a:t>
            </a:r>
            <a:r>
              <a:rPr sz="1799" spc="-65" dirty="0">
                <a:latin typeface="Trebuchet MS"/>
                <a:cs typeface="Trebuchet MS"/>
              </a:rPr>
              <a:t> </a:t>
            </a:r>
            <a:r>
              <a:rPr sz="1799" spc="-10" dirty="0">
                <a:latin typeface="Trebuchet MS"/>
                <a:cs typeface="Trebuchet MS"/>
              </a:rPr>
              <a:t>(TCP)</a:t>
            </a:r>
            <a:endParaRPr sz="1799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624626" y="2459987"/>
            <a:ext cx="5564326" cy="2353967"/>
            <a:chOff x="6626352" y="2459735"/>
            <a:chExt cx="5565775" cy="23545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6352" y="2459735"/>
              <a:ext cx="5565648" cy="23545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1424" y="2654807"/>
              <a:ext cx="5266944" cy="17663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9538" y="2739505"/>
            <a:ext cx="4095444" cy="24118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6708" y="604868"/>
            <a:ext cx="10053162" cy="505647"/>
          </a:xfrm>
          <a:prstGeom prst="rect">
            <a:avLst/>
          </a:prstGeom>
        </p:spPr>
        <p:txBody>
          <a:bodyPr vert="horz" wrap="square" lIns="0" tIns="13332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5"/>
              </a:spcBef>
            </a:pPr>
            <a:r>
              <a:rPr sz="3199" dirty="0"/>
              <a:t>Publish</a:t>
            </a:r>
            <a:r>
              <a:rPr sz="3199" spc="-95" dirty="0"/>
              <a:t> </a:t>
            </a:r>
            <a:r>
              <a:rPr sz="3199" dirty="0"/>
              <a:t>/</a:t>
            </a:r>
            <a:r>
              <a:rPr sz="3199" spc="-95" dirty="0"/>
              <a:t> </a:t>
            </a:r>
            <a:r>
              <a:rPr sz="3199" dirty="0"/>
              <a:t>Subscribe</a:t>
            </a:r>
            <a:r>
              <a:rPr sz="3199" spc="-80" dirty="0"/>
              <a:t> </a:t>
            </a:r>
            <a:r>
              <a:rPr sz="3199" dirty="0"/>
              <a:t>Messaging</a:t>
            </a:r>
            <a:r>
              <a:rPr sz="3199" spc="-80" dirty="0"/>
              <a:t> </a:t>
            </a:r>
            <a:r>
              <a:rPr sz="3199" dirty="0"/>
              <a:t>(One</a:t>
            </a:r>
            <a:r>
              <a:rPr sz="3199" spc="-90" dirty="0"/>
              <a:t> </a:t>
            </a:r>
            <a:r>
              <a:rPr sz="3199" dirty="0"/>
              <a:t>to</a:t>
            </a:r>
            <a:r>
              <a:rPr sz="3199" spc="-85" dirty="0"/>
              <a:t> </a:t>
            </a:r>
            <a:r>
              <a:rPr sz="3199" spc="-10" dirty="0"/>
              <a:t>Many)</a:t>
            </a:r>
            <a:endParaRPr sz="3199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096708" y="1176677"/>
            <a:ext cx="10053162" cy="2395801"/>
          </a:xfrm>
          <a:prstGeom prst="rect">
            <a:avLst/>
          </a:prstGeom>
        </p:spPr>
        <p:txBody>
          <a:bodyPr vert="horz" wrap="square" lIns="0" tIns="113001" rIns="0" bIns="0" rtlCol="0">
            <a:spAutoFit/>
          </a:bodyPr>
          <a:lstStyle/>
          <a:p>
            <a:pPr marL="12696">
              <a:lnSpc>
                <a:spcPct val="100000"/>
              </a:lnSpc>
              <a:spcBef>
                <a:spcPts val="890"/>
              </a:spcBef>
              <a:tabLst>
                <a:tab pos="354859" algn="l"/>
              </a:tabLst>
            </a:pPr>
            <a:r>
              <a:rPr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producer</a:t>
            </a:r>
            <a:r>
              <a:rPr spc="-30" dirty="0"/>
              <a:t> </a:t>
            </a:r>
            <a:r>
              <a:rPr dirty="0"/>
              <a:t>publishes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message</a:t>
            </a:r>
            <a:r>
              <a:rPr spc="-50" dirty="0"/>
              <a:t> </a:t>
            </a:r>
            <a:r>
              <a:rPr dirty="0"/>
              <a:t>(publication)</a:t>
            </a:r>
            <a:r>
              <a:rPr spc="-30" dirty="0"/>
              <a:t> </a:t>
            </a:r>
            <a:r>
              <a:rPr dirty="0"/>
              <a:t>on</a:t>
            </a:r>
            <a:r>
              <a:rPr spc="-3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topic</a:t>
            </a:r>
            <a:r>
              <a:rPr spc="-15" dirty="0"/>
              <a:t> </a:t>
            </a:r>
            <a:r>
              <a:rPr spc="-10" dirty="0"/>
              <a:t>(subject)</a:t>
            </a:r>
          </a:p>
          <a:p>
            <a:pPr marL="12696">
              <a:lnSpc>
                <a:spcPct val="100000"/>
              </a:lnSpc>
              <a:spcBef>
                <a:spcPts val="795"/>
              </a:spcBef>
              <a:tabLst>
                <a:tab pos="354859" algn="l"/>
              </a:tabLst>
            </a:pPr>
            <a:r>
              <a:rPr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/>
              <a:t>A</a:t>
            </a:r>
            <a:r>
              <a:rPr spc="-130" dirty="0"/>
              <a:t> </a:t>
            </a:r>
            <a:r>
              <a:rPr dirty="0"/>
              <a:t>consumer</a:t>
            </a:r>
            <a:r>
              <a:rPr spc="-50" dirty="0"/>
              <a:t> </a:t>
            </a:r>
            <a:r>
              <a:rPr dirty="0"/>
              <a:t>subscribes</a:t>
            </a:r>
            <a:r>
              <a:rPr spc="-20" dirty="0"/>
              <a:t> </a:t>
            </a:r>
            <a:r>
              <a:rPr dirty="0"/>
              <a:t>(makes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subscription)</a:t>
            </a:r>
            <a:r>
              <a:rPr spc="-1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messages</a:t>
            </a:r>
            <a:r>
              <a:rPr spc="-40" dirty="0"/>
              <a:t> </a:t>
            </a:r>
            <a:r>
              <a:rPr dirty="0"/>
              <a:t>on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topic</a:t>
            </a:r>
            <a:r>
              <a:rPr spc="-25" dirty="0"/>
              <a:t> </a:t>
            </a:r>
            <a:r>
              <a:rPr spc="-10" dirty="0"/>
              <a:t>(subject)</a:t>
            </a:r>
          </a:p>
          <a:p>
            <a:pPr marL="12696">
              <a:lnSpc>
                <a:spcPct val="100000"/>
              </a:lnSpc>
              <a:spcBef>
                <a:spcPts val="795"/>
              </a:spcBef>
              <a:tabLst>
                <a:tab pos="354859" algn="l"/>
                <a:tab pos="3768229" algn="l"/>
              </a:tabLst>
            </a:pPr>
            <a:r>
              <a:rPr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message</a:t>
            </a:r>
            <a:r>
              <a:rPr spc="-40" dirty="0"/>
              <a:t> </a:t>
            </a:r>
            <a:r>
              <a:rPr dirty="0"/>
              <a:t>server</a:t>
            </a:r>
            <a:r>
              <a:rPr spc="-10" dirty="0"/>
              <a:t> </a:t>
            </a:r>
            <a:r>
              <a:rPr dirty="0"/>
              <a:t>(called</a:t>
            </a:r>
            <a:r>
              <a:rPr spc="-40" dirty="0"/>
              <a:t> </a:t>
            </a:r>
            <a:r>
              <a:rPr spc="-10" dirty="0"/>
              <a:t>BROKER)</a:t>
            </a:r>
            <a:r>
              <a:rPr dirty="0"/>
              <a:t>	matches</a:t>
            </a:r>
            <a:r>
              <a:rPr spc="-65" dirty="0"/>
              <a:t> </a:t>
            </a:r>
            <a:r>
              <a:rPr dirty="0"/>
              <a:t>publications</a:t>
            </a:r>
            <a:r>
              <a:rPr spc="-5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10" dirty="0"/>
              <a:t>subscriptions</a:t>
            </a:r>
          </a:p>
          <a:p>
            <a:pPr marL="469759">
              <a:lnSpc>
                <a:spcPct val="100000"/>
              </a:lnSpc>
              <a:spcBef>
                <a:spcPts val="819"/>
              </a:spcBef>
            </a:pPr>
            <a:r>
              <a:rPr sz="1500" spc="13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500" spc="42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500" dirty="0"/>
              <a:t>If</a:t>
            </a:r>
            <a:r>
              <a:rPr sz="1500" spc="-25" dirty="0"/>
              <a:t> </a:t>
            </a:r>
            <a:r>
              <a:rPr sz="1500" dirty="0"/>
              <a:t>none</a:t>
            </a:r>
            <a:r>
              <a:rPr sz="1500" spc="-30" dirty="0"/>
              <a:t> </a:t>
            </a:r>
            <a:r>
              <a:rPr sz="1500" dirty="0"/>
              <a:t>of</a:t>
            </a:r>
            <a:r>
              <a:rPr sz="1500" spc="-30" dirty="0"/>
              <a:t> </a:t>
            </a:r>
            <a:r>
              <a:rPr sz="1500" dirty="0"/>
              <a:t>them</a:t>
            </a:r>
            <a:r>
              <a:rPr sz="1500" spc="-10" dirty="0"/>
              <a:t> </a:t>
            </a:r>
            <a:r>
              <a:rPr sz="1500" dirty="0"/>
              <a:t>match</a:t>
            </a:r>
            <a:r>
              <a:rPr sz="1500" spc="-25" dirty="0"/>
              <a:t> </a:t>
            </a:r>
            <a:r>
              <a:rPr sz="1500" dirty="0"/>
              <a:t>the</a:t>
            </a:r>
            <a:r>
              <a:rPr sz="1500" spc="-25" dirty="0"/>
              <a:t> </a:t>
            </a:r>
            <a:r>
              <a:rPr sz="1500" dirty="0"/>
              <a:t>message</a:t>
            </a:r>
            <a:r>
              <a:rPr sz="1500" spc="-40" dirty="0"/>
              <a:t> </a:t>
            </a:r>
            <a:r>
              <a:rPr sz="1500" dirty="0"/>
              <a:t>is discarded</a:t>
            </a:r>
            <a:r>
              <a:rPr sz="1500" spc="-50" dirty="0"/>
              <a:t> </a:t>
            </a:r>
            <a:r>
              <a:rPr sz="1500" dirty="0"/>
              <a:t>after</a:t>
            </a:r>
            <a:r>
              <a:rPr sz="1500" spc="-20" dirty="0"/>
              <a:t> </a:t>
            </a:r>
            <a:r>
              <a:rPr sz="1500" dirty="0"/>
              <a:t>modifying</a:t>
            </a:r>
            <a:r>
              <a:rPr sz="1500" spc="-50" dirty="0"/>
              <a:t> </a:t>
            </a:r>
            <a:r>
              <a:rPr sz="1500" dirty="0"/>
              <a:t>the</a:t>
            </a:r>
            <a:r>
              <a:rPr sz="1500" spc="-25" dirty="0"/>
              <a:t> </a:t>
            </a:r>
            <a:r>
              <a:rPr sz="1500" spc="-10" dirty="0"/>
              <a:t>topic</a:t>
            </a:r>
            <a:endParaRPr sz="1500">
              <a:latin typeface="Lucida Sans Unicode"/>
              <a:cs typeface="Lucida Sans Unicode"/>
            </a:endParaRPr>
          </a:p>
          <a:p>
            <a:pPr marL="469759">
              <a:lnSpc>
                <a:spcPts val="1709"/>
              </a:lnSpc>
              <a:spcBef>
                <a:spcPts val="830"/>
              </a:spcBef>
            </a:pPr>
            <a:r>
              <a:rPr sz="1500" spc="13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500" spc="42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500" dirty="0"/>
              <a:t>If</a:t>
            </a:r>
            <a:r>
              <a:rPr sz="1500" spc="-30" dirty="0"/>
              <a:t> </a:t>
            </a:r>
            <a:r>
              <a:rPr sz="1500" dirty="0"/>
              <a:t>one</a:t>
            </a:r>
            <a:r>
              <a:rPr sz="1500" spc="-35" dirty="0"/>
              <a:t> </a:t>
            </a:r>
            <a:r>
              <a:rPr sz="1500" dirty="0"/>
              <a:t>or</a:t>
            </a:r>
            <a:r>
              <a:rPr sz="1500" spc="-25" dirty="0"/>
              <a:t> </a:t>
            </a:r>
            <a:r>
              <a:rPr sz="1500" dirty="0"/>
              <a:t>more</a:t>
            </a:r>
            <a:r>
              <a:rPr sz="1500" spc="-30" dirty="0"/>
              <a:t> </a:t>
            </a:r>
            <a:r>
              <a:rPr sz="1500" dirty="0"/>
              <a:t>matches</a:t>
            </a:r>
            <a:r>
              <a:rPr sz="1500" spc="-15" dirty="0"/>
              <a:t> </a:t>
            </a:r>
            <a:r>
              <a:rPr sz="1500" dirty="0"/>
              <a:t>the</a:t>
            </a:r>
            <a:r>
              <a:rPr sz="1500" spc="-30" dirty="0"/>
              <a:t> </a:t>
            </a:r>
            <a:r>
              <a:rPr sz="1500" dirty="0"/>
              <a:t>message</a:t>
            </a:r>
            <a:r>
              <a:rPr sz="1500" spc="-40" dirty="0"/>
              <a:t> </a:t>
            </a:r>
            <a:r>
              <a:rPr sz="1500" dirty="0"/>
              <a:t>is</a:t>
            </a:r>
            <a:r>
              <a:rPr sz="1500" spc="-25" dirty="0"/>
              <a:t> </a:t>
            </a:r>
            <a:r>
              <a:rPr sz="1500" dirty="0"/>
              <a:t>delivered</a:t>
            </a:r>
            <a:r>
              <a:rPr sz="1500" spc="-45" dirty="0"/>
              <a:t> </a:t>
            </a:r>
            <a:r>
              <a:rPr sz="1500" dirty="0"/>
              <a:t>to</a:t>
            </a:r>
            <a:r>
              <a:rPr sz="1500" spc="-20" dirty="0"/>
              <a:t> </a:t>
            </a:r>
            <a:r>
              <a:rPr sz="1500" dirty="0"/>
              <a:t>each</a:t>
            </a:r>
            <a:r>
              <a:rPr sz="1500" spc="-35" dirty="0"/>
              <a:t> </a:t>
            </a:r>
            <a:r>
              <a:rPr sz="1500" dirty="0"/>
              <a:t>matching</a:t>
            </a:r>
            <a:r>
              <a:rPr sz="1500" spc="-35" dirty="0"/>
              <a:t> </a:t>
            </a:r>
            <a:r>
              <a:rPr sz="1500" dirty="0"/>
              <a:t>consumer</a:t>
            </a:r>
            <a:r>
              <a:rPr sz="1500" spc="-15" dirty="0"/>
              <a:t> </a:t>
            </a:r>
            <a:r>
              <a:rPr sz="1500" spc="-10" dirty="0"/>
              <a:t>after</a:t>
            </a:r>
            <a:endParaRPr sz="1500">
              <a:latin typeface="Lucida Sans Unicode"/>
              <a:cs typeface="Lucida Sans Unicode"/>
            </a:endParaRPr>
          </a:p>
          <a:p>
            <a:pPr marL="756058">
              <a:lnSpc>
                <a:spcPts val="1709"/>
              </a:lnSpc>
            </a:pPr>
            <a:r>
              <a:rPr sz="1500" dirty="0"/>
              <a:t>modifying</a:t>
            </a:r>
            <a:r>
              <a:rPr sz="1500" spc="-60" dirty="0"/>
              <a:t> </a:t>
            </a:r>
            <a:r>
              <a:rPr sz="1500" dirty="0"/>
              <a:t>the</a:t>
            </a:r>
            <a:r>
              <a:rPr sz="1500" spc="-25" dirty="0"/>
              <a:t> </a:t>
            </a:r>
            <a:r>
              <a:rPr sz="1500" spc="-20" dirty="0"/>
              <a:t>topic</a:t>
            </a:r>
            <a:endParaRPr sz="1500"/>
          </a:p>
        </p:txBody>
      </p:sp>
      <p:sp>
        <p:nvSpPr>
          <p:cNvPr id="5" name="object 5"/>
          <p:cNvSpPr txBox="1"/>
          <p:nvPr/>
        </p:nvSpPr>
        <p:spPr>
          <a:xfrm>
            <a:off x="756113" y="4355585"/>
            <a:ext cx="8288400" cy="1607401"/>
          </a:xfrm>
          <a:prstGeom prst="rect">
            <a:avLst/>
          </a:prstGeom>
        </p:spPr>
        <p:txBody>
          <a:bodyPr vert="horz" wrap="square" lIns="0" tIns="132046" rIns="0" bIns="0" rtlCol="0">
            <a:spAutoFit/>
          </a:bodyPr>
          <a:lstStyle/>
          <a:p>
            <a:pPr marL="12696">
              <a:spcBef>
                <a:spcPts val="1040"/>
              </a:spcBef>
              <a:tabLst>
                <a:tab pos="354859" algn="l"/>
              </a:tabLst>
            </a:pPr>
            <a:r>
              <a:rPr sz="1699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99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99" dirty="0">
                <a:solidFill>
                  <a:srgbClr val="404040"/>
                </a:solidFill>
                <a:latin typeface="Trebuchet MS"/>
                <a:cs typeface="Trebuchet MS"/>
              </a:rPr>
              <a:t>Publish</a:t>
            </a:r>
            <a:r>
              <a:rPr sz="1699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99" dirty="0">
                <a:solidFill>
                  <a:srgbClr val="404040"/>
                </a:solidFill>
                <a:latin typeface="Trebuchet MS"/>
                <a:cs typeface="Trebuchet MS"/>
              </a:rPr>
              <a:t>/</a:t>
            </a:r>
            <a:r>
              <a:rPr sz="1699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99" dirty="0">
                <a:solidFill>
                  <a:srgbClr val="404040"/>
                </a:solidFill>
                <a:latin typeface="Trebuchet MS"/>
                <a:cs typeface="Trebuchet MS"/>
              </a:rPr>
              <a:t>Subscribe</a:t>
            </a:r>
            <a:r>
              <a:rPr sz="1699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99" dirty="0">
                <a:solidFill>
                  <a:srgbClr val="404040"/>
                </a:solidFill>
                <a:latin typeface="Trebuchet MS"/>
                <a:cs typeface="Trebuchet MS"/>
              </a:rPr>
              <a:t>has</a:t>
            </a:r>
            <a:r>
              <a:rPr sz="16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99" dirty="0">
                <a:solidFill>
                  <a:srgbClr val="404040"/>
                </a:solidFill>
                <a:latin typeface="Trebuchet MS"/>
                <a:cs typeface="Trebuchet MS"/>
              </a:rPr>
              <a:t>three</a:t>
            </a:r>
            <a:r>
              <a:rPr sz="1699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99" dirty="0">
                <a:solidFill>
                  <a:srgbClr val="404040"/>
                </a:solidFill>
                <a:latin typeface="Trebuchet MS"/>
                <a:cs typeface="Trebuchet MS"/>
              </a:rPr>
              <a:t>important</a:t>
            </a:r>
            <a:r>
              <a:rPr sz="1699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99" spc="-10" dirty="0">
                <a:solidFill>
                  <a:srgbClr val="404040"/>
                </a:solidFill>
                <a:latin typeface="Trebuchet MS"/>
                <a:cs typeface="Trebuchet MS"/>
              </a:rPr>
              <a:t>characteristics:</a:t>
            </a:r>
            <a:endParaRPr sz="1699">
              <a:latin typeface="Trebuchet MS"/>
              <a:cs typeface="Trebuchet MS"/>
            </a:endParaRPr>
          </a:p>
          <a:p>
            <a:pPr marL="754788" indent="-285029">
              <a:spcBef>
                <a:spcPts val="819"/>
              </a:spcBef>
              <a:buClr>
                <a:srgbClr val="90C225"/>
              </a:buClr>
              <a:buAutoNum type="arabicPeriod"/>
              <a:tabLst>
                <a:tab pos="754788" algn="l"/>
              </a:tabLst>
            </a:pP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decouples</a:t>
            </a:r>
            <a:r>
              <a:rPr sz="15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message</a:t>
            </a:r>
            <a:r>
              <a:rPr sz="15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senders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receivers,</a:t>
            </a:r>
            <a:r>
              <a:rPr sz="15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allowing</a:t>
            </a:r>
            <a:r>
              <a:rPr sz="15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more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flexible</a:t>
            </a:r>
            <a:r>
              <a:rPr sz="15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applications</a:t>
            </a:r>
            <a:endParaRPr sz="1500">
              <a:latin typeface="Trebuchet MS"/>
              <a:cs typeface="Trebuchet MS"/>
            </a:endParaRPr>
          </a:p>
          <a:p>
            <a:pPr marL="754788" indent="-285029">
              <a:spcBef>
                <a:spcPts val="819"/>
              </a:spcBef>
              <a:buClr>
                <a:srgbClr val="90C225"/>
              </a:buClr>
              <a:buAutoNum type="arabicPeriod"/>
              <a:tabLst>
                <a:tab pos="754788" algn="l"/>
              </a:tabLst>
            </a:pP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take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single</a:t>
            </a:r>
            <a:r>
              <a:rPr sz="15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message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distribute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many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consumers</a:t>
            </a:r>
            <a:endParaRPr sz="1500">
              <a:latin typeface="Trebuchet MS"/>
              <a:cs typeface="Trebuchet MS"/>
            </a:endParaRPr>
          </a:p>
          <a:p>
            <a:pPr marL="754154" marR="5078" indent="-285029">
              <a:lnSpc>
                <a:spcPts val="1620"/>
              </a:lnSpc>
              <a:spcBef>
                <a:spcPts val="1019"/>
              </a:spcBef>
              <a:buClr>
                <a:srgbClr val="90C225"/>
              </a:buClr>
              <a:buAutoNum type="arabicPeriod"/>
              <a:tabLst>
                <a:tab pos="756058" algn="l"/>
              </a:tabLst>
            </a:pP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This</a:t>
            </a:r>
            <a:r>
              <a:rPr sz="15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collection</a:t>
            </a:r>
            <a:r>
              <a:rPr sz="15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consumers</a:t>
            </a:r>
            <a:r>
              <a:rPr sz="15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change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over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time,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vary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based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nature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the 	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message.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07637" y="3572478"/>
            <a:ext cx="879246" cy="862740"/>
          </a:xfrm>
          <a:custGeom>
            <a:avLst/>
            <a:gdLst/>
            <a:ahLst/>
            <a:cxnLst/>
            <a:rect l="l" t="t" r="r" b="b"/>
            <a:pathLst>
              <a:path w="879475" h="862964">
                <a:moveTo>
                  <a:pt x="0" y="431291"/>
                </a:moveTo>
                <a:lnTo>
                  <a:pt x="2579" y="384288"/>
                </a:lnTo>
                <a:lnTo>
                  <a:pt x="10141" y="338752"/>
                </a:lnTo>
                <a:lnTo>
                  <a:pt x="22414" y="294948"/>
                </a:lnTo>
                <a:lnTo>
                  <a:pt x="39133" y="253138"/>
                </a:lnTo>
                <a:lnTo>
                  <a:pt x="60028" y="213585"/>
                </a:lnTo>
                <a:lnTo>
                  <a:pt x="84831" y="176552"/>
                </a:lnTo>
                <a:lnTo>
                  <a:pt x="113275" y="142301"/>
                </a:lnTo>
                <a:lnTo>
                  <a:pt x="145090" y="111095"/>
                </a:lnTo>
                <a:lnTo>
                  <a:pt x="180008" y="83198"/>
                </a:lnTo>
                <a:lnTo>
                  <a:pt x="217762" y="58871"/>
                </a:lnTo>
                <a:lnTo>
                  <a:pt x="258083" y="38378"/>
                </a:lnTo>
                <a:lnTo>
                  <a:pt x="300703" y="21982"/>
                </a:lnTo>
                <a:lnTo>
                  <a:pt x="345353" y="9945"/>
                </a:lnTo>
                <a:lnTo>
                  <a:pt x="391766" y="2530"/>
                </a:lnTo>
                <a:lnTo>
                  <a:pt x="439674" y="0"/>
                </a:lnTo>
                <a:lnTo>
                  <a:pt x="487581" y="2530"/>
                </a:lnTo>
                <a:lnTo>
                  <a:pt x="533994" y="9945"/>
                </a:lnTo>
                <a:lnTo>
                  <a:pt x="578644" y="21982"/>
                </a:lnTo>
                <a:lnTo>
                  <a:pt x="621264" y="38378"/>
                </a:lnTo>
                <a:lnTo>
                  <a:pt x="661585" y="58871"/>
                </a:lnTo>
                <a:lnTo>
                  <a:pt x="699339" y="83198"/>
                </a:lnTo>
                <a:lnTo>
                  <a:pt x="734257" y="111095"/>
                </a:lnTo>
                <a:lnTo>
                  <a:pt x="766072" y="142301"/>
                </a:lnTo>
                <a:lnTo>
                  <a:pt x="794516" y="176552"/>
                </a:lnTo>
                <a:lnTo>
                  <a:pt x="819319" y="213585"/>
                </a:lnTo>
                <a:lnTo>
                  <a:pt x="840214" y="253138"/>
                </a:lnTo>
                <a:lnTo>
                  <a:pt x="856933" y="294948"/>
                </a:lnTo>
                <a:lnTo>
                  <a:pt x="869206" y="338752"/>
                </a:lnTo>
                <a:lnTo>
                  <a:pt x="876768" y="384288"/>
                </a:lnTo>
                <a:lnTo>
                  <a:pt x="879348" y="431291"/>
                </a:lnTo>
                <a:lnTo>
                  <a:pt x="876768" y="478295"/>
                </a:lnTo>
                <a:lnTo>
                  <a:pt x="869206" y="523831"/>
                </a:lnTo>
                <a:lnTo>
                  <a:pt x="856933" y="567635"/>
                </a:lnTo>
                <a:lnTo>
                  <a:pt x="840214" y="609445"/>
                </a:lnTo>
                <a:lnTo>
                  <a:pt x="819319" y="648998"/>
                </a:lnTo>
                <a:lnTo>
                  <a:pt x="794516" y="686031"/>
                </a:lnTo>
                <a:lnTo>
                  <a:pt x="766072" y="720282"/>
                </a:lnTo>
                <a:lnTo>
                  <a:pt x="734257" y="751488"/>
                </a:lnTo>
                <a:lnTo>
                  <a:pt x="699339" y="779385"/>
                </a:lnTo>
                <a:lnTo>
                  <a:pt x="661585" y="803712"/>
                </a:lnTo>
                <a:lnTo>
                  <a:pt x="621264" y="824205"/>
                </a:lnTo>
                <a:lnTo>
                  <a:pt x="578644" y="840601"/>
                </a:lnTo>
                <a:lnTo>
                  <a:pt x="533994" y="852638"/>
                </a:lnTo>
                <a:lnTo>
                  <a:pt x="487581" y="860053"/>
                </a:lnTo>
                <a:lnTo>
                  <a:pt x="439674" y="862583"/>
                </a:lnTo>
                <a:lnTo>
                  <a:pt x="391766" y="860053"/>
                </a:lnTo>
                <a:lnTo>
                  <a:pt x="345353" y="852638"/>
                </a:lnTo>
                <a:lnTo>
                  <a:pt x="300703" y="840601"/>
                </a:lnTo>
                <a:lnTo>
                  <a:pt x="258083" y="824205"/>
                </a:lnTo>
                <a:lnTo>
                  <a:pt x="217762" y="803712"/>
                </a:lnTo>
                <a:lnTo>
                  <a:pt x="180008" y="779385"/>
                </a:lnTo>
                <a:lnTo>
                  <a:pt x="145090" y="751488"/>
                </a:lnTo>
                <a:lnTo>
                  <a:pt x="113275" y="720282"/>
                </a:lnTo>
                <a:lnTo>
                  <a:pt x="84831" y="686031"/>
                </a:lnTo>
                <a:lnTo>
                  <a:pt x="60028" y="648998"/>
                </a:lnTo>
                <a:lnTo>
                  <a:pt x="39133" y="609445"/>
                </a:lnTo>
                <a:lnTo>
                  <a:pt x="22414" y="567635"/>
                </a:lnTo>
                <a:lnTo>
                  <a:pt x="10141" y="523831"/>
                </a:lnTo>
                <a:lnTo>
                  <a:pt x="2579" y="478295"/>
                </a:lnTo>
                <a:lnTo>
                  <a:pt x="0" y="431291"/>
                </a:lnTo>
                <a:close/>
              </a:path>
            </a:pathLst>
          </a:custGeom>
          <a:ln w="38100">
            <a:solidFill>
              <a:srgbClr val="E76617"/>
            </a:solidFill>
          </a:ln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7" name="object 7"/>
          <p:cNvSpPr txBox="1"/>
          <p:nvPr/>
        </p:nvSpPr>
        <p:spPr>
          <a:xfrm>
            <a:off x="10647976" y="4062281"/>
            <a:ext cx="673560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10" dirty="0">
                <a:solidFill>
                  <a:srgbClr val="AC4D12"/>
                </a:solidFill>
                <a:latin typeface="Trebuchet MS"/>
                <a:cs typeface="Trebuchet MS"/>
              </a:rPr>
              <a:t>Server</a:t>
            </a:r>
            <a:endParaRPr sz="1799" dirty="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MQTT</a:t>
            </a:r>
            <a:r>
              <a:rPr spc="-195" dirty="0"/>
              <a:t> </a:t>
            </a:r>
            <a:r>
              <a:rPr spc="-60" dirty="0"/>
              <a:t>Topic</a:t>
            </a:r>
            <a:r>
              <a:rPr spc="-70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10" dirty="0"/>
              <a:t>Wildcards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17100" y="1163401"/>
            <a:ext cx="6739512" cy="4932599"/>
            <a:chOff x="1717548" y="1162810"/>
            <a:chExt cx="7533640" cy="56953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7548" y="1162810"/>
              <a:ext cx="7533132" cy="569518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2620" y="1357883"/>
              <a:ext cx="6944868" cy="521360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MQTT</a:t>
            </a:r>
            <a:r>
              <a:rPr spc="-200" dirty="0"/>
              <a:t> </a:t>
            </a:r>
            <a:r>
              <a:rPr spc="-60" dirty="0"/>
              <a:t>Topic</a:t>
            </a:r>
            <a:r>
              <a:rPr spc="-70" dirty="0"/>
              <a:t> </a:t>
            </a:r>
            <a:r>
              <a:rPr dirty="0"/>
              <a:t>:</a:t>
            </a:r>
            <a:r>
              <a:rPr spc="-60" dirty="0"/>
              <a:t> </a:t>
            </a:r>
            <a:r>
              <a:rPr spc="-10" dirty="0"/>
              <a:t>Details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113" y="1298444"/>
            <a:ext cx="8193175" cy="5346353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354859" indent="-342162">
              <a:spcBef>
                <a:spcPts val="105"/>
              </a:spcBef>
              <a:buClr>
                <a:srgbClr val="90C225"/>
              </a:buClr>
              <a:buSzPct val="55000"/>
              <a:buFont typeface="Times New Roman"/>
              <a:buChar char="■"/>
              <a:tabLst>
                <a:tab pos="354859" algn="l"/>
              </a:tabLst>
            </a:pP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999" spc="-1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topic</a:t>
            </a:r>
            <a:r>
              <a:rPr sz="19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forms</a:t>
            </a:r>
            <a:r>
              <a:rPr sz="19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9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spc="-10" dirty="0">
                <a:solidFill>
                  <a:srgbClr val="404040"/>
                </a:solidFill>
                <a:latin typeface="Trebuchet MS"/>
                <a:cs typeface="Trebuchet MS"/>
              </a:rPr>
              <a:t>namespace</a:t>
            </a:r>
            <a:endParaRPr sz="1999">
              <a:latin typeface="Trebuchet MS"/>
              <a:cs typeface="Trebuchet MS"/>
            </a:endParaRPr>
          </a:p>
          <a:p>
            <a:pPr marL="469759">
              <a:spcBef>
                <a:spcPts val="35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7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hierarchical</a:t>
            </a:r>
            <a:r>
              <a:rPr sz="1799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each</a:t>
            </a:r>
            <a:r>
              <a:rPr sz="1799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“sub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topic”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separated</a:t>
            </a:r>
            <a:r>
              <a:rPr sz="1799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/</a:t>
            </a:r>
            <a:endParaRPr sz="1799">
              <a:latin typeface="Trebuchet MS"/>
              <a:cs typeface="Trebuchet MS"/>
            </a:endParaRPr>
          </a:p>
          <a:p>
            <a:pPr marL="469759">
              <a:spcBef>
                <a:spcPts val="35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84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1799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example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topic</a:t>
            </a:r>
            <a:r>
              <a:rPr sz="1799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space</a:t>
            </a:r>
            <a:endParaRPr sz="1799">
              <a:latin typeface="Trebuchet MS"/>
              <a:cs typeface="Trebuchet MS"/>
            </a:endParaRPr>
          </a:p>
          <a:p>
            <a:pPr marL="926187">
              <a:spcBef>
                <a:spcPts val="70"/>
              </a:spcBef>
            </a:pPr>
            <a:r>
              <a:rPr sz="105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0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3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house</a:t>
            </a:r>
            <a:r>
              <a:rPr sz="13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publishes</a:t>
            </a:r>
            <a:r>
              <a:rPr sz="13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Trebuchet MS"/>
                <a:cs typeface="Trebuchet MS"/>
              </a:rPr>
              <a:t>information</a:t>
            </a:r>
            <a:r>
              <a:rPr sz="13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about</a:t>
            </a:r>
            <a:r>
              <a:rPr sz="13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itself</a:t>
            </a:r>
            <a:r>
              <a:rPr sz="1300" spc="-25" dirty="0">
                <a:solidFill>
                  <a:srgbClr val="404040"/>
                </a:solidFill>
                <a:latin typeface="Trebuchet MS"/>
                <a:cs typeface="Trebuchet MS"/>
              </a:rPr>
              <a:t> on:</a:t>
            </a:r>
            <a:endParaRPr sz="1300">
              <a:latin typeface="Trebuchet MS"/>
              <a:cs typeface="Trebuchet MS"/>
            </a:endParaRPr>
          </a:p>
          <a:p>
            <a:pPr marL="1383250">
              <a:spcBef>
                <a:spcPts val="65"/>
              </a:spcBef>
              <a:tabLst>
                <a:tab pos="1611781" algn="l"/>
              </a:tabLst>
            </a:pPr>
            <a:r>
              <a:rPr sz="850" spc="4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8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100" i="1" spc="-10" dirty="0">
                <a:solidFill>
                  <a:srgbClr val="404040"/>
                </a:solidFill>
                <a:latin typeface="Trebuchet MS"/>
                <a:cs typeface="Trebuchet MS"/>
              </a:rPr>
              <a:t>&lt;country&gt;/&lt;region&gt;/&lt;town&gt;/&lt;postcode&gt;/&lt;house&gt;/energyConsumption</a:t>
            </a:r>
            <a:endParaRPr sz="1100">
              <a:latin typeface="Trebuchet MS"/>
              <a:cs typeface="Trebuchet MS"/>
            </a:endParaRPr>
          </a:p>
          <a:p>
            <a:pPr marL="1383250">
              <a:spcBef>
                <a:spcPts val="60"/>
              </a:spcBef>
              <a:tabLst>
                <a:tab pos="1611781" algn="l"/>
              </a:tabLst>
            </a:pPr>
            <a:r>
              <a:rPr sz="850" spc="4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8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100" i="1" spc="-10" dirty="0">
                <a:solidFill>
                  <a:srgbClr val="404040"/>
                </a:solidFill>
                <a:latin typeface="Trebuchet MS"/>
                <a:cs typeface="Trebuchet MS"/>
              </a:rPr>
              <a:t>&lt;country&gt;/&lt;region&gt;/&lt;town&gt;/&lt;postcode&gt;/&lt;house&gt;/solarEnergy</a:t>
            </a:r>
            <a:endParaRPr sz="1100">
              <a:latin typeface="Trebuchet MS"/>
              <a:cs typeface="Trebuchet MS"/>
            </a:endParaRPr>
          </a:p>
          <a:p>
            <a:pPr marL="1383250">
              <a:spcBef>
                <a:spcPts val="60"/>
              </a:spcBef>
              <a:tabLst>
                <a:tab pos="1611781" algn="l"/>
              </a:tabLst>
            </a:pPr>
            <a:r>
              <a:rPr sz="850" spc="4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8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100" i="1" spc="-10" dirty="0">
                <a:solidFill>
                  <a:srgbClr val="404040"/>
                </a:solidFill>
                <a:latin typeface="Trebuchet MS"/>
                <a:cs typeface="Trebuchet MS"/>
              </a:rPr>
              <a:t>&lt;country&gt;/&lt;region&gt;/&lt;town&gt;/&lt;postcode&gt;/&lt;house&gt;/alarmState</a:t>
            </a:r>
            <a:endParaRPr sz="1100">
              <a:latin typeface="Trebuchet MS"/>
              <a:cs typeface="Trebuchet MS"/>
            </a:endParaRPr>
          </a:p>
          <a:p>
            <a:pPr marL="1383250">
              <a:spcBef>
                <a:spcPts val="65"/>
              </a:spcBef>
              <a:tabLst>
                <a:tab pos="1611781" algn="l"/>
              </a:tabLst>
            </a:pPr>
            <a:r>
              <a:rPr sz="850" spc="4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8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100" i="1" spc="-10" dirty="0">
                <a:solidFill>
                  <a:srgbClr val="404040"/>
                </a:solidFill>
                <a:latin typeface="Trebuchet MS"/>
                <a:cs typeface="Trebuchet MS"/>
              </a:rPr>
              <a:t>&lt;country&gt;/&lt;region&gt;/&lt;town&gt;/&lt;postcode&gt;/&lt;house&gt;/alarmState</a:t>
            </a:r>
            <a:endParaRPr sz="1100">
              <a:latin typeface="Trebuchet MS"/>
              <a:cs typeface="Trebuchet MS"/>
            </a:endParaRPr>
          </a:p>
          <a:p>
            <a:pPr marL="926187">
              <a:spcBef>
                <a:spcPts val="50"/>
              </a:spcBef>
            </a:pPr>
            <a:r>
              <a:rPr sz="105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050" spc="49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300" i="1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300" i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i="1" dirty="0">
                <a:solidFill>
                  <a:srgbClr val="404040"/>
                </a:solidFill>
                <a:latin typeface="Trebuchet MS"/>
                <a:cs typeface="Trebuchet MS"/>
              </a:rPr>
              <a:t>subscribes</a:t>
            </a:r>
            <a:r>
              <a:rPr sz="1300" i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i="1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300" i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i="1" dirty="0">
                <a:solidFill>
                  <a:srgbClr val="404040"/>
                </a:solidFill>
                <a:latin typeface="Trebuchet MS"/>
                <a:cs typeface="Trebuchet MS"/>
              </a:rPr>
              <a:t>control</a:t>
            </a:r>
            <a:r>
              <a:rPr sz="1300" i="1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i="1" spc="-10" dirty="0">
                <a:solidFill>
                  <a:srgbClr val="404040"/>
                </a:solidFill>
                <a:latin typeface="Trebuchet MS"/>
                <a:cs typeface="Trebuchet MS"/>
              </a:rPr>
              <a:t>commands:</a:t>
            </a:r>
            <a:endParaRPr sz="1300">
              <a:latin typeface="Trebuchet MS"/>
              <a:cs typeface="Trebuchet MS"/>
            </a:endParaRPr>
          </a:p>
          <a:p>
            <a:pPr marL="1383250">
              <a:spcBef>
                <a:spcPts val="70"/>
              </a:spcBef>
              <a:tabLst>
                <a:tab pos="1611781" algn="l"/>
              </a:tabLst>
            </a:pPr>
            <a:r>
              <a:rPr sz="850" spc="4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8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100" i="1" spc="-10" dirty="0">
                <a:solidFill>
                  <a:srgbClr val="404040"/>
                </a:solidFill>
                <a:latin typeface="Trebuchet MS"/>
                <a:cs typeface="Trebuchet MS"/>
              </a:rPr>
              <a:t>&lt;country&gt;/&lt;region&gt;/&lt;town&gt;/&lt;postcode&gt;/&lt;house&gt;/thermostat/setTemp</a:t>
            </a:r>
            <a:endParaRPr sz="1100">
              <a:latin typeface="Trebuchet MS"/>
              <a:cs typeface="Trebuchet MS"/>
            </a:endParaRPr>
          </a:p>
          <a:p>
            <a:pPr marL="354859" indent="-342162">
              <a:spcBef>
                <a:spcPts val="1030"/>
              </a:spcBef>
              <a:buClr>
                <a:srgbClr val="90C225"/>
              </a:buClr>
              <a:buSzPct val="55000"/>
              <a:buFont typeface="Times New Roman"/>
              <a:buChar char="■"/>
              <a:tabLst>
                <a:tab pos="354859" algn="l"/>
              </a:tabLst>
            </a:pP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999" spc="-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subscriber</a:t>
            </a:r>
            <a:r>
              <a:rPr sz="1999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1999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subscribe</a:t>
            </a:r>
            <a:r>
              <a:rPr sz="1999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999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1999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absolute</a:t>
            </a:r>
            <a:r>
              <a:rPr sz="19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topic</a:t>
            </a:r>
            <a:r>
              <a:rPr sz="1999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999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1999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dirty="0">
                <a:solidFill>
                  <a:srgbClr val="404040"/>
                </a:solidFill>
                <a:latin typeface="Trebuchet MS"/>
                <a:cs typeface="Trebuchet MS"/>
              </a:rPr>
              <a:t>use</a:t>
            </a:r>
            <a:r>
              <a:rPr sz="1999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99" spc="-10" dirty="0">
                <a:solidFill>
                  <a:srgbClr val="404040"/>
                </a:solidFill>
                <a:latin typeface="Trebuchet MS"/>
                <a:cs typeface="Trebuchet MS"/>
              </a:rPr>
              <a:t>wildcards:</a:t>
            </a:r>
            <a:endParaRPr sz="1999">
              <a:latin typeface="Trebuchet MS"/>
              <a:cs typeface="Trebuchet MS"/>
            </a:endParaRPr>
          </a:p>
          <a:p>
            <a:pPr marL="469759">
              <a:spcBef>
                <a:spcPts val="55"/>
              </a:spcBef>
              <a:tabLst>
                <a:tab pos="756058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Single-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level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wildcards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“+”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appear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anywhere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topic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 string</a:t>
            </a:r>
            <a:endParaRPr sz="1600">
              <a:latin typeface="Trebuchet MS"/>
              <a:cs typeface="Trebuchet MS"/>
            </a:endParaRPr>
          </a:p>
          <a:p>
            <a:pPr marL="469759">
              <a:spcBef>
                <a:spcPts val="35"/>
              </a:spcBef>
              <a:tabLst>
                <a:tab pos="756058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Multi-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level</a:t>
            </a:r>
            <a:r>
              <a:rPr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wildcards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“#”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must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appear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at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end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string</a:t>
            </a:r>
            <a:endParaRPr sz="1600">
              <a:latin typeface="Trebuchet MS"/>
              <a:cs typeface="Trebuchet MS"/>
            </a:endParaRPr>
          </a:p>
          <a:p>
            <a:pPr marL="469759">
              <a:spcBef>
                <a:spcPts val="50"/>
              </a:spcBef>
              <a:tabLst>
                <a:tab pos="756058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Wildcards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must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next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separator</a:t>
            </a:r>
            <a:endParaRPr sz="1600">
              <a:latin typeface="Trebuchet MS"/>
              <a:cs typeface="Trebuchet MS"/>
            </a:endParaRPr>
          </a:p>
          <a:p>
            <a:pPr marL="469759">
              <a:spcBef>
                <a:spcPts val="35"/>
              </a:spcBef>
              <a:tabLst>
                <a:tab pos="756058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Cannot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wildcards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when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publishing</a:t>
            </a:r>
            <a:endParaRPr sz="1600">
              <a:latin typeface="Trebuchet MS"/>
              <a:cs typeface="Trebuchet MS"/>
            </a:endParaRPr>
          </a:p>
          <a:p>
            <a:pPr>
              <a:spcBef>
                <a:spcPts val="160"/>
              </a:spcBef>
            </a:pPr>
            <a:endParaRPr sz="1600">
              <a:latin typeface="Trebuchet MS"/>
              <a:cs typeface="Trebuchet MS"/>
            </a:endParaRPr>
          </a:p>
          <a:p>
            <a:pPr marL="469759">
              <a:tabLst>
                <a:tab pos="756058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example</a:t>
            </a:r>
            <a:endParaRPr sz="1600">
              <a:latin typeface="Trebuchet MS"/>
              <a:cs typeface="Trebuchet MS"/>
            </a:endParaRPr>
          </a:p>
          <a:p>
            <a:pPr marL="926187">
              <a:spcBef>
                <a:spcPts val="60"/>
              </a:spcBef>
            </a:pPr>
            <a:r>
              <a:rPr sz="105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050" spc="105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1300" i="1" spc="-10" dirty="0">
                <a:solidFill>
                  <a:srgbClr val="404040"/>
                </a:solidFill>
                <a:latin typeface="Trebuchet MS"/>
                <a:cs typeface="Trebuchet MS"/>
              </a:rPr>
              <a:t>UK/Hants/Hursley/SO212JN/1/energyConsumption</a:t>
            </a:r>
            <a:endParaRPr sz="1300">
              <a:latin typeface="Trebuchet MS"/>
              <a:cs typeface="Trebuchet MS"/>
            </a:endParaRPr>
          </a:p>
          <a:p>
            <a:pPr marL="1383250">
              <a:spcBef>
                <a:spcPts val="70"/>
              </a:spcBef>
              <a:tabLst>
                <a:tab pos="1611781" algn="l"/>
              </a:tabLst>
            </a:pPr>
            <a:r>
              <a:rPr sz="850" spc="4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8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Energy</a:t>
            </a:r>
            <a:r>
              <a:rPr sz="11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consumption</a:t>
            </a:r>
            <a:r>
              <a:rPr sz="11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1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1</a:t>
            </a:r>
            <a:r>
              <a:rPr sz="11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house</a:t>
            </a:r>
            <a:r>
              <a:rPr sz="11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1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404040"/>
                </a:solidFill>
                <a:latin typeface="Trebuchet MS"/>
                <a:cs typeface="Trebuchet MS"/>
              </a:rPr>
              <a:t>Hursley</a:t>
            </a:r>
            <a:endParaRPr sz="1100">
              <a:latin typeface="Trebuchet MS"/>
              <a:cs typeface="Trebuchet MS"/>
            </a:endParaRPr>
          </a:p>
          <a:p>
            <a:pPr marR="3780291" algn="r">
              <a:spcBef>
                <a:spcPts val="40"/>
              </a:spcBef>
            </a:pPr>
            <a:r>
              <a:rPr sz="105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050" spc="110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1300" i="1" spc="-10" dirty="0">
                <a:solidFill>
                  <a:srgbClr val="404040"/>
                </a:solidFill>
                <a:latin typeface="Trebuchet MS"/>
                <a:cs typeface="Trebuchet MS"/>
              </a:rPr>
              <a:t>UK/Hants/Hursley/+/+/energyConsumption</a:t>
            </a:r>
            <a:endParaRPr sz="1300">
              <a:latin typeface="Trebuchet MS"/>
              <a:cs typeface="Trebuchet MS"/>
            </a:endParaRPr>
          </a:p>
          <a:p>
            <a:pPr marR="3768229" algn="r">
              <a:spcBef>
                <a:spcPts val="65"/>
              </a:spcBef>
              <a:tabLst>
                <a:tab pos="227897" algn="l"/>
              </a:tabLst>
            </a:pPr>
            <a:r>
              <a:rPr sz="850" spc="4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8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Energy</a:t>
            </a:r>
            <a:r>
              <a:rPr sz="11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consumption</a:t>
            </a:r>
            <a:r>
              <a:rPr sz="11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1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all</a:t>
            </a:r>
            <a:r>
              <a:rPr sz="11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houses</a:t>
            </a:r>
            <a:r>
              <a:rPr sz="11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1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404040"/>
                </a:solidFill>
                <a:latin typeface="Trebuchet MS"/>
                <a:cs typeface="Trebuchet MS"/>
              </a:rPr>
              <a:t>Hursley</a:t>
            </a:r>
            <a:endParaRPr sz="1100">
              <a:latin typeface="Trebuchet MS"/>
              <a:cs typeface="Trebuchet MS"/>
            </a:endParaRPr>
          </a:p>
          <a:p>
            <a:pPr marL="926187">
              <a:spcBef>
                <a:spcPts val="55"/>
              </a:spcBef>
            </a:pPr>
            <a:r>
              <a:rPr sz="105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050" spc="110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1300" i="1" spc="-10" dirty="0">
                <a:solidFill>
                  <a:srgbClr val="404040"/>
                </a:solidFill>
                <a:latin typeface="Trebuchet MS"/>
                <a:cs typeface="Trebuchet MS"/>
              </a:rPr>
              <a:t>UK/Hants/Hursley/SO212JN/#</a:t>
            </a:r>
            <a:endParaRPr sz="1300">
              <a:latin typeface="Trebuchet MS"/>
              <a:cs typeface="Trebuchet MS"/>
            </a:endParaRPr>
          </a:p>
          <a:p>
            <a:pPr marL="1383250">
              <a:spcBef>
                <a:spcPts val="55"/>
              </a:spcBef>
              <a:tabLst>
                <a:tab pos="1611781" algn="l"/>
              </a:tabLst>
            </a:pPr>
            <a:r>
              <a:rPr sz="850" spc="4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8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Details</a:t>
            </a:r>
            <a:r>
              <a:rPr sz="11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1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energy</a:t>
            </a:r>
            <a:r>
              <a:rPr sz="11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consumption,</a:t>
            </a:r>
            <a:r>
              <a:rPr sz="11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solar</a:t>
            </a:r>
            <a:r>
              <a:rPr sz="11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1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alarm</a:t>
            </a:r>
            <a:r>
              <a:rPr sz="11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1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all</a:t>
            </a:r>
            <a:r>
              <a:rPr sz="11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houses</a:t>
            </a:r>
            <a:r>
              <a:rPr sz="11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1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404040"/>
                </a:solidFill>
                <a:latin typeface="Trebuchet MS"/>
                <a:cs typeface="Trebuchet MS"/>
              </a:rPr>
              <a:t>SO212JN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51085">
              <a:lnSpc>
                <a:spcPct val="100000"/>
              </a:lnSpc>
              <a:spcBef>
                <a:spcPts val="100"/>
              </a:spcBef>
            </a:pPr>
            <a:r>
              <a:rPr dirty="0"/>
              <a:t>MQTT</a:t>
            </a:r>
            <a:r>
              <a:rPr spc="-105" dirty="0"/>
              <a:t> </a:t>
            </a:r>
            <a:r>
              <a:rPr dirty="0"/>
              <a:t>publish</a:t>
            </a:r>
            <a:r>
              <a:rPr spc="-35" dirty="0"/>
              <a:t> </a:t>
            </a:r>
            <a:r>
              <a:rPr dirty="0"/>
              <a:t>subscribe</a:t>
            </a:r>
            <a:r>
              <a:rPr spc="-3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113" y="2142570"/>
            <a:ext cx="3832497" cy="3506827"/>
          </a:xfrm>
          <a:prstGeom prst="rect">
            <a:avLst/>
          </a:prstGeom>
        </p:spPr>
        <p:txBody>
          <a:bodyPr vert="horz" wrap="square" lIns="0" tIns="57770" rIns="0" bIns="0" rtlCol="0">
            <a:spAutoFit/>
          </a:bodyPr>
          <a:lstStyle/>
          <a:p>
            <a:pPr marL="355493" marR="5078" indent="-342797">
              <a:lnSpc>
                <a:spcPct val="80100"/>
              </a:lnSpc>
              <a:spcBef>
                <a:spcPts val="455"/>
              </a:spcBef>
              <a:tabLst>
                <a:tab pos="354859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MQTT</a:t>
            </a:r>
            <a:r>
              <a:rPr sz="15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messages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delivered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asynchronously</a:t>
            </a:r>
            <a:r>
              <a:rPr sz="15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(“push”)</a:t>
            </a:r>
            <a:r>
              <a:rPr sz="15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through</a:t>
            </a:r>
            <a:r>
              <a:rPr sz="15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publish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subscribe</a:t>
            </a:r>
            <a:r>
              <a:rPr sz="15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architecture.</a:t>
            </a:r>
            <a:endParaRPr sz="1500">
              <a:latin typeface="Trebuchet MS"/>
              <a:cs typeface="Trebuchet MS"/>
            </a:endParaRPr>
          </a:p>
          <a:p>
            <a:pPr marL="355493" marR="28566" indent="-342797">
              <a:lnSpc>
                <a:spcPct val="80000"/>
              </a:lnSpc>
              <a:spcBef>
                <a:spcPts val="1010"/>
              </a:spcBef>
              <a:tabLst>
                <a:tab pos="354859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MQTT</a:t>
            </a:r>
            <a:r>
              <a:rPr sz="15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protocol</a:t>
            </a:r>
            <a:r>
              <a:rPr sz="15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works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exchanging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series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MQTT</a:t>
            </a:r>
            <a:r>
              <a:rPr sz="15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control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packets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defined</a:t>
            </a:r>
            <a:r>
              <a:rPr sz="15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404040"/>
                </a:solidFill>
                <a:latin typeface="Trebuchet MS"/>
                <a:cs typeface="Trebuchet MS"/>
              </a:rPr>
              <a:t>way.</a:t>
            </a:r>
            <a:endParaRPr sz="1500">
              <a:latin typeface="Trebuchet MS"/>
              <a:cs typeface="Trebuchet MS"/>
            </a:endParaRPr>
          </a:p>
          <a:p>
            <a:pPr marL="355493" marR="228531" indent="-342797">
              <a:lnSpc>
                <a:spcPct val="80100"/>
              </a:lnSpc>
              <a:spcBef>
                <a:spcPts val="994"/>
              </a:spcBef>
              <a:tabLst>
                <a:tab pos="354859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Each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control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packet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has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specific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purpose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every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bit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packet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is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carefully</a:t>
            </a:r>
            <a:r>
              <a:rPr sz="15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crafted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reduce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404040"/>
                </a:solidFill>
                <a:latin typeface="Trebuchet MS"/>
                <a:cs typeface="Trebuchet MS"/>
              </a:rPr>
              <a:t>data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transmitted</a:t>
            </a:r>
            <a:r>
              <a:rPr sz="15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over</a:t>
            </a:r>
            <a:r>
              <a:rPr sz="15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5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network.</a:t>
            </a:r>
            <a:endParaRPr sz="1500">
              <a:latin typeface="Trebuchet MS"/>
              <a:cs typeface="Trebuchet MS"/>
            </a:endParaRPr>
          </a:p>
          <a:p>
            <a:pPr marL="355493" marR="51420" indent="-342797">
              <a:lnSpc>
                <a:spcPts val="1440"/>
              </a:lnSpc>
              <a:spcBef>
                <a:spcPts val="985"/>
              </a:spcBef>
              <a:tabLst>
                <a:tab pos="354859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500" spc="-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MQTT</a:t>
            </a:r>
            <a:r>
              <a:rPr sz="15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topology</a:t>
            </a:r>
            <a:r>
              <a:rPr sz="15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has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MQTT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server</a:t>
            </a:r>
            <a:r>
              <a:rPr sz="15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and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MQTT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client.</a:t>
            </a:r>
            <a:endParaRPr sz="1500">
              <a:latin typeface="Trebuchet MS"/>
              <a:cs typeface="Trebuchet MS"/>
            </a:endParaRPr>
          </a:p>
          <a:p>
            <a:pPr marL="355493" marR="36184" indent="-342797">
              <a:lnSpc>
                <a:spcPct val="80000"/>
              </a:lnSpc>
              <a:spcBef>
                <a:spcPts val="1020"/>
              </a:spcBef>
              <a:tabLst>
                <a:tab pos="354859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MQTT</a:t>
            </a:r>
            <a:r>
              <a:rPr sz="15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client</a:t>
            </a:r>
            <a:r>
              <a:rPr sz="15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server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communicate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through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different</a:t>
            </a:r>
            <a:r>
              <a:rPr sz="15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control</a:t>
            </a:r>
            <a:r>
              <a:rPr sz="15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packets.</a:t>
            </a:r>
            <a:r>
              <a:rPr sz="15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Table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below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briefly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describes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each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these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control</a:t>
            </a:r>
            <a:r>
              <a:rPr sz="15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packets.</a:t>
            </a:r>
            <a:endParaRPr sz="15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8612" y="1134899"/>
            <a:ext cx="4902955" cy="51802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Sample</a:t>
            </a:r>
            <a:r>
              <a:rPr spc="-55" dirty="0"/>
              <a:t> </a:t>
            </a:r>
            <a:r>
              <a:rPr dirty="0"/>
              <a:t>of protocol</a:t>
            </a:r>
            <a:r>
              <a:rPr spc="-30" dirty="0"/>
              <a:t> </a:t>
            </a:r>
            <a:r>
              <a:rPr spc="-25" dirty="0"/>
              <a:t>use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98612" y="1600200"/>
            <a:ext cx="8054147" cy="4025486"/>
            <a:chOff x="1152144" y="2186939"/>
            <a:chExt cx="8056245" cy="4026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2144" y="2186939"/>
              <a:ext cx="8055864" cy="40264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7216" y="2382012"/>
              <a:ext cx="7467600" cy="343814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476" y="152400"/>
            <a:ext cx="10676600" cy="998091"/>
          </a:xfrm>
          <a:prstGeom prst="rect">
            <a:avLst/>
          </a:prstGeom>
        </p:spPr>
        <p:txBody>
          <a:bodyPr vert="horz" wrap="square" lIns="0" tIns="13332" rIns="0" bIns="0" rtlCol="0" anchor="b">
            <a:spAutoFit/>
          </a:bodyPr>
          <a:lstStyle/>
          <a:p>
            <a:pPr marL="12696" marR="5078">
              <a:lnSpc>
                <a:spcPct val="100000"/>
              </a:lnSpc>
              <a:spcBef>
                <a:spcPts val="105"/>
              </a:spcBef>
            </a:pPr>
            <a:r>
              <a:rPr sz="3199" dirty="0"/>
              <a:t>Ideal</a:t>
            </a:r>
            <a:r>
              <a:rPr sz="3199" spc="-100" dirty="0"/>
              <a:t> </a:t>
            </a:r>
            <a:r>
              <a:rPr sz="3199" dirty="0"/>
              <a:t>for</a:t>
            </a:r>
            <a:r>
              <a:rPr sz="3199" spc="-105" dirty="0"/>
              <a:t> </a:t>
            </a:r>
            <a:r>
              <a:rPr sz="3199" dirty="0"/>
              <a:t>constrained</a:t>
            </a:r>
            <a:r>
              <a:rPr sz="3199" spc="-105" dirty="0"/>
              <a:t> </a:t>
            </a:r>
            <a:r>
              <a:rPr sz="3199" dirty="0"/>
              <a:t>networks</a:t>
            </a:r>
            <a:r>
              <a:rPr sz="3199" spc="-114" dirty="0"/>
              <a:t> </a:t>
            </a:r>
            <a:r>
              <a:rPr sz="3199" spc="-20" dirty="0"/>
              <a:t>(low </a:t>
            </a:r>
            <a:r>
              <a:rPr sz="3199" dirty="0"/>
              <a:t>bandwidth,</a:t>
            </a:r>
            <a:r>
              <a:rPr sz="3199" spc="-120" dirty="0"/>
              <a:t> </a:t>
            </a:r>
            <a:r>
              <a:rPr sz="3199" dirty="0"/>
              <a:t>high</a:t>
            </a:r>
            <a:r>
              <a:rPr sz="3199" spc="-135" dirty="0"/>
              <a:t> </a:t>
            </a:r>
            <a:r>
              <a:rPr sz="3199" spc="-40" dirty="0"/>
              <a:t>latency,</a:t>
            </a:r>
            <a:r>
              <a:rPr sz="3199" spc="-130" dirty="0"/>
              <a:t> </a:t>
            </a:r>
            <a:r>
              <a:rPr sz="3199" dirty="0"/>
              <a:t>data</a:t>
            </a:r>
            <a:r>
              <a:rPr sz="3199" spc="-135" dirty="0"/>
              <a:t> </a:t>
            </a:r>
            <a:r>
              <a:rPr sz="3199" dirty="0"/>
              <a:t>limits,</a:t>
            </a:r>
            <a:r>
              <a:rPr sz="3199" spc="-130" dirty="0"/>
              <a:t> </a:t>
            </a:r>
            <a:r>
              <a:rPr sz="3199" spc="-25" dirty="0"/>
              <a:t>and </a:t>
            </a:r>
            <a:r>
              <a:rPr sz="3199" dirty="0"/>
              <a:t>fragile</a:t>
            </a:r>
            <a:r>
              <a:rPr sz="3199" spc="-114" dirty="0"/>
              <a:t> </a:t>
            </a:r>
            <a:r>
              <a:rPr sz="3199" spc="-10" dirty="0"/>
              <a:t>connections)</a:t>
            </a:r>
            <a:endParaRPr sz="3199" dirty="0"/>
          </a:p>
        </p:txBody>
      </p:sp>
      <p:sp>
        <p:nvSpPr>
          <p:cNvPr id="3" name="object 3"/>
          <p:cNvSpPr txBox="1"/>
          <p:nvPr/>
        </p:nvSpPr>
        <p:spPr>
          <a:xfrm>
            <a:off x="1889075" y="1801284"/>
            <a:ext cx="8401402" cy="3255431"/>
          </a:xfrm>
          <a:prstGeom prst="rect">
            <a:avLst/>
          </a:prstGeom>
        </p:spPr>
        <p:txBody>
          <a:bodyPr vert="horz" wrap="square" lIns="0" tIns="139664" rIns="0" bIns="0" rtlCol="0">
            <a:spAutoFit/>
          </a:bodyPr>
          <a:lstStyle/>
          <a:p>
            <a:pPr marL="12696">
              <a:spcBef>
                <a:spcPts val="1100"/>
              </a:spcBef>
              <a:tabLst>
                <a:tab pos="354859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MQTT</a:t>
            </a:r>
            <a:r>
              <a:rPr sz="1799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control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packet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headers</a:t>
            </a:r>
            <a:r>
              <a:rPr sz="1799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1799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kept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as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small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as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possible.</a:t>
            </a:r>
            <a:endParaRPr sz="1799" dirty="0">
              <a:latin typeface="Trebuchet MS"/>
              <a:cs typeface="Trebuchet MS"/>
            </a:endParaRPr>
          </a:p>
          <a:p>
            <a:pPr marL="355493" marR="518639" indent="-342797">
              <a:spcBef>
                <a:spcPts val="1000"/>
              </a:spcBef>
              <a:tabLst>
                <a:tab pos="354859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Each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MQTT</a:t>
            </a:r>
            <a:r>
              <a:rPr sz="1799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control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packet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consist</a:t>
            </a:r>
            <a:r>
              <a:rPr sz="1799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three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parts,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fixed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header,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variable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header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payload.</a:t>
            </a:r>
            <a:endParaRPr sz="1799" dirty="0">
              <a:latin typeface="Trebuchet MS"/>
              <a:cs typeface="Trebuchet MS"/>
            </a:endParaRPr>
          </a:p>
          <a:p>
            <a:pPr marL="12696">
              <a:spcBef>
                <a:spcPts val="994"/>
              </a:spcBef>
              <a:tabLst>
                <a:tab pos="354859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Each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MQTT</a:t>
            </a:r>
            <a:r>
              <a:rPr sz="17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control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packet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has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2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byte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Fixed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30" dirty="0">
                <a:solidFill>
                  <a:srgbClr val="404040"/>
                </a:solidFill>
                <a:latin typeface="Trebuchet MS"/>
                <a:cs typeface="Trebuchet MS"/>
              </a:rPr>
              <a:t>header.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Not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all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control</a:t>
            </a:r>
            <a:endParaRPr sz="1799" dirty="0">
              <a:latin typeface="Trebuchet MS"/>
              <a:cs typeface="Trebuchet MS"/>
            </a:endParaRPr>
          </a:p>
          <a:p>
            <a:pPr marL="355493"/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packet</a:t>
            </a:r>
            <a:r>
              <a:rPr sz="17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have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variable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headers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99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payload.</a:t>
            </a:r>
            <a:endParaRPr sz="1799" dirty="0">
              <a:latin typeface="Trebuchet MS"/>
              <a:cs typeface="Trebuchet MS"/>
            </a:endParaRPr>
          </a:p>
          <a:p>
            <a:pPr marL="12696">
              <a:spcBef>
                <a:spcPts val="1010"/>
              </a:spcBef>
              <a:tabLst>
                <a:tab pos="354859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799" spc="-1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variable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header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contains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99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packet</a:t>
            </a:r>
            <a:r>
              <a:rPr sz="17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identifier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if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7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17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control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packet.</a:t>
            </a:r>
            <a:endParaRPr sz="1799" dirty="0">
              <a:latin typeface="Trebuchet MS"/>
              <a:cs typeface="Trebuchet MS"/>
            </a:endParaRPr>
          </a:p>
          <a:p>
            <a:pPr marL="12696">
              <a:spcBef>
                <a:spcPts val="994"/>
              </a:spcBef>
              <a:tabLst>
                <a:tab pos="354859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799" spc="-1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payload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up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256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MB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could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attached</a:t>
            </a:r>
            <a:r>
              <a:rPr sz="1799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packets.</a:t>
            </a:r>
            <a:endParaRPr sz="1799" dirty="0">
              <a:latin typeface="Trebuchet MS"/>
              <a:cs typeface="Trebuchet MS"/>
            </a:endParaRPr>
          </a:p>
          <a:p>
            <a:pPr marL="12696">
              <a:spcBef>
                <a:spcPts val="994"/>
              </a:spcBef>
              <a:tabLst>
                <a:tab pos="354859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Having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small</a:t>
            </a:r>
            <a:r>
              <a:rPr sz="1799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header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overhead</a:t>
            </a:r>
            <a:r>
              <a:rPr sz="1799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makes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this</a:t>
            </a:r>
            <a:r>
              <a:rPr sz="17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protocol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appropriate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799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IoT</a:t>
            </a:r>
            <a:r>
              <a:rPr sz="1799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25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endParaRPr sz="1799" dirty="0">
              <a:latin typeface="Trebuchet MS"/>
              <a:cs typeface="Trebuchet MS"/>
            </a:endParaRPr>
          </a:p>
          <a:p>
            <a:pPr marL="355493"/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lowering</a:t>
            </a:r>
            <a:r>
              <a:rPr sz="17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amount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transmitted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over</a:t>
            </a:r>
            <a:r>
              <a:rPr sz="1799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constrained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networks.</a:t>
            </a:r>
            <a:endParaRPr sz="1799" dirty="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Quality</a:t>
            </a:r>
            <a:r>
              <a:rPr spc="-7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Service</a:t>
            </a:r>
            <a:r>
              <a:rPr spc="-60" dirty="0"/>
              <a:t> </a:t>
            </a:r>
            <a:r>
              <a:rPr dirty="0"/>
              <a:t>(QoS)</a:t>
            </a:r>
            <a:r>
              <a:rPr spc="-40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spc="-20" dirty="0"/>
              <a:t>MQTT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7212" y="1739705"/>
            <a:ext cx="8315064" cy="337859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  <a:tabLst>
                <a:tab pos="354859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Quality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service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(QoS)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levels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determine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how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each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MQTT</a:t>
            </a:r>
            <a:r>
              <a:rPr sz="1799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message</a:t>
            </a:r>
            <a:r>
              <a:rPr sz="1799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25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endParaRPr sz="1799" dirty="0">
              <a:latin typeface="Trebuchet MS"/>
              <a:cs typeface="Trebuchet MS"/>
            </a:endParaRPr>
          </a:p>
          <a:p>
            <a:pPr marL="355493">
              <a:spcBef>
                <a:spcPts val="5"/>
              </a:spcBef>
            </a:pP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delivered</a:t>
            </a:r>
            <a:r>
              <a:rPr sz="1799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must</a:t>
            </a:r>
            <a:r>
              <a:rPr sz="1799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sz="1799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specified</a:t>
            </a:r>
            <a:r>
              <a:rPr sz="1799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7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every</a:t>
            </a:r>
            <a:r>
              <a:rPr sz="1799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message</a:t>
            </a:r>
            <a:r>
              <a:rPr sz="1799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sent</a:t>
            </a:r>
            <a:r>
              <a:rPr sz="1799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through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MQTT.</a:t>
            </a:r>
            <a:endParaRPr sz="1799" dirty="0">
              <a:latin typeface="Trebuchet MS"/>
              <a:cs typeface="Trebuchet MS"/>
            </a:endParaRPr>
          </a:p>
          <a:p>
            <a:pPr marL="12696">
              <a:spcBef>
                <a:spcPts val="994"/>
              </a:spcBef>
              <a:tabLst>
                <a:tab pos="354859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Three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QoS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message</a:t>
            </a:r>
            <a:r>
              <a:rPr sz="1799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delivery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could</a:t>
            </a:r>
            <a:r>
              <a:rPr sz="1799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achieved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using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MQTT:</a:t>
            </a:r>
            <a:endParaRPr sz="1799" dirty="0">
              <a:latin typeface="Trebuchet MS"/>
              <a:cs typeface="Trebuchet MS"/>
            </a:endParaRPr>
          </a:p>
          <a:p>
            <a:pPr marL="756058" marR="5078" indent="-286934">
              <a:spcBef>
                <a:spcPts val="1005"/>
              </a:spcBef>
              <a:tabLst>
                <a:tab pos="756058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QoS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0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(At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most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once)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where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messages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delivered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according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best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efforts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operating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environment.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Message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loss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occur.</a:t>
            </a:r>
            <a:endParaRPr sz="1600" dirty="0">
              <a:latin typeface="Trebuchet MS"/>
              <a:cs typeface="Trebuchet MS"/>
            </a:endParaRPr>
          </a:p>
          <a:p>
            <a:pPr marL="756058" marR="263446" indent="-286934">
              <a:spcBef>
                <a:spcPts val="994"/>
              </a:spcBef>
              <a:tabLst>
                <a:tab pos="756058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QoS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1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(At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least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once)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where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messages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assured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arrive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but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duplicates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can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occur.</a:t>
            </a:r>
            <a:endParaRPr sz="1600" dirty="0">
              <a:latin typeface="Trebuchet MS"/>
              <a:cs typeface="Trebuchet MS"/>
            </a:endParaRPr>
          </a:p>
          <a:p>
            <a:pPr marL="469759">
              <a:spcBef>
                <a:spcPts val="1010"/>
              </a:spcBef>
              <a:tabLst>
                <a:tab pos="756058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QoS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2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(Exactly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once)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where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message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assured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arrive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exactly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once.</a:t>
            </a:r>
            <a:endParaRPr sz="1600" dirty="0">
              <a:latin typeface="Trebuchet MS"/>
              <a:cs typeface="Trebuchet MS"/>
            </a:endParaRPr>
          </a:p>
          <a:p>
            <a:pPr marL="1637809" marR="848739" indent="-1625747">
              <a:lnSpc>
                <a:spcPts val="3169"/>
              </a:lnSpc>
              <a:spcBef>
                <a:spcPts val="80"/>
              </a:spcBef>
              <a:tabLst>
                <a:tab pos="354859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There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simple</a:t>
            </a:r>
            <a:r>
              <a:rPr sz="17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rule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when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considering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performance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impact</a:t>
            </a:r>
            <a:r>
              <a:rPr sz="17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QoS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: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“The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higher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99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QoS,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lower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performance".</a:t>
            </a:r>
            <a:endParaRPr sz="1799" dirty="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Quality</a:t>
            </a:r>
            <a:r>
              <a:rPr spc="-7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Service</a:t>
            </a:r>
            <a:r>
              <a:rPr spc="-60" dirty="0"/>
              <a:t> </a:t>
            </a:r>
            <a:r>
              <a:rPr dirty="0"/>
              <a:t>(QoS)</a:t>
            </a:r>
            <a:r>
              <a:rPr spc="-40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spc="-20" dirty="0"/>
              <a:t>MQTT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74812" y="1125755"/>
            <a:ext cx="9129557" cy="5497668"/>
            <a:chOff x="1123188" y="1359408"/>
            <a:chExt cx="9131935" cy="54991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3188" y="1359408"/>
              <a:ext cx="9131808" cy="54985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8260" y="1554480"/>
              <a:ext cx="8543544" cy="503834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708" y="359351"/>
            <a:ext cx="10053162" cy="75116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>
              <a:lnSpc>
                <a:spcPct val="100000"/>
              </a:lnSpc>
              <a:spcBef>
                <a:spcPts val="100"/>
              </a:spcBef>
            </a:pPr>
            <a:r>
              <a:rPr dirty="0"/>
              <a:t>MQTT</a:t>
            </a:r>
            <a:r>
              <a:rPr spc="-85" dirty="0"/>
              <a:t> </a:t>
            </a:r>
            <a:r>
              <a:rPr dirty="0"/>
              <a:t>Clients</a:t>
            </a:r>
            <a:r>
              <a:rPr spc="-15" dirty="0"/>
              <a:t> </a:t>
            </a:r>
            <a:r>
              <a:rPr dirty="0"/>
              <a:t>and</a:t>
            </a:r>
            <a:r>
              <a:rPr spc="-215" dirty="0"/>
              <a:t> </a:t>
            </a:r>
            <a:r>
              <a:rPr spc="-20" dirty="0"/>
              <a:t>APIs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2734" y="1462599"/>
            <a:ext cx="8221109" cy="3932801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55493" marR="111726" indent="-342797">
              <a:lnSpc>
                <a:spcPct val="120000"/>
              </a:lnSpc>
              <a:spcBef>
                <a:spcPts val="100"/>
              </a:spcBef>
              <a:tabLst>
                <a:tab pos="354859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99" spc="-60" dirty="0">
                <a:solidFill>
                  <a:srgbClr val="404040"/>
                </a:solidFill>
                <a:latin typeface="Trebuchet MS"/>
                <a:cs typeface="Trebuchet MS"/>
              </a:rPr>
              <a:t>You</a:t>
            </a:r>
            <a:r>
              <a:rPr sz="17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develop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MQTT</a:t>
            </a:r>
            <a:r>
              <a:rPr sz="1799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client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application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17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programming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directly</a:t>
            </a:r>
            <a:r>
              <a:rPr sz="17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7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2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MQTT</a:t>
            </a:r>
            <a:r>
              <a:rPr sz="1799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protocol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specification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……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however</a:t>
            </a:r>
            <a:r>
              <a:rPr sz="1799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more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convenient</a:t>
            </a:r>
            <a:r>
              <a:rPr sz="1799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7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use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prebuilt</a:t>
            </a:r>
            <a:r>
              <a:rPr sz="1799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client</a:t>
            </a:r>
            <a:endParaRPr sz="1799" dirty="0">
              <a:latin typeface="Trebuchet MS"/>
              <a:cs typeface="Trebuchet MS"/>
            </a:endParaRPr>
          </a:p>
          <a:p>
            <a:pPr marL="12696">
              <a:spcBef>
                <a:spcPts val="1430"/>
              </a:spcBef>
              <a:tabLst>
                <a:tab pos="354859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Open</a:t>
            </a:r>
            <a:r>
              <a:rPr sz="1799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Source</a:t>
            </a:r>
            <a:r>
              <a:rPr sz="1799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clients</a:t>
            </a:r>
            <a:r>
              <a:rPr sz="1799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available</a:t>
            </a:r>
            <a:r>
              <a:rPr sz="1799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99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Eclipse</a:t>
            </a:r>
            <a:r>
              <a:rPr sz="1799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Paho</a:t>
            </a:r>
            <a:r>
              <a:rPr sz="1799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project</a:t>
            </a:r>
            <a:endParaRPr sz="1799" dirty="0">
              <a:latin typeface="Trebuchet MS"/>
              <a:cs typeface="Trebuchet MS"/>
            </a:endParaRPr>
          </a:p>
          <a:p>
            <a:pPr marL="469759">
              <a:spcBef>
                <a:spcPts val="1420"/>
              </a:spcBef>
              <a:tabLst>
                <a:tab pos="756058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C,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C++,</a:t>
            </a:r>
            <a:r>
              <a:rPr sz="16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Java,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JavaScript,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Lua,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Python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6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Go</a:t>
            </a:r>
            <a:endParaRPr sz="1600" dirty="0">
              <a:latin typeface="Trebuchet MS"/>
              <a:cs typeface="Trebuchet MS"/>
            </a:endParaRPr>
          </a:p>
          <a:p>
            <a:pPr marL="12696">
              <a:spcBef>
                <a:spcPts val="1400"/>
              </a:spcBef>
              <a:tabLst>
                <a:tab pos="354859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Clients</a:t>
            </a:r>
            <a:r>
              <a:rPr sz="1799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other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languages</a:t>
            </a:r>
            <a:r>
              <a:rPr sz="17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available,</a:t>
            </a:r>
            <a:r>
              <a:rPr sz="17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see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10" dirty="0">
                <a:solidFill>
                  <a:srgbClr val="404040"/>
                </a:solidFill>
                <a:latin typeface="Trebuchet MS"/>
                <a:cs typeface="Trebuchet MS"/>
              </a:rPr>
              <a:t>mqtt.org/software</a:t>
            </a:r>
            <a:endParaRPr sz="1799" dirty="0">
              <a:latin typeface="Trebuchet MS"/>
              <a:cs typeface="Trebuchet MS"/>
            </a:endParaRPr>
          </a:p>
          <a:p>
            <a:pPr marL="469759">
              <a:spcBef>
                <a:spcPts val="1415"/>
              </a:spcBef>
              <a:tabLst>
                <a:tab pos="756058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E.g.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Delphi,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Erlang,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.Net,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Objective-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C,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PERL, </a:t>
            </a:r>
            <a:r>
              <a:rPr sz="1600" spc="-75" dirty="0">
                <a:solidFill>
                  <a:srgbClr val="404040"/>
                </a:solidFill>
                <a:latin typeface="Trebuchet MS"/>
                <a:cs typeface="Trebuchet MS"/>
              </a:rPr>
              <a:t>PHP,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Ruby</a:t>
            </a:r>
            <a:endParaRPr sz="1600" dirty="0">
              <a:latin typeface="Trebuchet MS"/>
              <a:cs typeface="Trebuchet MS"/>
            </a:endParaRPr>
          </a:p>
          <a:p>
            <a:pPr marL="756058" marR="5078" indent="-286934">
              <a:lnSpc>
                <a:spcPct val="120000"/>
              </a:lnSpc>
              <a:spcBef>
                <a:spcPts val="1005"/>
              </a:spcBef>
              <a:tabLst>
                <a:tab pos="756058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Not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all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client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libraries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listed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mqtt.org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current.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Some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at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early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experimental</a:t>
            </a:r>
            <a:r>
              <a:rPr sz="16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stage</a:t>
            </a:r>
            <a:r>
              <a:rPr sz="16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development,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whilst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others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stable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6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mature.</a:t>
            </a:r>
            <a:endParaRPr sz="1600" dirty="0">
              <a:latin typeface="Trebuchet MS"/>
              <a:cs typeface="Trebuchet MS"/>
            </a:endParaRPr>
          </a:p>
          <a:p>
            <a:pPr marL="12696">
              <a:spcBef>
                <a:spcPts val="1395"/>
              </a:spcBef>
              <a:tabLst>
                <a:tab pos="354859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Even</a:t>
            </a:r>
            <a:r>
              <a:rPr sz="1799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shell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script</a:t>
            </a:r>
            <a:r>
              <a:rPr sz="1799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like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seeing</a:t>
            </a:r>
            <a:r>
              <a:rPr sz="1799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99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practical</a:t>
            </a:r>
            <a:r>
              <a:rPr sz="1799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dirty="0">
                <a:solidFill>
                  <a:srgbClr val="404040"/>
                </a:solidFill>
                <a:latin typeface="Trebuchet MS"/>
                <a:cs typeface="Trebuchet MS"/>
              </a:rPr>
              <a:t>course</a:t>
            </a:r>
            <a:r>
              <a:rPr sz="1799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99" spc="-50" dirty="0">
                <a:solidFill>
                  <a:srgbClr val="404040"/>
                </a:solidFill>
                <a:latin typeface="Trebuchet MS"/>
                <a:cs typeface="Trebuchet MS"/>
              </a:rPr>
              <a:t>…</a:t>
            </a:r>
            <a:endParaRPr sz="1799" dirty="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63746-7929-094F-1CC6-B9BAA9BFF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 to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3605B-74CE-051D-89C9-3798D3036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An Introduction to REST API -</a:t>
            </a:r>
            <a:r>
              <a:rPr lang="en" sz="2800" dirty="0"/>
              <a:t>Aniruddh Bhilvare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CoAP-</a:t>
            </a:r>
            <a:r>
              <a:rPr lang="en-IN" sz="2000" dirty="0"/>
              <a:t>Constrained Application Protocol </a:t>
            </a:r>
            <a:r>
              <a:rPr lang="en-IN" sz="2000" dirty="0">
                <a:solidFill>
                  <a:schemeClr val="tx1"/>
                </a:solidFill>
              </a:rPr>
              <a:t> - SHAIK SABAHAT NOWREEN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72FEA-0F17-857F-3C72-13DE580E0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E42B6-08B4-44C6-AB01-4B32D9E60F6B}" type="datetime1">
              <a:rPr lang="en-US" smtClean="0"/>
              <a:t>16-Mar-25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90DF6-F348-0232-B701-B7DDF68DB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339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D54B8-4342-D7C9-9171-ECE880F65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309" y="136524"/>
            <a:ext cx="10157354" cy="6035676"/>
          </a:xfrm>
        </p:spPr>
        <p:txBody>
          <a:bodyPr anchor="ctr" anchorCtr="0">
            <a:normAutofit/>
          </a:bodyPr>
          <a:lstStyle/>
          <a:p>
            <a:pPr marL="0" indent="0" algn="ctr">
              <a:buNone/>
            </a:pPr>
            <a:r>
              <a:rPr lang="en-US" sz="9600" dirty="0"/>
              <a:t>Thank you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01DCF-269C-E012-BEDD-563CF007B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5C78-C505-4C37-8276-4A615E5DBFD8}" type="datetime1">
              <a:rPr lang="en-US" smtClean="0"/>
              <a:t>16-Mar-25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606EC-FAE1-8900-664A-1CDC6A5C0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3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1131</TotalTime>
  <Words>3159</Words>
  <Application>Microsoft Office PowerPoint</Application>
  <PresentationFormat>Custom</PresentationFormat>
  <Paragraphs>352</Paragraphs>
  <Slides>51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2" baseType="lpstr">
      <vt:lpstr>Arial</vt:lpstr>
      <vt:lpstr>Arial MT</vt:lpstr>
      <vt:lpstr>Calibri</vt:lpstr>
      <vt:lpstr>Calibri Light</vt:lpstr>
      <vt:lpstr>Century Gothic</vt:lpstr>
      <vt:lpstr>Lucida Sans Unicode</vt:lpstr>
      <vt:lpstr>Open Sans</vt:lpstr>
      <vt:lpstr>Times New Roman</vt:lpstr>
      <vt:lpstr>Trebuchet MS</vt:lpstr>
      <vt:lpstr>Wingdings</vt:lpstr>
      <vt:lpstr>Retrospect</vt:lpstr>
      <vt:lpstr>Internet of Things</vt:lpstr>
      <vt:lpstr>What is REST ? </vt:lpstr>
      <vt:lpstr>REpresentational ? State ? Transfer ?  </vt:lpstr>
      <vt:lpstr>REpresentational ? State ? Transfer ? </vt:lpstr>
      <vt:lpstr>HTTP Methods</vt:lpstr>
      <vt:lpstr>Architecture:</vt:lpstr>
      <vt:lpstr>HTTP Request Example:</vt:lpstr>
      <vt:lpstr>HTTP Response Example:</vt:lpstr>
      <vt:lpstr>HTTP REST Request:</vt:lpstr>
      <vt:lpstr>HTTP REST Response:</vt:lpstr>
      <vt:lpstr>HTTP Response Status Code:</vt:lpstr>
      <vt:lpstr>Points to be noted</vt:lpstr>
      <vt:lpstr>Use Nouns but no verbs in path/URI:</vt:lpstr>
      <vt:lpstr>Use plural nouns:</vt:lpstr>
      <vt:lpstr>GET method should not alter the state:</vt:lpstr>
      <vt:lpstr>Use sub-resources for relation:</vt:lpstr>
      <vt:lpstr>Use HTTP headers for serialization formats:</vt:lpstr>
      <vt:lpstr>Versioning is important:</vt:lpstr>
      <vt:lpstr>Handle Errors with HTTP Status code:</vt:lpstr>
      <vt:lpstr>Filtering: </vt:lpstr>
      <vt:lpstr>Sorting:</vt:lpstr>
      <vt:lpstr>Paging:</vt:lpstr>
      <vt:lpstr>Aliases for common queries:</vt:lpstr>
      <vt:lpstr>Want to develop REST APIs easily???</vt:lpstr>
      <vt:lpstr>Introduction To CoAP</vt:lpstr>
      <vt:lpstr>Architecture Of CoAP</vt:lpstr>
      <vt:lpstr>Architecture Of CoAP</vt:lpstr>
      <vt:lpstr>CoAP Structure</vt:lpstr>
      <vt:lpstr>CoAP Structure</vt:lpstr>
      <vt:lpstr>Common Terms in CoAP</vt:lpstr>
      <vt:lpstr>CoAP Messages Model</vt:lpstr>
      <vt:lpstr>CoAP Messages Model</vt:lpstr>
      <vt:lpstr>CoAP Messages Model</vt:lpstr>
      <vt:lpstr>CoAP Messages Model</vt:lpstr>
      <vt:lpstr>CoAP Request/Response Model </vt:lpstr>
      <vt:lpstr>CoAP Request/Response Model</vt:lpstr>
      <vt:lpstr>CoAP Request/Response Model</vt:lpstr>
      <vt:lpstr>CoAP Message Format</vt:lpstr>
      <vt:lpstr>CoAP Security Aspects</vt:lpstr>
      <vt:lpstr>MQTT</vt:lpstr>
      <vt:lpstr>Publish / Subscribe Messaging (One to Many)</vt:lpstr>
      <vt:lpstr>MQTT Topic and Wildcards</vt:lpstr>
      <vt:lpstr>MQTT Topic : Details</vt:lpstr>
      <vt:lpstr>MQTT publish subscribe architecture</vt:lpstr>
      <vt:lpstr>Sample of protocol use</vt:lpstr>
      <vt:lpstr>Ideal for constrained networks (low bandwidth, high latency, data limits, and fragile connections)</vt:lpstr>
      <vt:lpstr>Quality of Service (QoS) for MQTT</vt:lpstr>
      <vt:lpstr>Quality of Service (QoS) for MQTT</vt:lpstr>
      <vt:lpstr>MQTT Clients and APIs</vt:lpstr>
      <vt:lpstr>Thanks to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Raihan Ul Islam</dc:creator>
  <cp:lastModifiedBy>Dr. Raihan Ul Islam</cp:lastModifiedBy>
  <cp:revision>58</cp:revision>
  <dcterms:created xsi:type="dcterms:W3CDTF">2023-11-06T21:34:41Z</dcterms:created>
  <dcterms:modified xsi:type="dcterms:W3CDTF">2025-03-16T07:19:07Z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