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2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21.jpg" ContentType="image/jpg"/>
  <Override PartName="/ppt/media/image23.jpg" ContentType="image/jpg"/>
  <Override PartName="/ppt/media/image24.jpg" ContentType="image/jpg"/>
  <Override PartName="/ppt/media/image25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4.jpg" ContentType="image/jp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46.jpg" ContentType="image/jpg"/>
  <Override PartName="/ppt/media/image48.jpg" ContentType="image/jpg"/>
  <Override PartName="/ppt/media/image56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1"/>
  </p:sldMasterIdLst>
  <p:notesMasterIdLst>
    <p:notesMasterId r:id="rId63"/>
  </p:notesMasterIdLst>
  <p:handoutMasterIdLst>
    <p:handoutMasterId r:id="rId64"/>
  </p:handoutMasterIdLst>
  <p:sldIdLst>
    <p:sldId id="264" r:id="rId2"/>
    <p:sldId id="509" r:id="rId3"/>
    <p:sldId id="510" r:id="rId4"/>
    <p:sldId id="511" r:id="rId5"/>
    <p:sldId id="512" r:id="rId6"/>
    <p:sldId id="513" r:id="rId7"/>
    <p:sldId id="302" r:id="rId8"/>
    <p:sldId id="303" r:id="rId9"/>
    <p:sldId id="514" r:id="rId10"/>
    <p:sldId id="51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272" r:id="rId20"/>
    <p:sldId id="273" r:id="rId21"/>
    <p:sldId id="274" r:id="rId22"/>
    <p:sldId id="275" r:id="rId23"/>
    <p:sldId id="276" r:id="rId24"/>
    <p:sldId id="336" r:id="rId25"/>
    <p:sldId id="337" r:id="rId26"/>
    <p:sldId id="674" r:id="rId27"/>
    <p:sldId id="711" r:id="rId28"/>
    <p:sldId id="712" r:id="rId29"/>
    <p:sldId id="713" r:id="rId30"/>
    <p:sldId id="714" r:id="rId31"/>
    <p:sldId id="715" r:id="rId32"/>
    <p:sldId id="716" r:id="rId33"/>
    <p:sldId id="257" r:id="rId34"/>
    <p:sldId id="258" r:id="rId35"/>
    <p:sldId id="259" r:id="rId36"/>
    <p:sldId id="260" r:id="rId37"/>
    <p:sldId id="261" r:id="rId38"/>
    <p:sldId id="717" r:id="rId39"/>
    <p:sldId id="718" r:id="rId40"/>
    <p:sldId id="719" r:id="rId41"/>
    <p:sldId id="720" r:id="rId42"/>
    <p:sldId id="721" r:id="rId43"/>
    <p:sldId id="722" r:id="rId44"/>
    <p:sldId id="723" r:id="rId45"/>
    <p:sldId id="724" r:id="rId46"/>
    <p:sldId id="271" r:id="rId47"/>
    <p:sldId id="279" r:id="rId48"/>
    <p:sldId id="280" r:id="rId49"/>
    <p:sldId id="281" r:id="rId50"/>
    <p:sldId id="282" r:id="rId51"/>
    <p:sldId id="283" r:id="rId52"/>
    <p:sldId id="284" r:id="rId53"/>
    <p:sldId id="285" r:id="rId54"/>
    <p:sldId id="286" r:id="rId55"/>
    <p:sldId id="287" r:id="rId56"/>
    <p:sldId id="288" r:id="rId57"/>
    <p:sldId id="289" r:id="rId58"/>
    <p:sldId id="290" r:id="rId59"/>
    <p:sldId id="291" r:id="rId60"/>
    <p:sldId id="292" r:id="rId61"/>
    <p:sldId id="468" r:id="rId6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8" autoAdjust="0"/>
    <p:restoredTop sz="92131" autoAdjust="0"/>
  </p:normalViewPr>
  <p:slideViewPr>
    <p:cSldViewPr showGuides="1">
      <p:cViewPr varScale="1">
        <p:scale>
          <a:sx n="79" d="100"/>
          <a:sy n="79" d="100"/>
        </p:scale>
        <p:origin x="1122" y="96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26-Oct-25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26-Oct-25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765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85372" indent="-302066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208265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91571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174878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fld id="{372DF36C-FEE2-4B69-B8D8-323BB3392911}" type="slidenum">
              <a:rPr kumimoji="0" lang="zh-TW" altLang="en-US"/>
              <a:pPr/>
              <a:t>27</a:t>
            </a:fld>
            <a:endParaRPr kumimoji="0"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867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85372" indent="-302066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208265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91571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174878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fld id="{CCD04CC3-DE81-4900-BF1A-F334CD138184}" type="slidenum">
              <a:rPr kumimoji="0" lang="zh-TW" altLang="en-US"/>
              <a:pPr/>
              <a:t>28</a:t>
            </a:fld>
            <a:endParaRPr kumimoji="0"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2970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85372" indent="-302066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208265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91571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174878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fld id="{DDB4E9F5-4C96-4C7D-AE7E-5B3B055573EF}" type="slidenum">
              <a:rPr kumimoji="0" lang="zh-TW" altLang="en-US"/>
              <a:pPr/>
              <a:t>29</a:t>
            </a:fld>
            <a:endParaRPr kumimoji="0"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3072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85372" indent="-302066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208265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91571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174878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fld id="{889740A1-BE37-451C-87D7-F20AF46BDD27}" type="slidenum">
              <a:rPr kumimoji="0" lang="zh-TW" altLang="en-US"/>
              <a:pPr/>
              <a:t>30</a:t>
            </a:fld>
            <a:endParaRPr kumimoji="0"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317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85372" indent="-302066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208265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91571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174878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fld id="{E755672C-7099-4525-889F-3645042FE851}" type="slidenum">
              <a:rPr kumimoji="0" lang="zh-TW" altLang="en-US"/>
              <a:pPr/>
              <a:t>31</a:t>
            </a:fld>
            <a:endParaRPr kumimoji="0"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32772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85372" indent="-302066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208265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91571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174878" indent="-241653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658184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3141490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624796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4108102" indent="-24165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fld id="{4260A7F8-C40B-4B2E-8ED7-EE3E7FC8BFD4}" type="slidenum">
              <a:rPr kumimoji="0" lang="zh-TW" altLang="en-US"/>
              <a:pPr/>
              <a:t>32</a:t>
            </a:fld>
            <a:endParaRPr kumimoji="0"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6994" y="758952"/>
            <a:ext cx="10055781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998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764" y="4455620"/>
            <a:ext cx="10055781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 algn="ctr">
              <a:buNone/>
              <a:defRPr sz="2399"/>
            </a:lvl2pPr>
            <a:lvl3pPr marL="914126" indent="0" algn="ctr">
              <a:buNone/>
              <a:defRPr sz="2399"/>
            </a:lvl3pPr>
            <a:lvl4pPr marL="1371189" indent="0" algn="ctr">
              <a:buNone/>
              <a:defRPr sz="1999"/>
            </a:lvl4pPr>
            <a:lvl5pPr marL="1828251" indent="0" algn="ctr">
              <a:buNone/>
              <a:defRPr sz="1999"/>
            </a:lvl5pPr>
            <a:lvl6pPr marL="2285314" indent="0" algn="ctr">
              <a:buNone/>
              <a:defRPr sz="1999"/>
            </a:lvl6pPr>
            <a:lvl7pPr marL="2742377" indent="0" algn="ctr">
              <a:buNone/>
              <a:defRPr sz="1999"/>
            </a:lvl7pPr>
            <a:lvl8pPr marL="3199440" indent="0" algn="ctr">
              <a:buNone/>
              <a:defRPr sz="1999"/>
            </a:lvl8pPr>
            <a:lvl9pPr marL="3656503" indent="0" algn="ctr">
              <a:buNone/>
              <a:defRPr sz="19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59822-BAB7-4368-8F24-B53B3A05D627}" type="datetime1">
              <a:rPr lang="en-US" smtClean="0"/>
              <a:t>26-Oct-25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98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42B6-08B4-44C6-AB01-4B32D9E60F6B}" type="datetime1">
              <a:rPr lang="en-US" smtClean="0"/>
              <a:t>26-Oct-25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5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758952"/>
            <a:ext cx="10055781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7998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4453128"/>
            <a:ext cx="10055781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399" cap="all" spc="200" baseline="0">
                <a:solidFill>
                  <a:schemeClr val="tx2"/>
                </a:solidFill>
                <a:latin typeface="+mj-lt"/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BDCF0-EEE2-4CCE-A57D-009BC34499C4}" type="datetime1">
              <a:rPr lang="en-US" smtClean="0"/>
              <a:t>26-Oct-25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344" y="4343400"/>
            <a:ext cx="987294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48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6993" y="1845734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6301" y="1845735"/>
            <a:ext cx="4936474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68FFC-599B-4678-A0EF-54173C5E941B}" type="datetime1">
              <a:rPr lang="en-US" smtClean="0"/>
              <a:t>26-Oct-25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6994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6301" y="1846052"/>
            <a:ext cx="493647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999" b="0" cap="all" baseline="0">
                <a:solidFill>
                  <a:schemeClr val="tx2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6301" y="2582334"/>
            <a:ext cx="4936474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AE2B2-6B71-48AB-A931-E8697405F8CE}" type="datetime1">
              <a:rPr lang="en-US" smtClean="0"/>
              <a:t>26-Oct-25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7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6D7DC-6AFC-4BD3-8485-0F402D55AED0}" type="datetime1">
              <a:rPr lang="en-US" smtClean="0"/>
              <a:t>26-Oct-25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5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3B948-3677-4F19-BE0D-E138A2E07B97}" type="datetime1">
              <a:rPr lang="en-US" smtClean="0"/>
              <a:t>26-Oct-25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7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7" y="0"/>
            <a:ext cx="40497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39019" y="0"/>
            <a:ext cx="6399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81" y="594359"/>
            <a:ext cx="3199567" cy="2286000"/>
          </a:xfrm>
        </p:spPr>
        <p:txBody>
          <a:bodyPr anchor="b">
            <a:norm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9350" y="731520"/>
            <a:ext cx="6490549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081" y="2926080"/>
            <a:ext cx="3199567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391" y="6459786"/>
            <a:ext cx="2617828" cy="365125"/>
          </a:xfrm>
        </p:spPr>
        <p:txBody>
          <a:bodyPr/>
          <a:lstStyle>
            <a:lvl1pPr algn="l">
              <a:defRPr/>
            </a:lvl1pPr>
          </a:lstStyle>
          <a:p>
            <a:fld id="{B19E39D1-8478-41A4-843D-9C98DA7A5533}" type="datetime1">
              <a:rPr lang="en-US" smtClean="0"/>
              <a:t>26-Oct-25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799350" y="6459786"/>
            <a:ext cx="464699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4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565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6994" y="5074920"/>
            <a:ext cx="10110630" cy="822960"/>
          </a:xfrm>
        </p:spPr>
        <p:txBody>
          <a:bodyPr lIns="91440" tIns="0" rIns="91440" bIns="0" anchor="b">
            <a:noAutofit/>
          </a:bodyPr>
          <a:lstStyle>
            <a:lvl1pPr>
              <a:defRPr sz="3599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88810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199">
                <a:solidFill>
                  <a:schemeClr val="bg1"/>
                </a:solidFill>
              </a:defRPr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6994" y="5907023"/>
            <a:ext cx="1011063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9B3BD-D38A-41D0-8783-0D4C201EF8EE}" type="datetime1">
              <a:rPr lang="en-US" smtClean="0"/>
              <a:t>26-Oct-25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595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F3FAF-8F6B-49B5-A761-A35D4D3E14DB}" type="datetime1">
              <a:rPr lang="en-US" smtClean="0"/>
              <a:t>26-Oct-25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62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565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565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414779"/>
            <a:ext cx="262821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414778"/>
            <a:ext cx="7732286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98F7C-861B-4B3E-B3B7-41A3299C3875}" type="datetime1">
              <a:rPr lang="en-US" smtClean="0"/>
              <a:t>26-Oct-25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25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399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353697" y="1644397"/>
            <a:ext cx="4325128" cy="443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99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8970" y="1860727"/>
            <a:ext cx="4040088" cy="2768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FFFF00"/>
                </a:solidFill>
                <a:latin typeface="Calibri"/>
                <a:cs typeface="Calibri"/>
              </a:defRPr>
            </a:lvl1pPr>
          </a:lstStyle>
          <a:p>
            <a:pPr marL="2049799">
              <a:spcBef>
                <a:spcPts val="40"/>
              </a:spcBef>
            </a:pPr>
            <a:r>
              <a:rPr lang="en-US" spc="-10"/>
              <a:t>PROTOTYPING</a:t>
            </a:r>
            <a:r>
              <a:rPr lang="en-US" spc="-40"/>
              <a:t> </a:t>
            </a:r>
            <a:r>
              <a:rPr lang="en-US"/>
              <a:t>BOARDS</a:t>
            </a:r>
            <a:r>
              <a:rPr lang="en-US" spc="-45"/>
              <a:t> </a:t>
            </a:r>
            <a:r>
              <a:rPr lang="en-US"/>
              <a:t>AND</a:t>
            </a:r>
            <a:r>
              <a:rPr lang="en-US" spc="-35"/>
              <a:t> </a:t>
            </a:r>
            <a:r>
              <a:rPr lang="en-US" spc="-10"/>
              <a:t>LANGUAGES</a:t>
            </a:r>
          </a:p>
          <a:p>
            <a:pPr marL="134580">
              <a:spcBef>
                <a:spcPts val="75"/>
              </a:spcBef>
            </a:pPr>
            <a:r>
              <a:rPr lang="en-US" sz="1100">
                <a:solidFill>
                  <a:srgbClr val="FFFFFF"/>
                </a:solidFill>
              </a:rPr>
              <a:t>L.</a:t>
            </a:r>
            <a:r>
              <a:rPr lang="en-US" sz="1100" spc="-25">
                <a:solidFill>
                  <a:srgbClr val="FFFFFF"/>
                </a:solidFill>
              </a:rPr>
              <a:t> </a:t>
            </a:r>
            <a:r>
              <a:rPr lang="en-US" sz="1100">
                <a:solidFill>
                  <a:srgbClr val="FFFFFF"/>
                </a:solidFill>
              </a:rPr>
              <a:t>BONONI,</a:t>
            </a:r>
            <a:r>
              <a:rPr lang="en-US" sz="1100" spc="-25">
                <a:solidFill>
                  <a:srgbClr val="FFFFFF"/>
                </a:solidFill>
              </a:rPr>
              <a:t> </a:t>
            </a:r>
            <a:r>
              <a:rPr lang="en-US" sz="1100">
                <a:solidFill>
                  <a:srgbClr val="FFFFFF"/>
                </a:solidFill>
              </a:rPr>
              <a:t>M.</a:t>
            </a:r>
            <a:r>
              <a:rPr lang="en-US" sz="1100" spc="-20">
                <a:solidFill>
                  <a:srgbClr val="FFFFFF"/>
                </a:solidFill>
              </a:rPr>
              <a:t> </a:t>
            </a:r>
            <a:r>
              <a:rPr lang="en-US" sz="1100">
                <a:solidFill>
                  <a:srgbClr val="FFFFFF"/>
                </a:solidFill>
              </a:rPr>
              <a:t>DI</a:t>
            </a:r>
            <a:r>
              <a:rPr lang="en-US" sz="1100" spc="-35">
                <a:solidFill>
                  <a:srgbClr val="FFFFFF"/>
                </a:solidFill>
              </a:rPr>
              <a:t> </a:t>
            </a:r>
            <a:r>
              <a:rPr lang="en-US" sz="1100">
                <a:solidFill>
                  <a:srgbClr val="FFFFFF"/>
                </a:solidFill>
              </a:rPr>
              <a:t>FELICE,</a:t>
            </a:r>
            <a:r>
              <a:rPr lang="en-US" sz="1100" spc="-20">
                <a:solidFill>
                  <a:srgbClr val="FFFFFF"/>
                </a:solidFill>
              </a:rPr>
              <a:t> </a:t>
            </a:r>
            <a:r>
              <a:rPr lang="en-US" sz="1100">
                <a:solidFill>
                  <a:srgbClr val="FFFFFF"/>
                </a:solidFill>
              </a:rPr>
              <a:t>L.</a:t>
            </a:r>
            <a:r>
              <a:rPr lang="en-US" sz="1100" spc="-25">
                <a:solidFill>
                  <a:srgbClr val="FFFFFF"/>
                </a:solidFill>
              </a:rPr>
              <a:t> </a:t>
            </a:r>
            <a:r>
              <a:rPr lang="en-US" sz="1100">
                <a:solidFill>
                  <a:srgbClr val="FFFFFF"/>
                </a:solidFill>
              </a:rPr>
              <a:t>SCIULLO</a:t>
            </a:r>
            <a:r>
              <a:rPr lang="en-US" sz="1100" b="0">
                <a:solidFill>
                  <a:srgbClr val="FFFFFF"/>
                </a:solidFill>
              </a:rPr>
              <a:t>,</a:t>
            </a:r>
            <a:r>
              <a:rPr lang="en-US" sz="1100" b="0" spc="195">
                <a:solidFill>
                  <a:srgbClr val="FFFFFF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DEPARTMENT</a:t>
            </a:r>
            <a:r>
              <a:rPr lang="en-US" sz="1100" b="0" spc="-25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OF</a:t>
            </a:r>
            <a:r>
              <a:rPr lang="en-US" sz="1100" b="0" spc="-35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COMPUTER</a:t>
            </a:r>
            <a:r>
              <a:rPr lang="en-US" sz="1100" b="0" spc="-25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SCIENCE</a:t>
            </a:r>
            <a:r>
              <a:rPr lang="en-US" sz="1100" b="0" spc="-30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AND</a:t>
            </a:r>
            <a:r>
              <a:rPr lang="en-US" sz="1100" b="0" spc="-30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ENGINEERING,</a:t>
            </a:r>
            <a:r>
              <a:rPr lang="en-US" sz="1100" b="0" spc="-30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UNIVERSITY</a:t>
            </a:r>
            <a:r>
              <a:rPr lang="en-US" sz="1100" b="0" spc="-25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OF</a:t>
            </a:r>
            <a:r>
              <a:rPr lang="en-US" sz="1100" b="0" spc="-30">
                <a:solidFill>
                  <a:srgbClr val="CCFFCC"/>
                </a:solidFill>
              </a:rPr>
              <a:t> </a:t>
            </a:r>
            <a:r>
              <a:rPr lang="en-US" sz="1100" b="0">
                <a:solidFill>
                  <a:srgbClr val="CCFFCC"/>
                </a:solidFill>
              </a:rPr>
              <a:t>BOLOGNA,</a:t>
            </a:r>
            <a:r>
              <a:rPr lang="en-US" sz="1100" b="0" spc="-30">
                <a:solidFill>
                  <a:srgbClr val="CCFFCC"/>
                </a:solidFill>
              </a:rPr>
              <a:t> </a:t>
            </a:r>
            <a:r>
              <a:rPr lang="en-US" sz="1100" b="0" spc="-10">
                <a:solidFill>
                  <a:srgbClr val="CCFFCC"/>
                </a:solidFill>
              </a:rPr>
              <a:t>ITALY</a:t>
            </a:r>
            <a:endParaRPr lang="en-US" sz="11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26-Oct-25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106013">
              <a:spcBef>
                <a:spcPts val="45"/>
              </a:spcBef>
            </a:pPr>
            <a:fld id="{81D60167-4931-47E6-BA6A-407CBD079E47}" type="slidenum">
              <a:rPr lang="en-US" spc="-50" smtClean="0"/>
              <a:pPr marL="106013">
                <a:spcBef>
                  <a:spcPts val="4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016501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88826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94" y="286604"/>
            <a:ext cx="10055781" cy="8233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6994" y="1176090"/>
            <a:ext cx="10055781" cy="46930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6995" y="6459786"/>
            <a:ext cx="24716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77EC56-6D43-4DF6-9473-9F94D77662AE}" type="datetime1">
              <a:rPr lang="en-US" smtClean="0"/>
              <a:t>26-Oct-25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5225" y="6459786"/>
            <a:ext cx="48215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97880" y="6459786"/>
            <a:ext cx="13116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12230" y="1143000"/>
            <a:ext cx="996436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011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/>
  <p:txStyles>
    <p:titleStyle>
      <a:lvl1pPr algn="l" defTabSz="914126" rtl="0" eaLnBrk="1" latinLnBrk="0" hangingPunct="1">
        <a:lnSpc>
          <a:spcPct val="85000"/>
        </a:lnSpc>
        <a:spcBef>
          <a:spcPct val="0"/>
        </a:spcBef>
        <a:buNone/>
        <a:defRPr sz="4799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13" indent="-91413" algn="l" defTabSz="914126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393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75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583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408" indent="-182825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67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61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55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490" indent="-228531" algn="l" defTabSz="914126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raihan.islam@ewubd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image" Target="../media/image10.jpg"/><Relationship Id="rId7" Type="http://schemas.openxmlformats.org/officeDocument/2006/relationships/image" Target="../media/image14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11" Type="http://schemas.openxmlformats.org/officeDocument/2006/relationships/image" Target="../media/image18.jpg"/><Relationship Id="rId5" Type="http://schemas.openxmlformats.org/officeDocument/2006/relationships/image" Target="../media/image12.jpg"/><Relationship Id="rId10" Type="http://schemas.openxmlformats.org/officeDocument/2006/relationships/image" Target="../media/image17.jpg"/><Relationship Id="rId4" Type="http://schemas.openxmlformats.org/officeDocument/2006/relationships/image" Target="../media/image11.jpg"/><Relationship Id="rId9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11" Type="http://schemas.openxmlformats.org/officeDocument/2006/relationships/image" Target="../media/image32.jpg"/><Relationship Id="rId5" Type="http://schemas.openxmlformats.org/officeDocument/2006/relationships/image" Target="../media/image26.jpg"/><Relationship Id="rId10" Type="http://schemas.openxmlformats.org/officeDocument/2006/relationships/image" Target="../media/image3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jpg"/><Relationship Id="rId4" Type="http://schemas.openxmlformats.org/officeDocument/2006/relationships/image" Target="../media/image47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jp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6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1930399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Internet of Things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419600"/>
            <a:ext cx="7008574" cy="1752600"/>
          </a:xfrm>
        </p:spPr>
        <p:txBody>
          <a:bodyPr>
            <a:noAutofit/>
          </a:bodyPr>
          <a:lstStyle/>
          <a:p>
            <a:pPr algn="r"/>
            <a:r>
              <a:rPr lang="en-US" sz="1400" b="1" dirty="0"/>
              <a:t>Dr. Raihan Ul Islam</a:t>
            </a:r>
          </a:p>
          <a:p>
            <a:pPr algn="r"/>
            <a:r>
              <a:rPr lang="en-US" sz="1400" dirty="0"/>
              <a:t>Associate Professor</a:t>
            </a:r>
          </a:p>
          <a:p>
            <a:pPr algn="r"/>
            <a:r>
              <a:rPr lang="en-US" sz="1400" dirty="0"/>
              <a:t>Department of Computer Science &amp; Engineering</a:t>
            </a:r>
          </a:p>
          <a:p>
            <a:pPr algn="r"/>
            <a:r>
              <a:rPr lang="en-US" sz="1400" dirty="0"/>
              <a:t>Room No# AB3-1003</a:t>
            </a:r>
            <a:br>
              <a:rPr lang="en-US" sz="1400" dirty="0"/>
            </a:br>
            <a:r>
              <a:rPr lang="en-US" sz="1400" dirty="0"/>
              <a:t>Email: </a:t>
            </a:r>
            <a:r>
              <a:rPr lang="en-US" sz="1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raihan.islam@ewubd.edu</a:t>
            </a:r>
            <a:endParaRPr lang="en-US" sz="1400" dirty="0"/>
          </a:p>
          <a:p>
            <a:pPr algn="r"/>
            <a:r>
              <a:rPr lang="en-US" sz="1400" dirty="0"/>
              <a:t>Mobile: +8801992392611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F9BB5-1CF4-61ED-83F2-36817058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6DD03-69E0-4D1A-89C2-9CA7435B8379}" type="datetime1">
              <a:rPr lang="en-US" smtClean="0"/>
              <a:t>26-Oct-25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44383C-64C0-69F5-19AD-E13611CF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5212" y="189761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66" dirty="0"/>
              <a:t>Convergence</a:t>
            </a:r>
            <a:r>
              <a:rPr spc="-22" dirty="0"/>
              <a:t> </a:t>
            </a:r>
            <a:r>
              <a:rPr dirty="0"/>
              <a:t>of</a:t>
            </a:r>
            <a:r>
              <a:rPr spc="-22" dirty="0"/>
              <a:t> </a:t>
            </a:r>
            <a:r>
              <a:rPr spc="-9" dirty="0"/>
              <a:t>Domains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61213" y="6096000"/>
            <a:ext cx="9916478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6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O.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Vermesan,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Friess</a:t>
            </a:r>
            <a:r>
              <a:rPr sz="1059" b="1" dirty="0">
                <a:latin typeface="Calibri"/>
                <a:cs typeface="Calibri"/>
              </a:rPr>
              <a:t>, </a:t>
            </a:r>
            <a:r>
              <a:rPr sz="1059" b="1" spc="-9" dirty="0">
                <a:latin typeface="Calibri"/>
                <a:cs typeface="Calibri"/>
              </a:rPr>
              <a:t>“</a:t>
            </a:r>
            <a:r>
              <a:rPr sz="1059" spc="-9" dirty="0">
                <a:latin typeface="Calibri"/>
                <a:cs typeface="Calibri"/>
              </a:rPr>
              <a:t>Internet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of Things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–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Converging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Technologies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for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Smart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Environments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and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Integrated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Ecosystems”,</a:t>
            </a:r>
            <a:r>
              <a:rPr sz="1059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River </a:t>
            </a:r>
            <a:r>
              <a:rPr sz="1059" dirty="0">
                <a:latin typeface="Calibri"/>
                <a:cs typeface="Calibri"/>
              </a:rPr>
              <a:t>Publishers,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Series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in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Communications, </a:t>
            </a:r>
            <a:r>
              <a:rPr sz="1059" spc="-18" dirty="0">
                <a:latin typeface="Calibri"/>
                <a:cs typeface="Calibri"/>
              </a:rPr>
              <a:t>2013</a:t>
            </a:r>
            <a:endParaRPr sz="1059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9812" y="1564485"/>
            <a:ext cx="5334000" cy="4110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664" y="141420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2" dirty="0"/>
              <a:t>IoT</a:t>
            </a:r>
            <a:r>
              <a:rPr spc="-35" dirty="0"/>
              <a:t> </a:t>
            </a:r>
            <a:r>
              <a:rPr spc="-9" dirty="0"/>
              <a:t>Components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51E90F-049A-903B-8D73-01867244FB4F}"/>
              </a:ext>
            </a:extLst>
          </p:cNvPr>
          <p:cNvGrpSpPr/>
          <p:nvPr/>
        </p:nvGrpSpPr>
        <p:grpSpPr>
          <a:xfrm>
            <a:off x="3864888" y="2275467"/>
            <a:ext cx="6039523" cy="3515733"/>
            <a:chOff x="3864889" y="2275467"/>
            <a:chExt cx="4728882" cy="2370491"/>
          </a:xfrm>
        </p:grpSpPr>
        <p:grpSp>
          <p:nvGrpSpPr>
            <p:cNvPr id="3" name="object 3"/>
            <p:cNvGrpSpPr/>
            <p:nvPr/>
          </p:nvGrpSpPr>
          <p:grpSpPr>
            <a:xfrm>
              <a:off x="3864889" y="2279276"/>
              <a:ext cx="4728882" cy="2366682"/>
              <a:chOff x="2502407" y="2583179"/>
              <a:chExt cx="5359400" cy="2682240"/>
            </a:xfrm>
          </p:grpSpPr>
          <p:pic>
            <p:nvPicPr>
              <p:cNvPr id="4" name="object 4"/>
              <p:cNvPicPr/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514599" y="2773679"/>
                <a:ext cx="5334000" cy="301751"/>
              </a:xfrm>
              <a:prstGeom prst="rect">
                <a:avLst/>
              </a:prstGeom>
            </p:spPr>
          </p:pic>
          <p:sp>
            <p:nvSpPr>
              <p:cNvPr id="5" name="object 5"/>
              <p:cNvSpPr/>
              <p:nvPr/>
            </p:nvSpPr>
            <p:spPr>
              <a:xfrm>
                <a:off x="2502408" y="2596133"/>
                <a:ext cx="5359400" cy="492759"/>
              </a:xfrm>
              <a:custGeom>
                <a:avLst/>
                <a:gdLst/>
                <a:ahLst/>
                <a:cxnLst/>
                <a:rect l="l" t="t" r="r" b="b"/>
                <a:pathLst>
                  <a:path w="5359400" h="492760">
                    <a:moveTo>
                      <a:pt x="5359146" y="169926"/>
                    </a:moveTo>
                    <a:lnTo>
                      <a:pt x="5353812" y="164592"/>
                    </a:lnTo>
                    <a:lnTo>
                      <a:pt x="5334000" y="164592"/>
                    </a:lnTo>
                    <a:lnTo>
                      <a:pt x="5334000" y="189738"/>
                    </a:lnTo>
                    <a:lnTo>
                      <a:pt x="5334000" y="467106"/>
                    </a:lnTo>
                    <a:lnTo>
                      <a:pt x="25146" y="467106"/>
                    </a:lnTo>
                    <a:lnTo>
                      <a:pt x="25146" y="189738"/>
                    </a:lnTo>
                    <a:lnTo>
                      <a:pt x="278892" y="189738"/>
                    </a:lnTo>
                    <a:lnTo>
                      <a:pt x="278892" y="295656"/>
                    </a:lnTo>
                    <a:lnTo>
                      <a:pt x="283565" y="318325"/>
                    </a:lnTo>
                    <a:lnTo>
                      <a:pt x="296316" y="336994"/>
                    </a:lnTo>
                    <a:lnTo>
                      <a:pt x="315214" y="349669"/>
                    </a:lnTo>
                    <a:lnTo>
                      <a:pt x="338328" y="354330"/>
                    </a:lnTo>
                    <a:lnTo>
                      <a:pt x="3954018" y="354330"/>
                    </a:lnTo>
                    <a:lnTo>
                      <a:pt x="3977005" y="349669"/>
                    </a:lnTo>
                    <a:lnTo>
                      <a:pt x="3995636" y="336994"/>
                    </a:lnTo>
                    <a:lnTo>
                      <a:pt x="4008120" y="318325"/>
                    </a:lnTo>
                    <a:lnTo>
                      <a:pt x="4012692" y="295656"/>
                    </a:lnTo>
                    <a:lnTo>
                      <a:pt x="4012692" y="189738"/>
                    </a:lnTo>
                    <a:lnTo>
                      <a:pt x="5334000" y="189738"/>
                    </a:lnTo>
                    <a:lnTo>
                      <a:pt x="5334000" y="164592"/>
                    </a:lnTo>
                    <a:lnTo>
                      <a:pt x="4012692" y="164592"/>
                    </a:lnTo>
                    <a:lnTo>
                      <a:pt x="4012692" y="59436"/>
                    </a:lnTo>
                    <a:lnTo>
                      <a:pt x="4008120" y="36334"/>
                    </a:lnTo>
                    <a:lnTo>
                      <a:pt x="3995636" y="17437"/>
                    </a:lnTo>
                    <a:lnTo>
                      <a:pt x="3977005" y="4686"/>
                    </a:lnTo>
                    <a:lnTo>
                      <a:pt x="3954018" y="0"/>
                    </a:lnTo>
                    <a:lnTo>
                      <a:pt x="338328" y="0"/>
                    </a:lnTo>
                    <a:lnTo>
                      <a:pt x="315214" y="4686"/>
                    </a:lnTo>
                    <a:lnTo>
                      <a:pt x="296316" y="17437"/>
                    </a:lnTo>
                    <a:lnTo>
                      <a:pt x="283565" y="36334"/>
                    </a:lnTo>
                    <a:lnTo>
                      <a:pt x="278892" y="59436"/>
                    </a:lnTo>
                    <a:lnTo>
                      <a:pt x="278892" y="164592"/>
                    </a:lnTo>
                    <a:lnTo>
                      <a:pt x="5334" y="164592"/>
                    </a:lnTo>
                    <a:lnTo>
                      <a:pt x="0" y="169926"/>
                    </a:lnTo>
                    <a:lnTo>
                      <a:pt x="0" y="486918"/>
                    </a:lnTo>
                    <a:lnTo>
                      <a:pt x="5334" y="492252"/>
                    </a:lnTo>
                    <a:lnTo>
                      <a:pt x="12192" y="492252"/>
                    </a:lnTo>
                    <a:lnTo>
                      <a:pt x="25146" y="492252"/>
                    </a:lnTo>
                    <a:lnTo>
                      <a:pt x="5334000" y="492252"/>
                    </a:lnTo>
                    <a:lnTo>
                      <a:pt x="5346192" y="492252"/>
                    </a:lnTo>
                    <a:lnTo>
                      <a:pt x="5353812" y="492252"/>
                    </a:lnTo>
                    <a:lnTo>
                      <a:pt x="5359146" y="486918"/>
                    </a:lnTo>
                    <a:lnTo>
                      <a:pt x="5359146" y="169926"/>
                    </a:lnTo>
                    <a:close/>
                  </a:path>
                </a:pathLst>
              </a:custGeom>
              <a:solidFill>
                <a:srgbClr val="C0504D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2769107" y="2583179"/>
                <a:ext cx="3759200" cy="380365"/>
              </a:xfrm>
              <a:custGeom>
                <a:avLst/>
                <a:gdLst/>
                <a:ahLst/>
                <a:cxnLst/>
                <a:rect l="l" t="t" r="r" b="b"/>
                <a:pathLst>
                  <a:path w="3759200" h="380364">
                    <a:moveTo>
                      <a:pt x="3758946" y="314706"/>
                    </a:moveTo>
                    <a:lnTo>
                      <a:pt x="3758946" y="64008"/>
                    </a:lnTo>
                    <a:lnTo>
                      <a:pt x="3757422" y="57150"/>
                    </a:lnTo>
                    <a:lnTo>
                      <a:pt x="3735081" y="18635"/>
                    </a:lnTo>
                    <a:lnTo>
                      <a:pt x="3694176" y="762"/>
                    </a:lnTo>
                    <a:lnTo>
                      <a:pt x="3688079" y="84"/>
                    </a:lnTo>
                    <a:lnTo>
                      <a:pt x="3687317" y="0"/>
                    </a:lnTo>
                    <a:lnTo>
                      <a:pt x="71628" y="761"/>
                    </a:lnTo>
                    <a:lnTo>
                      <a:pt x="70866" y="762"/>
                    </a:lnTo>
                    <a:lnTo>
                      <a:pt x="48417" y="4169"/>
                    </a:lnTo>
                    <a:lnTo>
                      <a:pt x="28955" y="14476"/>
                    </a:lnTo>
                    <a:lnTo>
                      <a:pt x="28736" y="14592"/>
                    </a:lnTo>
                    <a:lnTo>
                      <a:pt x="13165" y="30672"/>
                    </a:lnTo>
                    <a:lnTo>
                      <a:pt x="3047" y="51054"/>
                    </a:lnTo>
                    <a:lnTo>
                      <a:pt x="1523" y="57912"/>
                    </a:lnTo>
                    <a:lnTo>
                      <a:pt x="0" y="65532"/>
                    </a:lnTo>
                    <a:lnTo>
                      <a:pt x="0" y="316230"/>
                    </a:lnTo>
                    <a:lnTo>
                      <a:pt x="14520" y="351867"/>
                    </a:lnTo>
                    <a:lnTo>
                      <a:pt x="25146" y="362854"/>
                    </a:lnTo>
                    <a:lnTo>
                      <a:pt x="25146" y="67056"/>
                    </a:lnTo>
                    <a:lnTo>
                      <a:pt x="26670" y="62484"/>
                    </a:lnTo>
                    <a:lnTo>
                      <a:pt x="42672" y="35814"/>
                    </a:lnTo>
                    <a:lnTo>
                      <a:pt x="54102" y="28956"/>
                    </a:lnTo>
                    <a:lnTo>
                      <a:pt x="58674" y="27432"/>
                    </a:lnTo>
                    <a:lnTo>
                      <a:pt x="67818" y="25908"/>
                    </a:lnTo>
                    <a:lnTo>
                      <a:pt x="3692652" y="25908"/>
                    </a:lnTo>
                    <a:lnTo>
                      <a:pt x="3697224" y="26670"/>
                    </a:lnTo>
                    <a:lnTo>
                      <a:pt x="3710979" y="32426"/>
                    </a:lnTo>
                    <a:lnTo>
                      <a:pt x="3721960" y="41543"/>
                    </a:lnTo>
                    <a:lnTo>
                      <a:pt x="3729717" y="53510"/>
                    </a:lnTo>
                    <a:lnTo>
                      <a:pt x="3733800" y="67818"/>
                    </a:lnTo>
                    <a:lnTo>
                      <a:pt x="3733800" y="361777"/>
                    </a:lnTo>
                    <a:lnTo>
                      <a:pt x="3741100" y="355801"/>
                    </a:lnTo>
                    <a:lnTo>
                      <a:pt x="3752687" y="337535"/>
                    </a:lnTo>
                    <a:lnTo>
                      <a:pt x="3758946" y="314706"/>
                    </a:lnTo>
                    <a:close/>
                  </a:path>
                  <a:path w="3759200" h="380364">
                    <a:moveTo>
                      <a:pt x="3733800" y="361777"/>
                    </a:moveTo>
                    <a:lnTo>
                      <a:pt x="3733800" y="308610"/>
                    </a:lnTo>
                    <a:lnTo>
                      <a:pt x="3733038" y="313944"/>
                    </a:lnTo>
                    <a:lnTo>
                      <a:pt x="3732276" y="318516"/>
                    </a:lnTo>
                    <a:lnTo>
                      <a:pt x="3727071" y="332016"/>
                    </a:lnTo>
                    <a:lnTo>
                      <a:pt x="3717597" y="343100"/>
                    </a:lnTo>
                    <a:lnTo>
                      <a:pt x="3705176" y="350845"/>
                    </a:lnTo>
                    <a:lnTo>
                      <a:pt x="3691128" y="354330"/>
                    </a:lnTo>
                    <a:lnTo>
                      <a:pt x="70866" y="354223"/>
                    </a:lnTo>
                    <a:lnTo>
                      <a:pt x="33510" y="335065"/>
                    </a:lnTo>
                    <a:lnTo>
                      <a:pt x="25146" y="312420"/>
                    </a:lnTo>
                    <a:lnTo>
                      <a:pt x="25146" y="362854"/>
                    </a:lnTo>
                    <a:lnTo>
                      <a:pt x="62733" y="379299"/>
                    </a:lnTo>
                    <a:lnTo>
                      <a:pt x="3688079" y="380238"/>
                    </a:lnTo>
                    <a:lnTo>
                      <a:pt x="3695700" y="379476"/>
                    </a:lnTo>
                    <a:lnTo>
                      <a:pt x="3702558" y="378714"/>
                    </a:lnTo>
                    <a:lnTo>
                      <a:pt x="3724339" y="369521"/>
                    </a:lnTo>
                    <a:lnTo>
                      <a:pt x="3733800" y="36177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7" name="object 7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514599" y="3317747"/>
                <a:ext cx="5334000" cy="302514"/>
              </a:xfrm>
              <a:prstGeom prst="rect">
                <a:avLst/>
              </a:prstGeom>
            </p:spPr>
          </p:pic>
          <p:sp>
            <p:nvSpPr>
              <p:cNvPr id="8" name="object 8"/>
              <p:cNvSpPr/>
              <p:nvPr/>
            </p:nvSpPr>
            <p:spPr>
              <a:xfrm>
                <a:off x="2502408" y="3140201"/>
                <a:ext cx="5359400" cy="492759"/>
              </a:xfrm>
              <a:custGeom>
                <a:avLst/>
                <a:gdLst/>
                <a:ahLst/>
                <a:cxnLst/>
                <a:rect l="l" t="t" r="r" b="b"/>
                <a:pathLst>
                  <a:path w="5359400" h="492760">
                    <a:moveTo>
                      <a:pt x="5359146" y="170688"/>
                    </a:moveTo>
                    <a:lnTo>
                      <a:pt x="5353812" y="164592"/>
                    </a:lnTo>
                    <a:lnTo>
                      <a:pt x="5334000" y="164592"/>
                    </a:lnTo>
                    <a:lnTo>
                      <a:pt x="5334000" y="190500"/>
                    </a:lnTo>
                    <a:lnTo>
                      <a:pt x="5334000" y="467106"/>
                    </a:lnTo>
                    <a:lnTo>
                      <a:pt x="25146" y="467106"/>
                    </a:lnTo>
                    <a:lnTo>
                      <a:pt x="25146" y="190500"/>
                    </a:lnTo>
                    <a:lnTo>
                      <a:pt x="278892" y="190500"/>
                    </a:lnTo>
                    <a:lnTo>
                      <a:pt x="278892" y="295656"/>
                    </a:lnTo>
                    <a:lnTo>
                      <a:pt x="283565" y="318655"/>
                    </a:lnTo>
                    <a:lnTo>
                      <a:pt x="296316" y="337286"/>
                    </a:lnTo>
                    <a:lnTo>
                      <a:pt x="315214" y="349770"/>
                    </a:lnTo>
                    <a:lnTo>
                      <a:pt x="338328" y="354330"/>
                    </a:lnTo>
                    <a:lnTo>
                      <a:pt x="3954018" y="354330"/>
                    </a:lnTo>
                    <a:lnTo>
                      <a:pt x="3977005" y="349770"/>
                    </a:lnTo>
                    <a:lnTo>
                      <a:pt x="3995636" y="337286"/>
                    </a:lnTo>
                    <a:lnTo>
                      <a:pt x="4008120" y="318655"/>
                    </a:lnTo>
                    <a:lnTo>
                      <a:pt x="4012692" y="295656"/>
                    </a:lnTo>
                    <a:lnTo>
                      <a:pt x="4012692" y="190500"/>
                    </a:lnTo>
                    <a:lnTo>
                      <a:pt x="5334000" y="190500"/>
                    </a:lnTo>
                    <a:lnTo>
                      <a:pt x="5334000" y="164592"/>
                    </a:lnTo>
                    <a:lnTo>
                      <a:pt x="4012692" y="164592"/>
                    </a:lnTo>
                    <a:lnTo>
                      <a:pt x="4012692" y="59436"/>
                    </a:lnTo>
                    <a:lnTo>
                      <a:pt x="4008120" y="36334"/>
                    </a:lnTo>
                    <a:lnTo>
                      <a:pt x="3995636" y="17437"/>
                    </a:lnTo>
                    <a:lnTo>
                      <a:pt x="3977005" y="4686"/>
                    </a:lnTo>
                    <a:lnTo>
                      <a:pt x="3954018" y="0"/>
                    </a:lnTo>
                    <a:lnTo>
                      <a:pt x="338328" y="0"/>
                    </a:lnTo>
                    <a:lnTo>
                      <a:pt x="315214" y="4686"/>
                    </a:lnTo>
                    <a:lnTo>
                      <a:pt x="296316" y="17437"/>
                    </a:lnTo>
                    <a:lnTo>
                      <a:pt x="283565" y="36334"/>
                    </a:lnTo>
                    <a:lnTo>
                      <a:pt x="278892" y="59436"/>
                    </a:lnTo>
                    <a:lnTo>
                      <a:pt x="278892" y="164592"/>
                    </a:lnTo>
                    <a:lnTo>
                      <a:pt x="5334" y="164592"/>
                    </a:lnTo>
                    <a:lnTo>
                      <a:pt x="0" y="170688"/>
                    </a:lnTo>
                    <a:lnTo>
                      <a:pt x="0" y="486918"/>
                    </a:lnTo>
                    <a:lnTo>
                      <a:pt x="5334" y="492252"/>
                    </a:lnTo>
                    <a:lnTo>
                      <a:pt x="12192" y="492252"/>
                    </a:lnTo>
                    <a:lnTo>
                      <a:pt x="25146" y="492252"/>
                    </a:lnTo>
                    <a:lnTo>
                      <a:pt x="5334000" y="492252"/>
                    </a:lnTo>
                    <a:lnTo>
                      <a:pt x="5346192" y="492252"/>
                    </a:lnTo>
                    <a:lnTo>
                      <a:pt x="5353812" y="492252"/>
                    </a:lnTo>
                    <a:lnTo>
                      <a:pt x="5359146" y="486918"/>
                    </a:lnTo>
                    <a:lnTo>
                      <a:pt x="5359146" y="170688"/>
                    </a:lnTo>
                    <a:close/>
                  </a:path>
                </a:pathLst>
              </a:custGeom>
              <a:solidFill>
                <a:srgbClr val="BF7750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2769107" y="3128009"/>
                <a:ext cx="375920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3759200" h="379729">
                    <a:moveTo>
                      <a:pt x="3758946" y="314706"/>
                    </a:moveTo>
                    <a:lnTo>
                      <a:pt x="3758946" y="64008"/>
                    </a:lnTo>
                    <a:lnTo>
                      <a:pt x="3757422" y="56388"/>
                    </a:lnTo>
                    <a:lnTo>
                      <a:pt x="3748884" y="35004"/>
                    </a:lnTo>
                    <a:lnTo>
                      <a:pt x="3734957" y="18059"/>
                    </a:lnTo>
                    <a:lnTo>
                      <a:pt x="3716450" y="6181"/>
                    </a:lnTo>
                    <a:lnTo>
                      <a:pt x="3694176" y="0"/>
                    </a:lnTo>
                    <a:lnTo>
                      <a:pt x="70866" y="0"/>
                    </a:lnTo>
                    <a:lnTo>
                      <a:pt x="28555" y="14301"/>
                    </a:lnTo>
                    <a:lnTo>
                      <a:pt x="3047" y="51054"/>
                    </a:lnTo>
                    <a:lnTo>
                      <a:pt x="0" y="64770"/>
                    </a:lnTo>
                    <a:lnTo>
                      <a:pt x="0" y="315468"/>
                    </a:lnTo>
                    <a:lnTo>
                      <a:pt x="1524" y="323088"/>
                    </a:lnTo>
                    <a:lnTo>
                      <a:pt x="3048" y="329946"/>
                    </a:lnTo>
                    <a:lnTo>
                      <a:pt x="6096" y="336042"/>
                    </a:lnTo>
                    <a:lnTo>
                      <a:pt x="9880" y="344334"/>
                    </a:lnTo>
                    <a:lnTo>
                      <a:pt x="14330" y="351296"/>
                    </a:lnTo>
                    <a:lnTo>
                      <a:pt x="19806" y="357489"/>
                    </a:lnTo>
                    <a:lnTo>
                      <a:pt x="25146" y="362145"/>
                    </a:lnTo>
                    <a:lnTo>
                      <a:pt x="25146" y="66294"/>
                    </a:lnTo>
                    <a:lnTo>
                      <a:pt x="26670" y="61722"/>
                    </a:lnTo>
                    <a:lnTo>
                      <a:pt x="27432" y="57150"/>
                    </a:lnTo>
                    <a:lnTo>
                      <a:pt x="28956" y="53340"/>
                    </a:lnTo>
                    <a:lnTo>
                      <a:pt x="31724" y="45999"/>
                    </a:lnTo>
                    <a:lnTo>
                      <a:pt x="37426" y="40614"/>
                    </a:lnTo>
                    <a:lnTo>
                      <a:pt x="42672" y="35052"/>
                    </a:lnTo>
                    <a:lnTo>
                      <a:pt x="50292" y="30480"/>
                    </a:lnTo>
                    <a:lnTo>
                      <a:pt x="56928" y="28014"/>
                    </a:lnTo>
                    <a:lnTo>
                      <a:pt x="65138" y="24269"/>
                    </a:lnTo>
                    <a:lnTo>
                      <a:pt x="70866" y="24961"/>
                    </a:lnTo>
                    <a:lnTo>
                      <a:pt x="71628" y="25053"/>
                    </a:lnTo>
                    <a:lnTo>
                      <a:pt x="3687317" y="25146"/>
                    </a:lnTo>
                    <a:lnTo>
                      <a:pt x="3692652" y="25908"/>
                    </a:lnTo>
                    <a:lnTo>
                      <a:pt x="3729970" y="53932"/>
                    </a:lnTo>
                    <a:lnTo>
                      <a:pt x="3733800" y="67818"/>
                    </a:lnTo>
                    <a:lnTo>
                      <a:pt x="3733800" y="361111"/>
                    </a:lnTo>
                    <a:lnTo>
                      <a:pt x="3740748" y="355353"/>
                    </a:lnTo>
                    <a:lnTo>
                      <a:pt x="3752826" y="336691"/>
                    </a:lnTo>
                    <a:lnTo>
                      <a:pt x="3758946" y="314706"/>
                    </a:lnTo>
                    <a:close/>
                  </a:path>
                  <a:path w="3759200" h="379729">
                    <a:moveTo>
                      <a:pt x="3733800" y="361111"/>
                    </a:moveTo>
                    <a:lnTo>
                      <a:pt x="3733800" y="307848"/>
                    </a:lnTo>
                    <a:lnTo>
                      <a:pt x="3733038" y="313182"/>
                    </a:lnTo>
                    <a:lnTo>
                      <a:pt x="3732276" y="317754"/>
                    </a:lnTo>
                    <a:lnTo>
                      <a:pt x="3705247" y="350397"/>
                    </a:lnTo>
                    <a:lnTo>
                      <a:pt x="71628" y="354330"/>
                    </a:lnTo>
                    <a:lnTo>
                      <a:pt x="57061" y="351830"/>
                    </a:lnTo>
                    <a:lnTo>
                      <a:pt x="56928" y="351807"/>
                    </a:lnTo>
                    <a:lnTo>
                      <a:pt x="27432" y="320802"/>
                    </a:lnTo>
                    <a:lnTo>
                      <a:pt x="25146" y="311658"/>
                    </a:lnTo>
                    <a:lnTo>
                      <a:pt x="25146" y="362145"/>
                    </a:lnTo>
                    <a:lnTo>
                      <a:pt x="64770" y="379476"/>
                    </a:lnTo>
                    <a:lnTo>
                      <a:pt x="3695700" y="379476"/>
                    </a:lnTo>
                    <a:lnTo>
                      <a:pt x="3702558" y="377952"/>
                    </a:lnTo>
                    <a:lnTo>
                      <a:pt x="3723671" y="369503"/>
                    </a:lnTo>
                    <a:lnTo>
                      <a:pt x="3733800" y="3611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10" name="object 10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514599" y="3861815"/>
                <a:ext cx="5334000" cy="302514"/>
              </a:xfrm>
              <a:prstGeom prst="rect">
                <a:avLst/>
              </a:prstGeom>
            </p:spPr>
          </p:pic>
          <p:sp>
            <p:nvSpPr>
              <p:cNvPr id="11" name="object 11"/>
              <p:cNvSpPr/>
              <p:nvPr/>
            </p:nvSpPr>
            <p:spPr>
              <a:xfrm>
                <a:off x="2502408" y="3685031"/>
                <a:ext cx="5359400" cy="492759"/>
              </a:xfrm>
              <a:custGeom>
                <a:avLst/>
                <a:gdLst/>
                <a:ahLst/>
                <a:cxnLst/>
                <a:rect l="l" t="t" r="r" b="b"/>
                <a:pathLst>
                  <a:path w="5359400" h="492760">
                    <a:moveTo>
                      <a:pt x="5359146" y="169926"/>
                    </a:moveTo>
                    <a:lnTo>
                      <a:pt x="5353812" y="164592"/>
                    </a:lnTo>
                    <a:lnTo>
                      <a:pt x="5334000" y="164592"/>
                    </a:lnTo>
                    <a:lnTo>
                      <a:pt x="5334000" y="189738"/>
                    </a:lnTo>
                    <a:lnTo>
                      <a:pt x="5334000" y="466344"/>
                    </a:lnTo>
                    <a:lnTo>
                      <a:pt x="25146" y="466344"/>
                    </a:lnTo>
                    <a:lnTo>
                      <a:pt x="25146" y="189738"/>
                    </a:lnTo>
                    <a:lnTo>
                      <a:pt x="278892" y="189738"/>
                    </a:lnTo>
                    <a:lnTo>
                      <a:pt x="278892" y="294894"/>
                    </a:lnTo>
                    <a:lnTo>
                      <a:pt x="283565" y="318008"/>
                    </a:lnTo>
                    <a:lnTo>
                      <a:pt x="296316" y="336905"/>
                    </a:lnTo>
                    <a:lnTo>
                      <a:pt x="315214" y="349656"/>
                    </a:lnTo>
                    <a:lnTo>
                      <a:pt x="338328" y="354330"/>
                    </a:lnTo>
                    <a:lnTo>
                      <a:pt x="3954018" y="354330"/>
                    </a:lnTo>
                    <a:lnTo>
                      <a:pt x="3977005" y="349656"/>
                    </a:lnTo>
                    <a:lnTo>
                      <a:pt x="3995636" y="336905"/>
                    </a:lnTo>
                    <a:lnTo>
                      <a:pt x="4008120" y="318008"/>
                    </a:lnTo>
                    <a:lnTo>
                      <a:pt x="4012692" y="294894"/>
                    </a:lnTo>
                    <a:lnTo>
                      <a:pt x="4012692" y="189738"/>
                    </a:lnTo>
                    <a:lnTo>
                      <a:pt x="5334000" y="189738"/>
                    </a:lnTo>
                    <a:lnTo>
                      <a:pt x="5334000" y="164592"/>
                    </a:lnTo>
                    <a:lnTo>
                      <a:pt x="4012692" y="164592"/>
                    </a:lnTo>
                    <a:lnTo>
                      <a:pt x="4012692" y="58674"/>
                    </a:lnTo>
                    <a:lnTo>
                      <a:pt x="4008120" y="36004"/>
                    </a:lnTo>
                    <a:lnTo>
                      <a:pt x="3995636" y="17335"/>
                    </a:lnTo>
                    <a:lnTo>
                      <a:pt x="3977005" y="4673"/>
                    </a:lnTo>
                    <a:lnTo>
                      <a:pt x="3954018" y="0"/>
                    </a:lnTo>
                    <a:lnTo>
                      <a:pt x="338328" y="0"/>
                    </a:lnTo>
                    <a:lnTo>
                      <a:pt x="315214" y="4673"/>
                    </a:lnTo>
                    <a:lnTo>
                      <a:pt x="296316" y="17335"/>
                    </a:lnTo>
                    <a:lnTo>
                      <a:pt x="283565" y="36004"/>
                    </a:lnTo>
                    <a:lnTo>
                      <a:pt x="278892" y="58674"/>
                    </a:lnTo>
                    <a:lnTo>
                      <a:pt x="278892" y="164592"/>
                    </a:lnTo>
                    <a:lnTo>
                      <a:pt x="5334" y="164592"/>
                    </a:lnTo>
                    <a:lnTo>
                      <a:pt x="0" y="169926"/>
                    </a:lnTo>
                    <a:lnTo>
                      <a:pt x="0" y="486156"/>
                    </a:lnTo>
                    <a:lnTo>
                      <a:pt x="5334" y="492252"/>
                    </a:lnTo>
                    <a:lnTo>
                      <a:pt x="12192" y="492252"/>
                    </a:lnTo>
                    <a:lnTo>
                      <a:pt x="25146" y="492252"/>
                    </a:lnTo>
                    <a:lnTo>
                      <a:pt x="5334000" y="492252"/>
                    </a:lnTo>
                    <a:lnTo>
                      <a:pt x="5346192" y="492252"/>
                    </a:lnTo>
                    <a:lnTo>
                      <a:pt x="5353812" y="492252"/>
                    </a:lnTo>
                    <a:lnTo>
                      <a:pt x="5359146" y="486156"/>
                    </a:lnTo>
                    <a:lnTo>
                      <a:pt x="5359146" y="169926"/>
                    </a:lnTo>
                    <a:close/>
                  </a:path>
                </a:pathLst>
              </a:custGeom>
              <a:solidFill>
                <a:srgbClr val="BD9B53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2" name="object 12"/>
              <p:cNvSpPr/>
              <p:nvPr/>
            </p:nvSpPr>
            <p:spPr>
              <a:xfrm>
                <a:off x="2769107" y="3672077"/>
                <a:ext cx="375920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3759200" h="379729">
                    <a:moveTo>
                      <a:pt x="3758946" y="314706"/>
                    </a:moveTo>
                    <a:lnTo>
                      <a:pt x="3758946" y="64008"/>
                    </a:lnTo>
                    <a:lnTo>
                      <a:pt x="3757422" y="56388"/>
                    </a:lnTo>
                    <a:lnTo>
                      <a:pt x="3734809" y="18168"/>
                    </a:lnTo>
                    <a:lnTo>
                      <a:pt x="3694176" y="762"/>
                    </a:lnTo>
                    <a:lnTo>
                      <a:pt x="3687317" y="0"/>
                    </a:lnTo>
                    <a:lnTo>
                      <a:pt x="70866" y="0"/>
                    </a:lnTo>
                    <a:lnTo>
                      <a:pt x="28527" y="14497"/>
                    </a:lnTo>
                    <a:lnTo>
                      <a:pt x="3047" y="51054"/>
                    </a:lnTo>
                    <a:lnTo>
                      <a:pt x="0" y="65532"/>
                    </a:lnTo>
                    <a:lnTo>
                      <a:pt x="0" y="316230"/>
                    </a:lnTo>
                    <a:lnTo>
                      <a:pt x="14525" y="351543"/>
                    </a:lnTo>
                    <a:lnTo>
                      <a:pt x="25146" y="362147"/>
                    </a:lnTo>
                    <a:lnTo>
                      <a:pt x="25146" y="66294"/>
                    </a:lnTo>
                    <a:lnTo>
                      <a:pt x="26670" y="61722"/>
                    </a:lnTo>
                    <a:lnTo>
                      <a:pt x="42672" y="35814"/>
                    </a:lnTo>
                    <a:lnTo>
                      <a:pt x="46482" y="32766"/>
                    </a:lnTo>
                    <a:lnTo>
                      <a:pt x="50292" y="30480"/>
                    </a:lnTo>
                    <a:lnTo>
                      <a:pt x="58559" y="26606"/>
                    </a:lnTo>
                    <a:lnTo>
                      <a:pt x="63051" y="26761"/>
                    </a:lnTo>
                    <a:lnTo>
                      <a:pt x="63728" y="26784"/>
                    </a:lnTo>
                    <a:lnTo>
                      <a:pt x="72390" y="25146"/>
                    </a:lnTo>
                    <a:lnTo>
                      <a:pt x="3687317" y="25146"/>
                    </a:lnTo>
                    <a:lnTo>
                      <a:pt x="3721960" y="41257"/>
                    </a:lnTo>
                    <a:lnTo>
                      <a:pt x="3733800" y="67818"/>
                    </a:lnTo>
                    <a:lnTo>
                      <a:pt x="3733800" y="361327"/>
                    </a:lnTo>
                    <a:lnTo>
                      <a:pt x="3740810" y="355444"/>
                    </a:lnTo>
                    <a:lnTo>
                      <a:pt x="3753035" y="336407"/>
                    </a:lnTo>
                    <a:lnTo>
                      <a:pt x="3758946" y="314706"/>
                    </a:lnTo>
                    <a:close/>
                  </a:path>
                  <a:path w="3759200" h="379729">
                    <a:moveTo>
                      <a:pt x="3733800" y="361327"/>
                    </a:moveTo>
                    <a:lnTo>
                      <a:pt x="3733800" y="307848"/>
                    </a:lnTo>
                    <a:lnTo>
                      <a:pt x="3733038" y="313182"/>
                    </a:lnTo>
                    <a:lnTo>
                      <a:pt x="3732276" y="317754"/>
                    </a:lnTo>
                    <a:lnTo>
                      <a:pt x="3727373" y="331536"/>
                    </a:lnTo>
                    <a:lnTo>
                      <a:pt x="3717898" y="342857"/>
                    </a:lnTo>
                    <a:lnTo>
                      <a:pt x="3705324" y="350770"/>
                    </a:lnTo>
                    <a:lnTo>
                      <a:pt x="3691128" y="354330"/>
                    </a:lnTo>
                    <a:lnTo>
                      <a:pt x="70866" y="354216"/>
                    </a:lnTo>
                    <a:lnTo>
                      <a:pt x="33614" y="334888"/>
                    </a:lnTo>
                    <a:lnTo>
                      <a:pt x="25146" y="312420"/>
                    </a:lnTo>
                    <a:lnTo>
                      <a:pt x="25146" y="362147"/>
                    </a:lnTo>
                    <a:lnTo>
                      <a:pt x="63051" y="379387"/>
                    </a:lnTo>
                    <a:lnTo>
                      <a:pt x="3695700" y="379476"/>
                    </a:lnTo>
                    <a:lnTo>
                      <a:pt x="3702558" y="377952"/>
                    </a:lnTo>
                    <a:lnTo>
                      <a:pt x="3723555" y="369923"/>
                    </a:lnTo>
                    <a:lnTo>
                      <a:pt x="3733800" y="36132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13" name="object 13"/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514599" y="4406645"/>
                <a:ext cx="5334000" cy="301752"/>
              </a:xfrm>
              <a:prstGeom prst="rect">
                <a:avLst/>
              </a:prstGeom>
            </p:spPr>
          </p:pic>
          <p:sp>
            <p:nvSpPr>
              <p:cNvPr id="14" name="object 14"/>
              <p:cNvSpPr/>
              <p:nvPr/>
            </p:nvSpPr>
            <p:spPr>
              <a:xfrm>
                <a:off x="2502408" y="4229099"/>
                <a:ext cx="5359400" cy="492759"/>
              </a:xfrm>
              <a:custGeom>
                <a:avLst/>
                <a:gdLst/>
                <a:ahLst/>
                <a:cxnLst/>
                <a:rect l="l" t="t" r="r" b="b"/>
                <a:pathLst>
                  <a:path w="5359400" h="492760">
                    <a:moveTo>
                      <a:pt x="5359146" y="169926"/>
                    </a:moveTo>
                    <a:lnTo>
                      <a:pt x="5353812" y="164592"/>
                    </a:lnTo>
                    <a:lnTo>
                      <a:pt x="5334000" y="164592"/>
                    </a:lnTo>
                    <a:lnTo>
                      <a:pt x="5334000" y="189738"/>
                    </a:lnTo>
                    <a:lnTo>
                      <a:pt x="5334000" y="467106"/>
                    </a:lnTo>
                    <a:lnTo>
                      <a:pt x="25146" y="467106"/>
                    </a:lnTo>
                    <a:lnTo>
                      <a:pt x="25146" y="189738"/>
                    </a:lnTo>
                    <a:lnTo>
                      <a:pt x="278892" y="189738"/>
                    </a:lnTo>
                    <a:lnTo>
                      <a:pt x="278892" y="295656"/>
                    </a:lnTo>
                    <a:lnTo>
                      <a:pt x="283565" y="318325"/>
                    </a:lnTo>
                    <a:lnTo>
                      <a:pt x="296316" y="336994"/>
                    </a:lnTo>
                    <a:lnTo>
                      <a:pt x="315214" y="349669"/>
                    </a:lnTo>
                    <a:lnTo>
                      <a:pt x="338328" y="354330"/>
                    </a:lnTo>
                    <a:lnTo>
                      <a:pt x="3954018" y="354330"/>
                    </a:lnTo>
                    <a:lnTo>
                      <a:pt x="3977005" y="349669"/>
                    </a:lnTo>
                    <a:lnTo>
                      <a:pt x="3995636" y="336994"/>
                    </a:lnTo>
                    <a:lnTo>
                      <a:pt x="4008120" y="318325"/>
                    </a:lnTo>
                    <a:lnTo>
                      <a:pt x="4012692" y="295656"/>
                    </a:lnTo>
                    <a:lnTo>
                      <a:pt x="4012692" y="189738"/>
                    </a:lnTo>
                    <a:lnTo>
                      <a:pt x="5334000" y="189738"/>
                    </a:lnTo>
                    <a:lnTo>
                      <a:pt x="5334000" y="164592"/>
                    </a:lnTo>
                    <a:lnTo>
                      <a:pt x="4012692" y="164592"/>
                    </a:lnTo>
                    <a:lnTo>
                      <a:pt x="4012692" y="59436"/>
                    </a:lnTo>
                    <a:lnTo>
                      <a:pt x="4008120" y="36334"/>
                    </a:lnTo>
                    <a:lnTo>
                      <a:pt x="3995636" y="17437"/>
                    </a:lnTo>
                    <a:lnTo>
                      <a:pt x="3977005" y="4686"/>
                    </a:lnTo>
                    <a:lnTo>
                      <a:pt x="3954018" y="0"/>
                    </a:lnTo>
                    <a:lnTo>
                      <a:pt x="338328" y="0"/>
                    </a:lnTo>
                    <a:lnTo>
                      <a:pt x="315214" y="4686"/>
                    </a:lnTo>
                    <a:lnTo>
                      <a:pt x="296316" y="17437"/>
                    </a:lnTo>
                    <a:lnTo>
                      <a:pt x="283565" y="36334"/>
                    </a:lnTo>
                    <a:lnTo>
                      <a:pt x="278892" y="59436"/>
                    </a:lnTo>
                    <a:lnTo>
                      <a:pt x="278892" y="164592"/>
                    </a:lnTo>
                    <a:lnTo>
                      <a:pt x="5334" y="164592"/>
                    </a:lnTo>
                    <a:lnTo>
                      <a:pt x="0" y="169926"/>
                    </a:lnTo>
                    <a:lnTo>
                      <a:pt x="0" y="486918"/>
                    </a:lnTo>
                    <a:lnTo>
                      <a:pt x="5334" y="492252"/>
                    </a:lnTo>
                    <a:lnTo>
                      <a:pt x="12192" y="492252"/>
                    </a:lnTo>
                    <a:lnTo>
                      <a:pt x="25146" y="492252"/>
                    </a:lnTo>
                    <a:lnTo>
                      <a:pt x="5334000" y="492252"/>
                    </a:lnTo>
                    <a:lnTo>
                      <a:pt x="5346192" y="492252"/>
                    </a:lnTo>
                    <a:lnTo>
                      <a:pt x="5353812" y="492252"/>
                    </a:lnTo>
                    <a:lnTo>
                      <a:pt x="5359146" y="486918"/>
                    </a:lnTo>
                    <a:lnTo>
                      <a:pt x="5359146" y="169926"/>
                    </a:lnTo>
                    <a:close/>
                  </a:path>
                </a:pathLst>
              </a:custGeom>
              <a:solidFill>
                <a:srgbClr val="BCBC56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2769107" y="4216145"/>
                <a:ext cx="3759200" cy="380365"/>
              </a:xfrm>
              <a:custGeom>
                <a:avLst/>
                <a:gdLst/>
                <a:ahLst/>
                <a:cxnLst/>
                <a:rect l="l" t="t" r="r" b="b"/>
                <a:pathLst>
                  <a:path w="3759200" h="380364">
                    <a:moveTo>
                      <a:pt x="3758946" y="314706"/>
                    </a:moveTo>
                    <a:lnTo>
                      <a:pt x="3758946" y="64008"/>
                    </a:lnTo>
                    <a:lnTo>
                      <a:pt x="3757422" y="57150"/>
                    </a:lnTo>
                    <a:lnTo>
                      <a:pt x="3735081" y="18635"/>
                    </a:lnTo>
                    <a:lnTo>
                      <a:pt x="3694176" y="762"/>
                    </a:lnTo>
                    <a:lnTo>
                      <a:pt x="3688079" y="84"/>
                    </a:lnTo>
                    <a:lnTo>
                      <a:pt x="3687317" y="0"/>
                    </a:lnTo>
                    <a:lnTo>
                      <a:pt x="71628" y="761"/>
                    </a:lnTo>
                    <a:lnTo>
                      <a:pt x="70866" y="762"/>
                    </a:lnTo>
                    <a:lnTo>
                      <a:pt x="48417" y="4169"/>
                    </a:lnTo>
                    <a:lnTo>
                      <a:pt x="28955" y="14476"/>
                    </a:lnTo>
                    <a:lnTo>
                      <a:pt x="28736" y="14592"/>
                    </a:lnTo>
                    <a:lnTo>
                      <a:pt x="13165" y="30672"/>
                    </a:lnTo>
                    <a:lnTo>
                      <a:pt x="3047" y="51054"/>
                    </a:lnTo>
                    <a:lnTo>
                      <a:pt x="1523" y="57912"/>
                    </a:lnTo>
                    <a:lnTo>
                      <a:pt x="0" y="65532"/>
                    </a:lnTo>
                    <a:lnTo>
                      <a:pt x="0" y="316230"/>
                    </a:lnTo>
                    <a:lnTo>
                      <a:pt x="14516" y="351867"/>
                    </a:lnTo>
                    <a:lnTo>
                      <a:pt x="25146" y="362854"/>
                    </a:lnTo>
                    <a:lnTo>
                      <a:pt x="25146" y="67056"/>
                    </a:lnTo>
                    <a:lnTo>
                      <a:pt x="26670" y="62484"/>
                    </a:lnTo>
                    <a:lnTo>
                      <a:pt x="42672" y="35814"/>
                    </a:lnTo>
                    <a:lnTo>
                      <a:pt x="54102" y="28956"/>
                    </a:lnTo>
                    <a:lnTo>
                      <a:pt x="58674" y="27432"/>
                    </a:lnTo>
                    <a:lnTo>
                      <a:pt x="67818" y="25908"/>
                    </a:lnTo>
                    <a:lnTo>
                      <a:pt x="3692652" y="25908"/>
                    </a:lnTo>
                    <a:lnTo>
                      <a:pt x="3697224" y="26670"/>
                    </a:lnTo>
                    <a:lnTo>
                      <a:pt x="3710979" y="32426"/>
                    </a:lnTo>
                    <a:lnTo>
                      <a:pt x="3721960" y="41543"/>
                    </a:lnTo>
                    <a:lnTo>
                      <a:pt x="3729717" y="53510"/>
                    </a:lnTo>
                    <a:lnTo>
                      <a:pt x="3733800" y="67818"/>
                    </a:lnTo>
                    <a:lnTo>
                      <a:pt x="3733800" y="361777"/>
                    </a:lnTo>
                    <a:lnTo>
                      <a:pt x="3741100" y="355801"/>
                    </a:lnTo>
                    <a:lnTo>
                      <a:pt x="3752687" y="337535"/>
                    </a:lnTo>
                    <a:lnTo>
                      <a:pt x="3758946" y="314706"/>
                    </a:lnTo>
                    <a:close/>
                  </a:path>
                  <a:path w="3759200" h="380364">
                    <a:moveTo>
                      <a:pt x="3733800" y="361777"/>
                    </a:moveTo>
                    <a:lnTo>
                      <a:pt x="3733800" y="308610"/>
                    </a:lnTo>
                    <a:lnTo>
                      <a:pt x="3733038" y="313944"/>
                    </a:lnTo>
                    <a:lnTo>
                      <a:pt x="3732276" y="318516"/>
                    </a:lnTo>
                    <a:lnTo>
                      <a:pt x="3727071" y="332016"/>
                    </a:lnTo>
                    <a:lnTo>
                      <a:pt x="3717597" y="343100"/>
                    </a:lnTo>
                    <a:lnTo>
                      <a:pt x="3705176" y="350845"/>
                    </a:lnTo>
                    <a:lnTo>
                      <a:pt x="3691128" y="354330"/>
                    </a:lnTo>
                    <a:lnTo>
                      <a:pt x="70866" y="354223"/>
                    </a:lnTo>
                    <a:lnTo>
                      <a:pt x="33510" y="335065"/>
                    </a:lnTo>
                    <a:lnTo>
                      <a:pt x="25146" y="312420"/>
                    </a:lnTo>
                    <a:lnTo>
                      <a:pt x="25146" y="362854"/>
                    </a:lnTo>
                    <a:lnTo>
                      <a:pt x="62733" y="379299"/>
                    </a:lnTo>
                    <a:lnTo>
                      <a:pt x="3688079" y="380238"/>
                    </a:lnTo>
                    <a:lnTo>
                      <a:pt x="3695700" y="379476"/>
                    </a:lnTo>
                    <a:lnTo>
                      <a:pt x="3702558" y="378714"/>
                    </a:lnTo>
                    <a:lnTo>
                      <a:pt x="3724339" y="369521"/>
                    </a:lnTo>
                    <a:lnTo>
                      <a:pt x="3733800" y="36177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pic>
            <p:nvPicPr>
              <p:cNvPr id="16" name="object 16"/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2514599" y="4950713"/>
                <a:ext cx="5334000" cy="302514"/>
              </a:xfrm>
              <a:prstGeom prst="rect">
                <a:avLst/>
              </a:prstGeom>
            </p:spPr>
          </p:pic>
          <p:sp>
            <p:nvSpPr>
              <p:cNvPr id="17" name="object 17"/>
              <p:cNvSpPr/>
              <p:nvPr/>
            </p:nvSpPr>
            <p:spPr>
              <a:xfrm>
                <a:off x="2502408" y="4773167"/>
                <a:ext cx="5359400" cy="492759"/>
              </a:xfrm>
              <a:custGeom>
                <a:avLst/>
                <a:gdLst/>
                <a:ahLst/>
                <a:cxnLst/>
                <a:rect l="l" t="t" r="r" b="b"/>
                <a:pathLst>
                  <a:path w="5359400" h="492760">
                    <a:moveTo>
                      <a:pt x="5359146" y="170688"/>
                    </a:moveTo>
                    <a:lnTo>
                      <a:pt x="5353812" y="164592"/>
                    </a:lnTo>
                    <a:lnTo>
                      <a:pt x="5334000" y="164592"/>
                    </a:lnTo>
                    <a:lnTo>
                      <a:pt x="5334000" y="190500"/>
                    </a:lnTo>
                    <a:lnTo>
                      <a:pt x="5334000" y="467106"/>
                    </a:lnTo>
                    <a:lnTo>
                      <a:pt x="25146" y="467106"/>
                    </a:lnTo>
                    <a:lnTo>
                      <a:pt x="25146" y="190500"/>
                    </a:lnTo>
                    <a:lnTo>
                      <a:pt x="278892" y="190500"/>
                    </a:lnTo>
                    <a:lnTo>
                      <a:pt x="278892" y="295656"/>
                    </a:lnTo>
                    <a:lnTo>
                      <a:pt x="283565" y="318655"/>
                    </a:lnTo>
                    <a:lnTo>
                      <a:pt x="296316" y="337286"/>
                    </a:lnTo>
                    <a:lnTo>
                      <a:pt x="315214" y="349770"/>
                    </a:lnTo>
                    <a:lnTo>
                      <a:pt x="338328" y="354330"/>
                    </a:lnTo>
                    <a:lnTo>
                      <a:pt x="3954018" y="354330"/>
                    </a:lnTo>
                    <a:lnTo>
                      <a:pt x="3977005" y="349770"/>
                    </a:lnTo>
                    <a:lnTo>
                      <a:pt x="3995636" y="337286"/>
                    </a:lnTo>
                    <a:lnTo>
                      <a:pt x="4008120" y="318655"/>
                    </a:lnTo>
                    <a:lnTo>
                      <a:pt x="4012692" y="295656"/>
                    </a:lnTo>
                    <a:lnTo>
                      <a:pt x="4012692" y="190500"/>
                    </a:lnTo>
                    <a:lnTo>
                      <a:pt x="5334000" y="190500"/>
                    </a:lnTo>
                    <a:lnTo>
                      <a:pt x="5334000" y="164592"/>
                    </a:lnTo>
                    <a:lnTo>
                      <a:pt x="4012692" y="164592"/>
                    </a:lnTo>
                    <a:lnTo>
                      <a:pt x="4012692" y="59436"/>
                    </a:lnTo>
                    <a:lnTo>
                      <a:pt x="4008120" y="36334"/>
                    </a:lnTo>
                    <a:lnTo>
                      <a:pt x="3995636" y="17437"/>
                    </a:lnTo>
                    <a:lnTo>
                      <a:pt x="3977005" y="4686"/>
                    </a:lnTo>
                    <a:lnTo>
                      <a:pt x="3954018" y="0"/>
                    </a:lnTo>
                    <a:lnTo>
                      <a:pt x="338328" y="0"/>
                    </a:lnTo>
                    <a:lnTo>
                      <a:pt x="315214" y="4686"/>
                    </a:lnTo>
                    <a:lnTo>
                      <a:pt x="296316" y="17437"/>
                    </a:lnTo>
                    <a:lnTo>
                      <a:pt x="283565" y="36334"/>
                    </a:lnTo>
                    <a:lnTo>
                      <a:pt x="278892" y="59436"/>
                    </a:lnTo>
                    <a:lnTo>
                      <a:pt x="278892" y="164592"/>
                    </a:lnTo>
                    <a:lnTo>
                      <a:pt x="5334" y="164592"/>
                    </a:lnTo>
                    <a:lnTo>
                      <a:pt x="0" y="170688"/>
                    </a:lnTo>
                    <a:lnTo>
                      <a:pt x="0" y="486918"/>
                    </a:lnTo>
                    <a:lnTo>
                      <a:pt x="5334" y="492252"/>
                    </a:lnTo>
                    <a:lnTo>
                      <a:pt x="12192" y="492252"/>
                    </a:lnTo>
                    <a:lnTo>
                      <a:pt x="25146" y="492252"/>
                    </a:lnTo>
                    <a:lnTo>
                      <a:pt x="5334000" y="492252"/>
                    </a:lnTo>
                    <a:lnTo>
                      <a:pt x="5346192" y="492252"/>
                    </a:lnTo>
                    <a:lnTo>
                      <a:pt x="5353812" y="492252"/>
                    </a:lnTo>
                    <a:lnTo>
                      <a:pt x="5359146" y="486918"/>
                    </a:lnTo>
                    <a:lnTo>
                      <a:pt x="5359146" y="170688"/>
                    </a:lnTo>
                    <a:close/>
                  </a:path>
                </a:pathLst>
              </a:custGeom>
              <a:solidFill>
                <a:srgbClr val="9BBB59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2769107" y="4760975"/>
                <a:ext cx="3759200" cy="379730"/>
              </a:xfrm>
              <a:custGeom>
                <a:avLst/>
                <a:gdLst/>
                <a:ahLst/>
                <a:cxnLst/>
                <a:rect l="l" t="t" r="r" b="b"/>
                <a:pathLst>
                  <a:path w="3759200" h="379729">
                    <a:moveTo>
                      <a:pt x="3758946" y="314705"/>
                    </a:moveTo>
                    <a:lnTo>
                      <a:pt x="3758946" y="63245"/>
                    </a:lnTo>
                    <a:lnTo>
                      <a:pt x="3757422" y="56387"/>
                    </a:lnTo>
                    <a:lnTo>
                      <a:pt x="3748884" y="35004"/>
                    </a:lnTo>
                    <a:lnTo>
                      <a:pt x="3734957" y="18059"/>
                    </a:lnTo>
                    <a:lnTo>
                      <a:pt x="3716450" y="6181"/>
                    </a:lnTo>
                    <a:lnTo>
                      <a:pt x="3694176" y="0"/>
                    </a:lnTo>
                    <a:lnTo>
                      <a:pt x="70866" y="0"/>
                    </a:lnTo>
                    <a:lnTo>
                      <a:pt x="28555" y="14301"/>
                    </a:lnTo>
                    <a:lnTo>
                      <a:pt x="3047" y="51053"/>
                    </a:lnTo>
                    <a:lnTo>
                      <a:pt x="0" y="64769"/>
                    </a:lnTo>
                    <a:lnTo>
                      <a:pt x="0" y="315467"/>
                    </a:lnTo>
                    <a:lnTo>
                      <a:pt x="1524" y="323087"/>
                    </a:lnTo>
                    <a:lnTo>
                      <a:pt x="3048" y="329945"/>
                    </a:lnTo>
                    <a:lnTo>
                      <a:pt x="6096" y="336041"/>
                    </a:lnTo>
                    <a:lnTo>
                      <a:pt x="9880" y="344335"/>
                    </a:lnTo>
                    <a:lnTo>
                      <a:pt x="14330" y="351301"/>
                    </a:lnTo>
                    <a:lnTo>
                      <a:pt x="19806" y="357494"/>
                    </a:lnTo>
                    <a:lnTo>
                      <a:pt x="25146" y="362146"/>
                    </a:lnTo>
                    <a:lnTo>
                      <a:pt x="25146" y="66293"/>
                    </a:lnTo>
                    <a:lnTo>
                      <a:pt x="26670" y="61721"/>
                    </a:lnTo>
                    <a:lnTo>
                      <a:pt x="27432" y="57149"/>
                    </a:lnTo>
                    <a:lnTo>
                      <a:pt x="28956" y="53339"/>
                    </a:lnTo>
                    <a:lnTo>
                      <a:pt x="31724" y="45999"/>
                    </a:lnTo>
                    <a:lnTo>
                      <a:pt x="37426" y="40614"/>
                    </a:lnTo>
                    <a:lnTo>
                      <a:pt x="42672" y="35051"/>
                    </a:lnTo>
                    <a:lnTo>
                      <a:pt x="50292" y="30479"/>
                    </a:lnTo>
                    <a:lnTo>
                      <a:pt x="56928" y="28014"/>
                    </a:lnTo>
                    <a:lnTo>
                      <a:pt x="65138" y="24269"/>
                    </a:lnTo>
                    <a:lnTo>
                      <a:pt x="70866" y="24961"/>
                    </a:lnTo>
                    <a:lnTo>
                      <a:pt x="71628" y="25053"/>
                    </a:lnTo>
                    <a:lnTo>
                      <a:pt x="3687317" y="25145"/>
                    </a:lnTo>
                    <a:lnTo>
                      <a:pt x="3692652" y="25907"/>
                    </a:lnTo>
                    <a:lnTo>
                      <a:pt x="3729860" y="53698"/>
                    </a:lnTo>
                    <a:lnTo>
                      <a:pt x="3733800" y="67817"/>
                    </a:lnTo>
                    <a:lnTo>
                      <a:pt x="3733800" y="361111"/>
                    </a:lnTo>
                    <a:lnTo>
                      <a:pt x="3740748" y="355353"/>
                    </a:lnTo>
                    <a:lnTo>
                      <a:pt x="3752826" y="336691"/>
                    </a:lnTo>
                    <a:lnTo>
                      <a:pt x="3758946" y="314705"/>
                    </a:lnTo>
                    <a:close/>
                  </a:path>
                  <a:path w="3759200" h="379729">
                    <a:moveTo>
                      <a:pt x="3733800" y="361111"/>
                    </a:moveTo>
                    <a:lnTo>
                      <a:pt x="3733800" y="307847"/>
                    </a:lnTo>
                    <a:lnTo>
                      <a:pt x="3733038" y="313181"/>
                    </a:lnTo>
                    <a:lnTo>
                      <a:pt x="3732276" y="317753"/>
                    </a:lnTo>
                    <a:lnTo>
                      <a:pt x="3705247" y="350397"/>
                    </a:lnTo>
                    <a:lnTo>
                      <a:pt x="71628" y="354329"/>
                    </a:lnTo>
                    <a:lnTo>
                      <a:pt x="57061" y="351828"/>
                    </a:lnTo>
                    <a:lnTo>
                      <a:pt x="27432" y="320801"/>
                    </a:lnTo>
                    <a:lnTo>
                      <a:pt x="25146" y="311657"/>
                    </a:lnTo>
                    <a:lnTo>
                      <a:pt x="25146" y="362146"/>
                    </a:lnTo>
                    <a:lnTo>
                      <a:pt x="64770" y="379475"/>
                    </a:lnTo>
                    <a:lnTo>
                      <a:pt x="3695700" y="379475"/>
                    </a:lnTo>
                    <a:lnTo>
                      <a:pt x="3702558" y="377951"/>
                    </a:lnTo>
                    <a:lnTo>
                      <a:pt x="3723671" y="369503"/>
                    </a:lnTo>
                    <a:lnTo>
                      <a:pt x="3733800" y="36111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588"/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4888435" y="2275467"/>
              <a:ext cx="1741954" cy="2292465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algn="ctr">
                <a:spcBef>
                  <a:spcPts val="84"/>
                </a:spcBef>
              </a:pPr>
              <a:r>
                <a:rPr sz="1765" b="1" dirty="0">
                  <a:solidFill>
                    <a:srgbClr val="FFFFFF"/>
                  </a:solidFill>
                  <a:latin typeface="Calibri"/>
                  <a:cs typeface="Calibri"/>
                </a:rPr>
                <a:t>Device</a:t>
              </a:r>
              <a:r>
                <a:rPr sz="1765" b="1" spc="-49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765" b="1" dirty="0">
                  <a:solidFill>
                    <a:srgbClr val="FFFFFF"/>
                  </a:solidFill>
                  <a:latin typeface="Calibri"/>
                  <a:cs typeface="Calibri"/>
                </a:rPr>
                <a:t>(The</a:t>
              </a:r>
              <a:r>
                <a:rPr sz="1765" b="1" spc="-6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765" b="1" spc="-9" dirty="0">
                  <a:solidFill>
                    <a:srgbClr val="FFFFFF"/>
                  </a:solidFill>
                  <a:latin typeface="Calibri"/>
                  <a:cs typeface="Calibri"/>
                </a:rPr>
                <a:t>Thing)</a:t>
              </a:r>
              <a:endParaRPr lang="en-US" sz="1765" b="1" spc="-9" dirty="0">
                <a:solidFill>
                  <a:srgbClr val="FFFFFF"/>
                </a:solidFill>
                <a:latin typeface="Calibri"/>
                <a:cs typeface="Calibri"/>
              </a:endParaRPr>
            </a:p>
            <a:p>
              <a:pPr algn="ctr">
                <a:spcBef>
                  <a:spcPts val="84"/>
                </a:spcBef>
              </a:pPr>
              <a:endParaRPr sz="1765" dirty="0">
                <a:latin typeface="Calibri"/>
                <a:cs typeface="Calibri"/>
              </a:endParaRPr>
            </a:p>
            <a:p>
              <a:pPr marL="203958" marR="198915" algn="ctr">
                <a:lnSpc>
                  <a:spcPct val="178500"/>
                </a:lnSpc>
              </a:pPr>
              <a:r>
                <a:rPr sz="1765" b="1" dirty="0">
                  <a:solidFill>
                    <a:srgbClr val="FFFFFF"/>
                  </a:solidFill>
                  <a:latin typeface="Calibri"/>
                  <a:cs typeface="Calibri"/>
                </a:rPr>
                <a:t>Local</a:t>
              </a:r>
              <a:r>
                <a:rPr sz="1765" b="1" spc="-57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765" b="1" spc="-9" dirty="0">
                  <a:solidFill>
                    <a:srgbClr val="FFFFFF"/>
                  </a:solidFill>
                  <a:latin typeface="Calibri"/>
                  <a:cs typeface="Calibri"/>
                </a:rPr>
                <a:t>Network </a:t>
              </a:r>
              <a:endParaRPr lang="en-US" sz="1765" b="1" spc="-9" dirty="0">
                <a:solidFill>
                  <a:srgbClr val="FFFFFF"/>
                </a:solidFill>
                <a:latin typeface="Calibri"/>
                <a:cs typeface="Calibri"/>
              </a:endParaRPr>
            </a:p>
            <a:p>
              <a:pPr marL="203958" marR="198915" algn="ctr">
                <a:lnSpc>
                  <a:spcPct val="178500"/>
                </a:lnSpc>
              </a:pPr>
              <a:endParaRPr lang="en-US" sz="1050" b="1" spc="-9" dirty="0">
                <a:solidFill>
                  <a:srgbClr val="FFFFFF"/>
                </a:solidFill>
                <a:latin typeface="Calibri"/>
                <a:cs typeface="Calibri"/>
              </a:endParaRPr>
            </a:p>
            <a:p>
              <a:pPr marL="203958" marR="198915" algn="ctr">
                <a:lnSpc>
                  <a:spcPct val="178500"/>
                </a:lnSpc>
              </a:pPr>
              <a:r>
                <a:rPr sz="1765" b="1" spc="-9" dirty="0">
                  <a:solidFill>
                    <a:srgbClr val="FFFFFF"/>
                  </a:solidFill>
                  <a:latin typeface="Calibri"/>
                  <a:cs typeface="Calibri"/>
                </a:rPr>
                <a:t>Internet</a:t>
              </a:r>
              <a:endParaRPr lang="en-US" sz="1765" b="1" spc="-9" dirty="0">
                <a:solidFill>
                  <a:srgbClr val="FFFFFF"/>
                </a:solidFill>
                <a:latin typeface="Calibri"/>
                <a:cs typeface="Calibri"/>
              </a:endParaRPr>
            </a:p>
            <a:p>
              <a:pPr marL="203958" marR="198915" algn="ctr">
                <a:lnSpc>
                  <a:spcPct val="178500"/>
                </a:lnSpc>
              </a:pPr>
              <a:endParaRPr sz="1200" dirty="0">
                <a:latin typeface="Calibri"/>
                <a:cs typeface="Calibri"/>
              </a:endParaRPr>
            </a:p>
            <a:p>
              <a:pPr marL="73402" marR="67799" algn="ctr">
                <a:lnSpc>
                  <a:spcPct val="178500"/>
                </a:lnSpc>
                <a:spcBef>
                  <a:spcPts val="4"/>
                </a:spcBef>
              </a:pPr>
              <a:r>
                <a:rPr sz="1765" b="1" spc="-9" dirty="0">
                  <a:solidFill>
                    <a:srgbClr val="FFFFFF"/>
                  </a:solidFill>
                  <a:latin typeface="Calibri"/>
                  <a:cs typeface="Calibri"/>
                </a:rPr>
                <a:t>Backend</a:t>
              </a:r>
              <a:r>
                <a:rPr sz="1765" b="1" spc="-49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765" b="1" spc="-9" dirty="0">
                  <a:solidFill>
                    <a:srgbClr val="FFFFFF"/>
                  </a:solidFill>
                  <a:latin typeface="Calibri"/>
                  <a:cs typeface="Calibri"/>
                </a:rPr>
                <a:t>Services </a:t>
              </a:r>
              <a:endParaRPr lang="en-US" sz="1765" b="1" spc="-9" dirty="0">
                <a:solidFill>
                  <a:srgbClr val="FFFFFF"/>
                </a:solidFill>
                <a:latin typeface="Calibri"/>
                <a:cs typeface="Calibri"/>
              </a:endParaRPr>
            </a:p>
            <a:p>
              <a:pPr marL="73402" marR="67799" algn="ctr">
                <a:lnSpc>
                  <a:spcPct val="178500"/>
                </a:lnSpc>
                <a:spcBef>
                  <a:spcPts val="4"/>
                </a:spcBef>
              </a:pPr>
              <a:endParaRPr lang="en-US" sz="1050" b="1" spc="-9" dirty="0">
                <a:solidFill>
                  <a:srgbClr val="FFFFFF"/>
                </a:solidFill>
                <a:latin typeface="Calibri"/>
                <a:cs typeface="Calibri"/>
              </a:endParaRPr>
            </a:p>
            <a:p>
              <a:pPr marL="73402" marR="67799" algn="ctr">
                <a:lnSpc>
                  <a:spcPct val="178500"/>
                </a:lnSpc>
                <a:spcBef>
                  <a:spcPts val="4"/>
                </a:spcBef>
              </a:pPr>
              <a:r>
                <a:rPr sz="1765" b="1" spc="-9" dirty="0">
                  <a:solidFill>
                    <a:srgbClr val="FFFFFF"/>
                  </a:solidFill>
                  <a:latin typeface="Calibri"/>
                  <a:cs typeface="Calibri"/>
                </a:rPr>
                <a:t>Applications</a:t>
              </a:r>
              <a:endParaRPr sz="1765" dirty="0">
                <a:latin typeface="Calibri"/>
                <a:cs typeface="Calibri"/>
              </a:endParaRPr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3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612" y="1295400"/>
            <a:ext cx="10346952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2406" y="399991"/>
            <a:ext cx="7903957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Functional</a:t>
            </a:r>
            <a:r>
              <a:rPr spc="-31" dirty="0"/>
              <a:t> </a:t>
            </a:r>
            <a:r>
              <a:rPr dirty="0"/>
              <a:t>Components</a:t>
            </a:r>
            <a:r>
              <a:rPr spc="-26" dirty="0"/>
              <a:t> </a:t>
            </a:r>
            <a:r>
              <a:rPr dirty="0"/>
              <a:t>of</a:t>
            </a:r>
            <a:r>
              <a:rPr spc="-26" dirty="0"/>
              <a:t> </a:t>
            </a:r>
            <a:r>
              <a:rPr spc="-40" dirty="0"/>
              <a:t>IoT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5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399385" y="2096621"/>
            <a:ext cx="7168963" cy="229277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640" marR="4483" indent="-403433">
              <a:spcBef>
                <a:spcPts val="88"/>
              </a:spcBef>
              <a:buFont typeface="Wingdings"/>
              <a:buChar char=""/>
              <a:tabLst>
                <a:tab pos="414640" algn="l"/>
              </a:tabLst>
            </a:pPr>
            <a:r>
              <a:rPr sz="2118" dirty="0">
                <a:latin typeface="Calibri"/>
                <a:cs typeface="Calibri"/>
              </a:rPr>
              <a:t>Component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interaction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118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communication</a:t>
            </a:r>
            <a:r>
              <a:rPr sz="2118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with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other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IoT </a:t>
            </a:r>
            <a:r>
              <a:rPr sz="2118" spc="-9" dirty="0">
                <a:latin typeface="Calibri"/>
                <a:cs typeface="Calibri"/>
              </a:rPr>
              <a:t>devices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Component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processing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analysis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operations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Component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Internet</a:t>
            </a:r>
            <a:r>
              <a:rPr sz="2118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interaction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Components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handling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Web</a:t>
            </a:r>
            <a:r>
              <a:rPr sz="2118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services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applications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Component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integrate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application</a:t>
            </a:r>
            <a:r>
              <a:rPr sz="2118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services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User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interface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access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IoT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8607" y="4724848"/>
            <a:ext cx="7057464" cy="329804"/>
          </a:xfrm>
          <a:prstGeom prst="rect">
            <a:avLst/>
          </a:prstGeom>
        </p:spPr>
        <p:txBody>
          <a:bodyPr vert="horz" wrap="square" lIns="0" tIns="7844" rIns="0" bIns="0" rtlCol="0">
            <a:spAutoFit/>
          </a:bodyPr>
          <a:lstStyle/>
          <a:p>
            <a:pPr marL="11206" marR="4483">
              <a:lnSpc>
                <a:spcPct val="102099"/>
              </a:lnSpc>
              <a:spcBef>
                <a:spcPts val="62"/>
              </a:spcBef>
            </a:pPr>
            <a:r>
              <a:rPr sz="1059" b="1" dirty="0">
                <a:latin typeface="Calibri"/>
                <a:cs typeface="Calibri"/>
              </a:rPr>
              <a:t>S</a:t>
            </a:r>
            <a:r>
              <a:rPr sz="1059" b="1" dirty="0">
                <a:latin typeface="Arial"/>
                <a:cs typeface="Arial"/>
              </a:rPr>
              <a:t>ource:</a:t>
            </a:r>
            <a:r>
              <a:rPr sz="1059" b="1" spc="-22" dirty="0">
                <a:latin typeface="Arial"/>
                <a:cs typeface="Arial"/>
              </a:rPr>
              <a:t> </a:t>
            </a:r>
            <a:r>
              <a:rPr sz="1059" dirty="0">
                <a:latin typeface="Arial MT"/>
                <a:cs typeface="Arial MT"/>
              </a:rPr>
              <a:t>O</a:t>
            </a:r>
            <a:r>
              <a:rPr sz="1059" spc="-9" dirty="0">
                <a:latin typeface="Arial MT"/>
                <a:cs typeface="Arial MT"/>
              </a:rPr>
              <a:t> Vermesan,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71" dirty="0">
                <a:latin typeface="Arial MT"/>
                <a:cs typeface="Arial MT"/>
              </a:rPr>
              <a:t>P.</a:t>
            </a:r>
            <a:r>
              <a:rPr sz="1059" dirty="0">
                <a:latin typeface="Arial MT"/>
                <a:cs typeface="Arial MT"/>
              </a:rPr>
              <a:t> Friess</a:t>
            </a:r>
            <a:r>
              <a:rPr sz="1059" b="1" dirty="0">
                <a:latin typeface="Arial"/>
                <a:cs typeface="Arial"/>
              </a:rPr>
              <a:t>,</a:t>
            </a:r>
            <a:r>
              <a:rPr sz="1059" b="1" spc="-9" dirty="0">
                <a:latin typeface="Arial"/>
                <a:cs typeface="Arial"/>
              </a:rPr>
              <a:t> </a:t>
            </a:r>
            <a:r>
              <a:rPr sz="1059" b="1" dirty="0">
                <a:latin typeface="Arial"/>
                <a:cs typeface="Arial"/>
              </a:rPr>
              <a:t>“</a:t>
            </a:r>
            <a:r>
              <a:rPr sz="1059" dirty="0">
                <a:latin typeface="Arial MT"/>
                <a:cs typeface="Arial MT"/>
              </a:rPr>
              <a:t>Internet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of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Things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–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Converging</a:t>
            </a:r>
            <a:r>
              <a:rPr sz="1059" spc="-31" dirty="0">
                <a:latin typeface="Arial MT"/>
                <a:cs typeface="Arial MT"/>
              </a:rPr>
              <a:t> </a:t>
            </a:r>
            <a:r>
              <a:rPr sz="1059" spc="-18" dirty="0">
                <a:latin typeface="Arial MT"/>
                <a:cs typeface="Arial MT"/>
              </a:rPr>
              <a:t>Technologies</a:t>
            </a:r>
            <a:r>
              <a:rPr sz="1059" spc="-31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for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Smart</a:t>
            </a:r>
            <a:r>
              <a:rPr sz="1059" spc="-9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Environments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and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Integrated </a:t>
            </a:r>
            <a:r>
              <a:rPr sz="1059" dirty="0">
                <a:latin typeface="Arial MT"/>
                <a:cs typeface="Arial MT"/>
              </a:rPr>
              <a:t>Ecosystems”,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River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Publishers,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Series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in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Communications,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18" dirty="0">
                <a:latin typeface="Arial MT"/>
                <a:cs typeface="Arial MT"/>
              </a:rPr>
              <a:t>2013</a:t>
            </a:r>
            <a:endParaRPr sz="1059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An</a:t>
            </a:r>
            <a:r>
              <a:rPr spc="53" dirty="0"/>
              <a:t> </a:t>
            </a:r>
            <a:r>
              <a:rPr dirty="0"/>
              <a:t>Example</a:t>
            </a:r>
            <a:r>
              <a:rPr spc="53" dirty="0"/>
              <a:t> </a:t>
            </a:r>
            <a:r>
              <a:rPr spc="-132" dirty="0"/>
              <a:t>IoT</a:t>
            </a:r>
            <a:r>
              <a:rPr spc="62" dirty="0"/>
              <a:t> </a:t>
            </a:r>
            <a:r>
              <a:rPr spc="31" dirty="0"/>
              <a:t>Implementation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16772" y="1915534"/>
            <a:ext cx="7876615" cy="2789704"/>
            <a:chOff x="521208" y="2170938"/>
            <a:chExt cx="8926830" cy="3161665"/>
          </a:xfrm>
        </p:grpSpPr>
        <p:sp>
          <p:nvSpPr>
            <p:cNvPr id="4" name="object 4"/>
            <p:cNvSpPr/>
            <p:nvPr/>
          </p:nvSpPr>
          <p:spPr>
            <a:xfrm>
              <a:off x="521208" y="2947415"/>
              <a:ext cx="1625600" cy="2385060"/>
            </a:xfrm>
            <a:custGeom>
              <a:avLst/>
              <a:gdLst/>
              <a:ahLst/>
              <a:cxnLst/>
              <a:rect l="l" t="t" r="r" b="b"/>
              <a:pathLst>
                <a:path w="1625600" h="2385060">
                  <a:moveTo>
                    <a:pt x="1625346" y="2378964"/>
                  </a:moveTo>
                  <a:lnTo>
                    <a:pt x="1625346" y="6095"/>
                  </a:lnTo>
                  <a:lnTo>
                    <a:pt x="1620012" y="0"/>
                  </a:lnTo>
                  <a:lnTo>
                    <a:pt x="5333" y="0"/>
                  </a:lnTo>
                  <a:lnTo>
                    <a:pt x="0" y="6095"/>
                  </a:lnTo>
                  <a:lnTo>
                    <a:pt x="0" y="2378964"/>
                  </a:lnTo>
                  <a:lnTo>
                    <a:pt x="5334" y="2385060"/>
                  </a:lnTo>
                  <a:lnTo>
                    <a:pt x="12192" y="2385060"/>
                  </a:lnTo>
                  <a:lnTo>
                    <a:pt x="12192" y="25907"/>
                  </a:lnTo>
                  <a:lnTo>
                    <a:pt x="25146" y="12953"/>
                  </a:lnTo>
                  <a:lnTo>
                    <a:pt x="25146" y="25907"/>
                  </a:lnTo>
                  <a:lnTo>
                    <a:pt x="1600200" y="25907"/>
                  </a:lnTo>
                  <a:lnTo>
                    <a:pt x="1600200" y="12953"/>
                  </a:lnTo>
                  <a:lnTo>
                    <a:pt x="1612392" y="25907"/>
                  </a:lnTo>
                  <a:lnTo>
                    <a:pt x="1612392" y="2385060"/>
                  </a:lnTo>
                  <a:lnTo>
                    <a:pt x="1620012" y="2385060"/>
                  </a:lnTo>
                  <a:lnTo>
                    <a:pt x="1625346" y="2378964"/>
                  </a:lnTo>
                  <a:close/>
                </a:path>
                <a:path w="1625600" h="2385060">
                  <a:moveTo>
                    <a:pt x="25146" y="25907"/>
                  </a:moveTo>
                  <a:lnTo>
                    <a:pt x="25146" y="12953"/>
                  </a:lnTo>
                  <a:lnTo>
                    <a:pt x="12192" y="25907"/>
                  </a:lnTo>
                  <a:lnTo>
                    <a:pt x="25146" y="25907"/>
                  </a:lnTo>
                  <a:close/>
                </a:path>
                <a:path w="1625600" h="2385060">
                  <a:moveTo>
                    <a:pt x="25146" y="2359152"/>
                  </a:moveTo>
                  <a:lnTo>
                    <a:pt x="25146" y="25907"/>
                  </a:lnTo>
                  <a:lnTo>
                    <a:pt x="12192" y="25907"/>
                  </a:lnTo>
                  <a:lnTo>
                    <a:pt x="12192" y="2359152"/>
                  </a:lnTo>
                  <a:lnTo>
                    <a:pt x="25146" y="2359152"/>
                  </a:lnTo>
                  <a:close/>
                </a:path>
                <a:path w="1625600" h="2385060">
                  <a:moveTo>
                    <a:pt x="1612392" y="2359152"/>
                  </a:moveTo>
                  <a:lnTo>
                    <a:pt x="12192" y="2359152"/>
                  </a:lnTo>
                  <a:lnTo>
                    <a:pt x="25146" y="2372105"/>
                  </a:lnTo>
                  <a:lnTo>
                    <a:pt x="25146" y="2385060"/>
                  </a:lnTo>
                  <a:lnTo>
                    <a:pt x="1600200" y="2385060"/>
                  </a:lnTo>
                  <a:lnTo>
                    <a:pt x="1600200" y="2372105"/>
                  </a:lnTo>
                  <a:lnTo>
                    <a:pt x="1612392" y="2359152"/>
                  </a:lnTo>
                  <a:close/>
                </a:path>
                <a:path w="1625600" h="2385060">
                  <a:moveTo>
                    <a:pt x="25146" y="2385060"/>
                  </a:moveTo>
                  <a:lnTo>
                    <a:pt x="25146" y="2372105"/>
                  </a:lnTo>
                  <a:lnTo>
                    <a:pt x="12192" y="2359152"/>
                  </a:lnTo>
                  <a:lnTo>
                    <a:pt x="12192" y="2385060"/>
                  </a:lnTo>
                  <a:lnTo>
                    <a:pt x="25146" y="2385060"/>
                  </a:lnTo>
                  <a:close/>
                </a:path>
                <a:path w="1625600" h="2385060">
                  <a:moveTo>
                    <a:pt x="1612392" y="25907"/>
                  </a:moveTo>
                  <a:lnTo>
                    <a:pt x="1600200" y="12953"/>
                  </a:lnTo>
                  <a:lnTo>
                    <a:pt x="1600200" y="25907"/>
                  </a:lnTo>
                  <a:lnTo>
                    <a:pt x="1612392" y="25907"/>
                  </a:lnTo>
                  <a:close/>
                </a:path>
                <a:path w="1625600" h="2385060">
                  <a:moveTo>
                    <a:pt x="1612392" y="2359152"/>
                  </a:moveTo>
                  <a:lnTo>
                    <a:pt x="1612392" y="25907"/>
                  </a:lnTo>
                  <a:lnTo>
                    <a:pt x="1600200" y="25907"/>
                  </a:lnTo>
                  <a:lnTo>
                    <a:pt x="1600200" y="2359152"/>
                  </a:lnTo>
                  <a:lnTo>
                    <a:pt x="1612392" y="2359152"/>
                  </a:lnTo>
                  <a:close/>
                </a:path>
                <a:path w="1625600" h="2385060">
                  <a:moveTo>
                    <a:pt x="1612392" y="2385060"/>
                  </a:moveTo>
                  <a:lnTo>
                    <a:pt x="1612392" y="2359152"/>
                  </a:lnTo>
                  <a:lnTo>
                    <a:pt x="1600200" y="2372105"/>
                  </a:lnTo>
                  <a:lnTo>
                    <a:pt x="1600200" y="2385060"/>
                  </a:lnTo>
                  <a:lnTo>
                    <a:pt x="1612392" y="2385060"/>
                  </a:lnTo>
                  <a:close/>
                </a:path>
              </a:pathLst>
            </a:custGeom>
            <a:solidFill>
              <a:srgbClr val="385D8A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454" y="4572000"/>
              <a:ext cx="788784" cy="57759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506" y="3071622"/>
              <a:ext cx="754684" cy="717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9623" y="3865626"/>
              <a:ext cx="1383030" cy="138226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86000" y="2338577"/>
              <a:ext cx="1028699" cy="1028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03975" y="4152138"/>
              <a:ext cx="685800" cy="8092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35517" y="4000500"/>
              <a:ext cx="1112519" cy="111251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65854" y="2337816"/>
              <a:ext cx="754799" cy="100583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5122" y="3880104"/>
              <a:ext cx="780910" cy="6156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3219" y="2170938"/>
              <a:ext cx="797813" cy="10652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91727" y="2286761"/>
              <a:ext cx="804227" cy="8001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71600" y="2617711"/>
              <a:ext cx="7592059" cy="2011045"/>
            </a:xfrm>
            <a:custGeom>
              <a:avLst/>
              <a:gdLst/>
              <a:ahLst/>
              <a:cxnLst/>
              <a:rect l="l" t="t" r="r" b="b"/>
              <a:pathLst>
                <a:path w="7592059" h="2011045">
                  <a:moveTo>
                    <a:pt x="159258" y="209308"/>
                  </a:moveTo>
                  <a:lnTo>
                    <a:pt x="91097" y="208495"/>
                  </a:lnTo>
                  <a:lnTo>
                    <a:pt x="135636" y="183400"/>
                  </a:lnTo>
                  <a:lnTo>
                    <a:pt x="140208" y="179222"/>
                  </a:lnTo>
                  <a:lnTo>
                    <a:pt x="140335" y="179095"/>
                  </a:lnTo>
                  <a:lnTo>
                    <a:pt x="142963" y="173494"/>
                  </a:lnTo>
                  <a:lnTo>
                    <a:pt x="143446" y="167335"/>
                  </a:lnTo>
                  <a:lnTo>
                    <a:pt x="141732" y="161302"/>
                  </a:lnTo>
                  <a:lnTo>
                    <a:pt x="137414" y="156603"/>
                  </a:lnTo>
                  <a:lnTo>
                    <a:pt x="131826" y="153974"/>
                  </a:lnTo>
                  <a:lnTo>
                    <a:pt x="125653" y="153492"/>
                  </a:lnTo>
                  <a:lnTo>
                    <a:pt x="119634" y="155206"/>
                  </a:lnTo>
                  <a:lnTo>
                    <a:pt x="0" y="223024"/>
                  </a:lnTo>
                  <a:lnTo>
                    <a:pt x="31242" y="241769"/>
                  </a:lnTo>
                  <a:lnTo>
                    <a:pt x="118110" y="293890"/>
                  </a:lnTo>
                  <a:lnTo>
                    <a:pt x="124129" y="296062"/>
                  </a:lnTo>
                  <a:lnTo>
                    <a:pt x="130302" y="295795"/>
                  </a:lnTo>
                  <a:lnTo>
                    <a:pt x="135636" y="293370"/>
                  </a:lnTo>
                  <a:lnTo>
                    <a:pt x="135890" y="293255"/>
                  </a:lnTo>
                  <a:lnTo>
                    <a:pt x="140208" y="288556"/>
                  </a:lnTo>
                  <a:lnTo>
                    <a:pt x="142252" y="282536"/>
                  </a:lnTo>
                  <a:lnTo>
                    <a:pt x="141732" y="276364"/>
                  </a:lnTo>
                  <a:lnTo>
                    <a:pt x="138912" y="270776"/>
                  </a:lnTo>
                  <a:lnTo>
                    <a:pt x="134112" y="266458"/>
                  </a:lnTo>
                  <a:lnTo>
                    <a:pt x="90601" y="240499"/>
                  </a:lnTo>
                  <a:lnTo>
                    <a:pt x="158496" y="241312"/>
                  </a:lnTo>
                  <a:lnTo>
                    <a:pt x="159258" y="209308"/>
                  </a:lnTo>
                  <a:close/>
                </a:path>
                <a:path w="7592059" h="2011045">
                  <a:moveTo>
                    <a:pt x="381000" y="212356"/>
                  </a:moveTo>
                  <a:lnTo>
                    <a:pt x="254508" y="210832"/>
                  </a:lnTo>
                  <a:lnTo>
                    <a:pt x="253746" y="242074"/>
                  </a:lnTo>
                  <a:lnTo>
                    <a:pt x="381000" y="244360"/>
                  </a:lnTo>
                  <a:lnTo>
                    <a:pt x="381000" y="212356"/>
                  </a:lnTo>
                  <a:close/>
                </a:path>
                <a:path w="7592059" h="2011045">
                  <a:moveTo>
                    <a:pt x="603504" y="215404"/>
                  </a:moveTo>
                  <a:lnTo>
                    <a:pt x="476250" y="213880"/>
                  </a:lnTo>
                  <a:lnTo>
                    <a:pt x="476250" y="245122"/>
                  </a:lnTo>
                  <a:lnTo>
                    <a:pt x="602742" y="247408"/>
                  </a:lnTo>
                  <a:lnTo>
                    <a:pt x="603504" y="215404"/>
                  </a:lnTo>
                  <a:close/>
                </a:path>
                <a:path w="7592059" h="2011045">
                  <a:moveTo>
                    <a:pt x="915162" y="235216"/>
                  </a:moveTo>
                  <a:lnTo>
                    <a:pt x="851662" y="197116"/>
                  </a:lnTo>
                  <a:lnTo>
                    <a:pt x="851662" y="234962"/>
                  </a:lnTo>
                  <a:lnTo>
                    <a:pt x="825258" y="249847"/>
                  </a:lnTo>
                  <a:lnTo>
                    <a:pt x="825982" y="219430"/>
                  </a:lnTo>
                  <a:lnTo>
                    <a:pt x="851662" y="234962"/>
                  </a:lnTo>
                  <a:lnTo>
                    <a:pt x="851662" y="197116"/>
                  </a:lnTo>
                  <a:lnTo>
                    <a:pt x="797052" y="164350"/>
                  </a:lnTo>
                  <a:lnTo>
                    <a:pt x="791019" y="162293"/>
                  </a:lnTo>
                  <a:lnTo>
                    <a:pt x="784860" y="162737"/>
                  </a:lnTo>
                  <a:lnTo>
                    <a:pt x="779526" y="165201"/>
                  </a:lnTo>
                  <a:lnTo>
                    <a:pt x="779259" y="165315"/>
                  </a:lnTo>
                  <a:lnTo>
                    <a:pt x="774954" y="169684"/>
                  </a:lnTo>
                  <a:lnTo>
                    <a:pt x="772883" y="175717"/>
                  </a:lnTo>
                  <a:lnTo>
                    <a:pt x="773328" y="181876"/>
                  </a:lnTo>
                  <a:lnTo>
                    <a:pt x="775906" y="187477"/>
                  </a:lnTo>
                  <a:lnTo>
                    <a:pt x="780288" y="191782"/>
                  </a:lnTo>
                  <a:lnTo>
                    <a:pt x="824179" y="218338"/>
                  </a:lnTo>
                  <a:lnTo>
                    <a:pt x="825982" y="218452"/>
                  </a:lnTo>
                  <a:lnTo>
                    <a:pt x="824344" y="218440"/>
                  </a:lnTo>
                  <a:lnTo>
                    <a:pt x="698754" y="216928"/>
                  </a:lnTo>
                  <a:lnTo>
                    <a:pt x="697992" y="248170"/>
                  </a:lnTo>
                  <a:lnTo>
                    <a:pt x="824179" y="250444"/>
                  </a:lnTo>
                  <a:lnTo>
                    <a:pt x="824344" y="250444"/>
                  </a:lnTo>
                  <a:lnTo>
                    <a:pt x="825246" y="250456"/>
                  </a:lnTo>
                  <a:lnTo>
                    <a:pt x="779526" y="275602"/>
                  </a:lnTo>
                  <a:lnTo>
                    <a:pt x="771372" y="291033"/>
                  </a:lnTo>
                  <a:lnTo>
                    <a:pt x="773328" y="296672"/>
                  </a:lnTo>
                  <a:lnTo>
                    <a:pt x="773328" y="296837"/>
                  </a:lnTo>
                  <a:lnTo>
                    <a:pt x="777621" y="301752"/>
                  </a:lnTo>
                  <a:lnTo>
                    <a:pt x="783043" y="304558"/>
                  </a:lnTo>
                  <a:lnTo>
                    <a:pt x="789178" y="305092"/>
                  </a:lnTo>
                  <a:lnTo>
                    <a:pt x="795528" y="303034"/>
                  </a:lnTo>
                  <a:lnTo>
                    <a:pt x="825246" y="286194"/>
                  </a:lnTo>
                  <a:lnTo>
                    <a:pt x="875538" y="257683"/>
                  </a:lnTo>
                  <a:lnTo>
                    <a:pt x="915162" y="235216"/>
                  </a:lnTo>
                  <a:close/>
                </a:path>
                <a:path w="7592059" h="2011045">
                  <a:moveTo>
                    <a:pt x="2102358" y="248932"/>
                  </a:moveTo>
                  <a:lnTo>
                    <a:pt x="2101596" y="217690"/>
                  </a:lnTo>
                  <a:lnTo>
                    <a:pt x="2033587" y="218516"/>
                  </a:lnTo>
                  <a:lnTo>
                    <a:pt x="2033016" y="218516"/>
                  </a:lnTo>
                  <a:lnTo>
                    <a:pt x="2077212" y="191782"/>
                  </a:lnTo>
                  <a:lnTo>
                    <a:pt x="2081898" y="187477"/>
                  </a:lnTo>
                  <a:lnTo>
                    <a:pt x="2084451" y="181876"/>
                  </a:lnTo>
                  <a:lnTo>
                    <a:pt x="2084705" y="175717"/>
                  </a:lnTo>
                  <a:lnTo>
                    <a:pt x="2082546" y="169684"/>
                  </a:lnTo>
                  <a:lnTo>
                    <a:pt x="2078672" y="164998"/>
                  </a:lnTo>
                  <a:lnTo>
                    <a:pt x="2073300" y="162445"/>
                  </a:lnTo>
                  <a:lnTo>
                    <a:pt x="2069401" y="162280"/>
                  </a:lnTo>
                  <a:lnTo>
                    <a:pt x="2067217" y="162191"/>
                  </a:lnTo>
                  <a:lnTo>
                    <a:pt x="2061210" y="164350"/>
                  </a:lnTo>
                  <a:lnTo>
                    <a:pt x="1943100" y="235216"/>
                  </a:lnTo>
                  <a:lnTo>
                    <a:pt x="1974342" y="252818"/>
                  </a:lnTo>
                  <a:lnTo>
                    <a:pt x="2063496" y="303034"/>
                  </a:lnTo>
                  <a:lnTo>
                    <a:pt x="2069401" y="305092"/>
                  </a:lnTo>
                  <a:lnTo>
                    <a:pt x="2075307" y="304558"/>
                  </a:lnTo>
                  <a:lnTo>
                    <a:pt x="2080641" y="301752"/>
                  </a:lnTo>
                  <a:lnTo>
                    <a:pt x="2084705" y="297078"/>
                  </a:lnTo>
                  <a:lnTo>
                    <a:pt x="2084705" y="297294"/>
                  </a:lnTo>
                  <a:lnTo>
                    <a:pt x="2086876" y="290931"/>
                  </a:lnTo>
                  <a:lnTo>
                    <a:pt x="2086356" y="284848"/>
                  </a:lnTo>
                  <a:lnTo>
                    <a:pt x="2083536" y="279476"/>
                  </a:lnTo>
                  <a:lnTo>
                    <a:pt x="2078672" y="275577"/>
                  </a:lnTo>
                  <a:lnTo>
                    <a:pt x="2033587" y="250177"/>
                  </a:lnTo>
                  <a:lnTo>
                    <a:pt x="2101596" y="248958"/>
                  </a:lnTo>
                  <a:lnTo>
                    <a:pt x="2102358" y="248932"/>
                  </a:lnTo>
                  <a:close/>
                </a:path>
                <a:path w="7592059" h="2011045">
                  <a:moveTo>
                    <a:pt x="2324100" y="213880"/>
                  </a:moveTo>
                  <a:lnTo>
                    <a:pt x="2197608" y="216154"/>
                  </a:lnTo>
                  <a:lnTo>
                    <a:pt x="2196846" y="216166"/>
                  </a:lnTo>
                  <a:lnTo>
                    <a:pt x="2197608" y="247408"/>
                  </a:lnTo>
                  <a:lnTo>
                    <a:pt x="2324100" y="245884"/>
                  </a:lnTo>
                  <a:lnTo>
                    <a:pt x="2324100" y="213880"/>
                  </a:lnTo>
                  <a:close/>
                </a:path>
                <a:path w="7592059" h="2011045">
                  <a:moveTo>
                    <a:pt x="2546604" y="242836"/>
                  </a:moveTo>
                  <a:lnTo>
                    <a:pt x="2545842" y="210832"/>
                  </a:lnTo>
                  <a:lnTo>
                    <a:pt x="2419350" y="212356"/>
                  </a:lnTo>
                  <a:lnTo>
                    <a:pt x="2419350" y="244360"/>
                  </a:lnTo>
                  <a:lnTo>
                    <a:pt x="2545842" y="242849"/>
                  </a:lnTo>
                  <a:lnTo>
                    <a:pt x="2546604" y="242836"/>
                  </a:lnTo>
                  <a:close/>
                </a:path>
                <a:path w="7592059" h="2011045">
                  <a:moveTo>
                    <a:pt x="2794254" y="223024"/>
                  </a:moveTo>
                  <a:lnTo>
                    <a:pt x="2674620" y="155968"/>
                  </a:lnTo>
                  <a:lnTo>
                    <a:pt x="2668714" y="153809"/>
                  </a:lnTo>
                  <a:lnTo>
                    <a:pt x="2664714" y="153987"/>
                  </a:lnTo>
                  <a:lnTo>
                    <a:pt x="2662809" y="154063"/>
                  </a:lnTo>
                  <a:lnTo>
                    <a:pt x="2657475" y="156616"/>
                  </a:lnTo>
                  <a:lnTo>
                    <a:pt x="2653182" y="161417"/>
                  </a:lnTo>
                  <a:lnTo>
                    <a:pt x="2653182" y="161594"/>
                  </a:lnTo>
                  <a:lnTo>
                    <a:pt x="2651226" y="167335"/>
                  </a:lnTo>
                  <a:lnTo>
                    <a:pt x="2651760" y="173494"/>
                  </a:lnTo>
                  <a:lnTo>
                    <a:pt x="2654566" y="179095"/>
                  </a:lnTo>
                  <a:lnTo>
                    <a:pt x="2659380" y="183400"/>
                  </a:lnTo>
                  <a:lnTo>
                    <a:pt x="2703957" y="208534"/>
                  </a:lnTo>
                  <a:lnTo>
                    <a:pt x="2676906" y="208864"/>
                  </a:lnTo>
                  <a:lnTo>
                    <a:pt x="2668714" y="208965"/>
                  </a:lnTo>
                  <a:lnTo>
                    <a:pt x="2660142" y="209080"/>
                  </a:lnTo>
                  <a:lnTo>
                    <a:pt x="2651226" y="209194"/>
                  </a:lnTo>
                  <a:lnTo>
                    <a:pt x="2641092" y="209308"/>
                  </a:lnTo>
                  <a:lnTo>
                    <a:pt x="2641854" y="241312"/>
                  </a:lnTo>
                  <a:lnTo>
                    <a:pt x="2703957" y="240538"/>
                  </a:lnTo>
                  <a:lnTo>
                    <a:pt x="2704274" y="240538"/>
                  </a:lnTo>
                  <a:lnTo>
                    <a:pt x="2660142" y="267220"/>
                  </a:lnTo>
                  <a:lnTo>
                    <a:pt x="2655760" y="271411"/>
                  </a:lnTo>
                  <a:lnTo>
                    <a:pt x="2653182" y="276745"/>
                  </a:lnTo>
                  <a:lnTo>
                    <a:pt x="2652738" y="282651"/>
                  </a:lnTo>
                  <a:lnTo>
                    <a:pt x="2654808" y="288556"/>
                  </a:lnTo>
                  <a:lnTo>
                    <a:pt x="2659113" y="293255"/>
                  </a:lnTo>
                  <a:lnTo>
                    <a:pt x="2664714" y="295795"/>
                  </a:lnTo>
                  <a:lnTo>
                    <a:pt x="2668714" y="295973"/>
                  </a:lnTo>
                  <a:lnTo>
                    <a:pt x="2670873" y="296062"/>
                  </a:lnTo>
                  <a:lnTo>
                    <a:pt x="2676906" y="293890"/>
                  </a:lnTo>
                  <a:lnTo>
                    <a:pt x="2763012" y="241896"/>
                  </a:lnTo>
                  <a:lnTo>
                    <a:pt x="2794254" y="223024"/>
                  </a:lnTo>
                  <a:close/>
                </a:path>
                <a:path w="7592059" h="2011045">
                  <a:moveTo>
                    <a:pt x="3185922" y="1003312"/>
                  </a:moveTo>
                  <a:lnTo>
                    <a:pt x="3153918" y="1003312"/>
                  </a:lnTo>
                  <a:lnTo>
                    <a:pt x="3153918" y="1130566"/>
                  </a:lnTo>
                  <a:lnTo>
                    <a:pt x="3185922" y="1130566"/>
                  </a:lnTo>
                  <a:lnTo>
                    <a:pt x="3185922" y="1003312"/>
                  </a:lnTo>
                  <a:close/>
                </a:path>
                <a:path w="7592059" h="2011045">
                  <a:moveTo>
                    <a:pt x="3240976" y="874471"/>
                  </a:moveTo>
                  <a:lnTo>
                    <a:pt x="3239262" y="868438"/>
                  </a:lnTo>
                  <a:lnTo>
                    <a:pt x="3169920" y="749566"/>
                  </a:lnTo>
                  <a:lnTo>
                    <a:pt x="3100578" y="868438"/>
                  </a:lnTo>
                  <a:lnTo>
                    <a:pt x="3098406" y="874471"/>
                  </a:lnTo>
                  <a:lnTo>
                    <a:pt x="3098673" y="880630"/>
                  </a:lnTo>
                  <a:lnTo>
                    <a:pt x="3101213" y="886231"/>
                  </a:lnTo>
                  <a:lnTo>
                    <a:pt x="3105912" y="890536"/>
                  </a:lnTo>
                  <a:lnTo>
                    <a:pt x="3111931" y="892263"/>
                  </a:lnTo>
                  <a:lnTo>
                    <a:pt x="3118104" y="891781"/>
                  </a:lnTo>
                  <a:lnTo>
                    <a:pt x="3123692" y="889152"/>
                  </a:lnTo>
                  <a:lnTo>
                    <a:pt x="3128010" y="884440"/>
                  </a:lnTo>
                  <a:lnTo>
                    <a:pt x="3153918" y="840079"/>
                  </a:lnTo>
                  <a:lnTo>
                    <a:pt x="3153918" y="908062"/>
                  </a:lnTo>
                  <a:lnTo>
                    <a:pt x="3185922" y="908062"/>
                  </a:lnTo>
                  <a:lnTo>
                    <a:pt x="3185922" y="840079"/>
                  </a:lnTo>
                  <a:lnTo>
                    <a:pt x="3211830" y="884440"/>
                  </a:lnTo>
                  <a:lnTo>
                    <a:pt x="3215640" y="892060"/>
                  </a:lnTo>
                  <a:lnTo>
                    <a:pt x="3225546" y="894346"/>
                  </a:lnTo>
                  <a:lnTo>
                    <a:pt x="3233166" y="890536"/>
                  </a:lnTo>
                  <a:lnTo>
                    <a:pt x="3237865" y="886231"/>
                  </a:lnTo>
                  <a:lnTo>
                    <a:pt x="3240494" y="880643"/>
                  </a:lnTo>
                  <a:lnTo>
                    <a:pt x="3240976" y="874471"/>
                  </a:lnTo>
                  <a:close/>
                </a:path>
                <a:path w="7592059" h="2011045">
                  <a:moveTo>
                    <a:pt x="3243072" y="1121422"/>
                  </a:moveTo>
                  <a:lnTo>
                    <a:pt x="3240786" y="1111516"/>
                  </a:lnTo>
                  <a:lnTo>
                    <a:pt x="3233166" y="1107706"/>
                  </a:lnTo>
                  <a:lnTo>
                    <a:pt x="3227146" y="1105547"/>
                  </a:lnTo>
                  <a:lnTo>
                    <a:pt x="3221063" y="1105801"/>
                  </a:lnTo>
                  <a:lnTo>
                    <a:pt x="3215690" y="1108354"/>
                  </a:lnTo>
                  <a:lnTo>
                    <a:pt x="3211830" y="1113040"/>
                  </a:lnTo>
                  <a:lnTo>
                    <a:pt x="3169920" y="1184808"/>
                  </a:lnTo>
                  <a:lnTo>
                    <a:pt x="3128010" y="1113040"/>
                  </a:lnTo>
                  <a:lnTo>
                    <a:pt x="3123692" y="1108354"/>
                  </a:lnTo>
                  <a:lnTo>
                    <a:pt x="3118104" y="1105801"/>
                  </a:lnTo>
                  <a:lnTo>
                    <a:pt x="3111931" y="1105547"/>
                  </a:lnTo>
                  <a:lnTo>
                    <a:pt x="3105912" y="1107706"/>
                  </a:lnTo>
                  <a:lnTo>
                    <a:pt x="3101213" y="1111580"/>
                  </a:lnTo>
                  <a:lnTo>
                    <a:pt x="3098660" y="1116952"/>
                  </a:lnTo>
                  <a:lnTo>
                    <a:pt x="3098406" y="1123035"/>
                  </a:lnTo>
                  <a:lnTo>
                    <a:pt x="3100578" y="1129042"/>
                  </a:lnTo>
                  <a:lnTo>
                    <a:pt x="3156204" y="1224407"/>
                  </a:lnTo>
                  <a:lnTo>
                    <a:pt x="3169920" y="1247914"/>
                  </a:lnTo>
                  <a:lnTo>
                    <a:pt x="3183636" y="1224407"/>
                  </a:lnTo>
                  <a:lnTo>
                    <a:pt x="3239262" y="1129042"/>
                  </a:lnTo>
                  <a:lnTo>
                    <a:pt x="3243072" y="1121422"/>
                  </a:lnTo>
                  <a:close/>
                </a:path>
                <a:path w="7592059" h="2011045">
                  <a:moveTo>
                    <a:pt x="4019550" y="1923046"/>
                  </a:moveTo>
                  <a:lnTo>
                    <a:pt x="3951554" y="1923046"/>
                  </a:lnTo>
                  <a:lnTo>
                    <a:pt x="3995928" y="1897138"/>
                  </a:lnTo>
                  <a:lnTo>
                    <a:pt x="4000614" y="1892960"/>
                  </a:lnTo>
                  <a:lnTo>
                    <a:pt x="4003167" y="1887626"/>
                  </a:lnTo>
                  <a:lnTo>
                    <a:pt x="4003421" y="1881720"/>
                  </a:lnTo>
                  <a:lnTo>
                    <a:pt x="4001262" y="1875802"/>
                  </a:lnTo>
                  <a:lnTo>
                    <a:pt x="3997071" y="1871002"/>
                  </a:lnTo>
                  <a:lnTo>
                    <a:pt x="3991737" y="1868182"/>
                  </a:lnTo>
                  <a:lnTo>
                    <a:pt x="3985831" y="1867662"/>
                  </a:lnTo>
                  <a:lnTo>
                    <a:pt x="3979926" y="1869706"/>
                  </a:lnTo>
                  <a:lnTo>
                    <a:pt x="3861054" y="1939048"/>
                  </a:lnTo>
                  <a:lnTo>
                    <a:pt x="3892296" y="1957273"/>
                  </a:lnTo>
                  <a:lnTo>
                    <a:pt x="3979926" y="2008390"/>
                  </a:lnTo>
                  <a:lnTo>
                    <a:pt x="3985831" y="2010448"/>
                  </a:lnTo>
                  <a:lnTo>
                    <a:pt x="3991737" y="2009914"/>
                  </a:lnTo>
                  <a:lnTo>
                    <a:pt x="3997071" y="2007108"/>
                  </a:lnTo>
                  <a:lnTo>
                    <a:pt x="4001262" y="2002294"/>
                  </a:lnTo>
                  <a:lnTo>
                    <a:pt x="4003421" y="1996719"/>
                  </a:lnTo>
                  <a:lnTo>
                    <a:pt x="4003167" y="1990775"/>
                  </a:lnTo>
                  <a:lnTo>
                    <a:pt x="4000614" y="1985264"/>
                  </a:lnTo>
                  <a:lnTo>
                    <a:pt x="3995928" y="1980958"/>
                  </a:lnTo>
                  <a:lnTo>
                    <a:pt x="3951554" y="1955050"/>
                  </a:lnTo>
                  <a:lnTo>
                    <a:pt x="4019550" y="1955050"/>
                  </a:lnTo>
                  <a:lnTo>
                    <a:pt x="4019550" y="1923046"/>
                  </a:lnTo>
                  <a:close/>
                </a:path>
                <a:path w="7592059" h="2011045">
                  <a:moveTo>
                    <a:pt x="4242054" y="1923046"/>
                  </a:moveTo>
                  <a:lnTo>
                    <a:pt x="4114800" y="1923046"/>
                  </a:lnTo>
                  <a:lnTo>
                    <a:pt x="4114800" y="1955050"/>
                  </a:lnTo>
                  <a:lnTo>
                    <a:pt x="4242054" y="1955050"/>
                  </a:lnTo>
                  <a:lnTo>
                    <a:pt x="4242054" y="1923046"/>
                  </a:lnTo>
                  <a:close/>
                </a:path>
                <a:path w="7592059" h="2011045">
                  <a:moveTo>
                    <a:pt x="4532376" y="1939048"/>
                  </a:moveTo>
                  <a:lnTo>
                    <a:pt x="4469257" y="1902231"/>
                  </a:lnTo>
                  <a:lnTo>
                    <a:pt x="4469257" y="1939048"/>
                  </a:lnTo>
                  <a:lnTo>
                    <a:pt x="4463783" y="1942249"/>
                  </a:lnTo>
                  <a:lnTo>
                    <a:pt x="4463783" y="1935861"/>
                  </a:lnTo>
                  <a:lnTo>
                    <a:pt x="4469257" y="1939048"/>
                  </a:lnTo>
                  <a:lnTo>
                    <a:pt x="4469257" y="1902231"/>
                  </a:lnTo>
                  <a:lnTo>
                    <a:pt x="4413504" y="1869706"/>
                  </a:lnTo>
                  <a:lnTo>
                    <a:pt x="4407471" y="1867662"/>
                  </a:lnTo>
                  <a:lnTo>
                    <a:pt x="4401299" y="1868195"/>
                  </a:lnTo>
                  <a:lnTo>
                    <a:pt x="4395711" y="1871002"/>
                  </a:lnTo>
                  <a:lnTo>
                    <a:pt x="4391406" y="1875802"/>
                  </a:lnTo>
                  <a:lnTo>
                    <a:pt x="4387596" y="1883422"/>
                  </a:lnTo>
                  <a:lnTo>
                    <a:pt x="4389882" y="1892566"/>
                  </a:lnTo>
                  <a:lnTo>
                    <a:pt x="4397502" y="1897138"/>
                  </a:lnTo>
                  <a:lnTo>
                    <a:pt x="4441863" y="1923046"/>
                  </a:lnTo>
                  <a:lnTo>
                    <a:pt x="4337304" y="1923046"/>
                  </a:lnTo>
                  <a:lnTo>
                    <a:pt x="4337304" y="1955050"/>
                  </a:lnTo>
                  <a:lnTo>
                    <a:pt x="4441863" y="1955050"/>
                  </a:lnTo>
                  <a:lnTo>
                    <a:pt x="4397502" y="1980958"/>
                  </a:lnTo>
                  <a:lnTo>
                    <a:pt x="4389882" y="1985530"/>
                  </a:lnTo>
                  <a:lnTo>
                    <a:pt x="4387596" y="1995436"/>
                  </a:lnTo>
                  <a:lnTo>
                    <a:pt x="4391406" y="2002294"/>
                  </a:lnTo>
                  <a:lnTo>
                    <a:pt x="4395711" y="2007108"/>
                  </a:lnTo>
                  <a:lnTo>
                    <a:pt x="4401299" y="2009914"/>
                  </a:lnTo>
                  <a:lnTo>
                    <a:pt x="4407471" y="2010448"/>
                  </a:lnTo>
                  <a:lnTo>
                    <a:pt x="4413504" y="2008390"/>
                  </a:lnTo>
                  <a:lnTo>
                    <a:pt x="4463783" y="1979053"/>
                  </a:lnTo>
                  <a:lnTo>
                    <a:pt x="4492752" y="1962162"/>
                  </a:lnTo>
                  <a:lnTo>
                    <a:pt x="4532376" y="1939048"/>
                  </a:lnTo>
                  <a:close/>
                </a:path>
                <a:path w="7592059" h="2011045">
                  <a:moveTo>
                    <a:pt x="5375910" y="1923046"/>
                  </a:moveTo>
                  <a:lnTo>
                    <a:pt x="5307914" y="1923046"/>
                  </a:lnTo>
                  <a:lnTo>
                    <a:pt x="5352288" y="1897138"/>
                  </a:lnTo>
                  <a:lnTo>
                    <a:pt x="5357088" y="1892947"/>
                  </a:lnTo>
                  <a:lnTo>
                    <a:pt x="5359908" y="1887613"/>
                  </a:lnTo>
                  <a:lnTo>
                    <a:pt x="5360428" y="1881708"/>
                  </a:lnTo>
                  <a:lnTo>
                    <a:pt x="5358384" y="1875802"/>
                  </a:lnTo>
                  <a:lnTo>
                    <a:pt x="5354066" y="1871002"/>
                  </a:lnTo>
                  <a:lnTo>
                    <a:pt x="5348478" y="1868182"/>
                  </a:lnTo>
                  <a:lnTo>
                    <a:pt x="5342306" y="1867662"/>
                  </a:lnTo>
                  <a:lnTo>
                    <a:pt x="5336286" y="1869706"/>
                  </a:lnTo>
                  <a:lnTo>
                    <a:pt x="5217414" y="1939048"/>
                  </a:lnTo>
                  <a:lnTo>
                    <a:pt x="5249418" y="1957717"/>
                  </a:lnTo>
                  <a:lnTo>
                    <a:pt x="5336286" y="2008390"/>
                  </a:lnTo>
                  <a:lnTo>
                    <a:pt x="5342306" y="2010448"/>
                  </a:lnTo>
                  <a:lnTo>
                    <a:pt x="5348478" y="2009914"/>
                  </a:lnTo>
                  <a:lnTo>
                    <a:pt x="5354066" y="2007108"/>
                  </a:lnTo>
                  <a:lnTo>
                    <a:pt x="5358384" y="2002294"/>
                  </a:lnTo>
                  <a:lnTo>
                    <a:pt x="5360428" y="1996719"/>
                  </a:lnTo>
                  <a:lnTo>
                    <a:pt x="5359908" y="1990775"/>
                  </a:lnTo>
                  <a:lnTo>
                    <a:pt x="5357088" y="1985264"/>
                  </a:lnTo>
                  <a:lnTo>
                    <a:pt x="5352288" y="1980958"/>
                  </a:lnTo>
                  <a:lnTo>
                    <a:pt x="5307914" y="1955050"/>
                  </a:lnTo>
                  <a:lnTo>
                    <a:pt x="5375910" y="1955050"/>
                  </a:lnTo>
                  <a:lnTo>
                    <a:pt x="5375910" y="1923046"/>
                  </a:lnTo>
                  <a:close/>
                </a:path>
                <a:path w="7592059" h="2011045">
                  <a:moveTo>
                    <a:pt x="5598401" y="1923046"/>
                  </a:moveTo>
                  <a:lnTo>
                    <a:pt x="5471160" y="1923046"/>
                  </a:lnTo>
                  <a:lnTo>
                    <a:pt x="5471160" y="1955050"/>
                  </a:lnTo>
                  <a:lnTo>
                    <a:pt x="5598401" y="1955050"/>
                  </a:lnTo>
                  <a:lnTo>
                    <a:pt x="5598401" y="1923046"/>
                  </a:lnTo>
                  <a:close/>
                </a:path>
                <a:path w="7592059" h="2011045">
                  <a:moveTo>
                    <a:pt x="5820918" y="1923046"/>
                  </a:moveTo>
                  <a:lnTo>
                    <a:pt x="5693664" y="1923046"/>
                  </a:lnTo>
                  <a:lnTo>
                    <a:pt x="5693664" y="1955050"/>
                  </a:lnTo>
                  <a:lnTo>
                    <a:pt x="5820918" y="1955050"/>
                  </a:lnTo>
                  <a:lnTo>
                    <a:pt x="5820918" y="1923046"/>
                  </a:lnTo>
                  <a:close/>
                </a:path>
                <a:path w="7592059" h="2011045">
                  <a:moveTo>
                    <a:pt x="6042660" y="1923046"/>
                  </a:moveTo>
                  <a:lnTo>
                    <a:pt x="5916168" y="1923046"/>
                  </a:lnTo>
                  <a:lnTo>
                    <a:pt x="5916168" y="1955050"/>
                  </a:lnTo>
                  <a:lnTo>
                    <a:pt x="6042660" y="1955050"/>
                  </a:lnTo>
                  <a:lnTo>
                    <a:pt x="6042660" y="1923046"/>
                  </a:lnTo>
                  <a:close/>
                </a:path>
                <a:path w="7592059" h="2011045">
                  <a:moveTo>
                    <a:pt x="6265151" y="1923046"/>
                  </a:moveTo>
                  <a:lnTo>
                    <a:pt x="6137910" y="1923046"/>
                  </a:lnTo>
                  <a:lnTo>
                    <a:pt x="6137910" y="1955050"/>
                  </a:lnTo>
                  <a:lnTo>
                    <a:pt x="6265151" y="1955050"/>
                  </a:lnTo>
                  <a:lnTo>
                    <a:pt x="6265151" y="1923046"/>
                  </a:lnTo>
                  <a:close/>
                </a:path>
                <a:path w="7592059" h="2011045">
                  <a:moveTo>
                    <a:pt x="6282448" y="140817"/>
                  </a:moveTo>
                  <a:lnTo>
                    <a:pt x="6281928" y="134734"/>
                  </a:lnTo>
                  <a:lnTo>
                    <a:pt x="6279108" y="129362"/>
                  </a:lnTo>
                  <a:lnTo>
                    <a:pt x="6274308" y="125488"/>
                  </a:lnTo>
                  <a:lnTo>
                    <a:pt x="6202159" y="84848"/>
                  </a:lnTo>
                  <a:lnTo>
                    <a:pt x="6273546" y="41668"/>
                  </a:lnTo>
                  <a:lnTo>
                    <a:pt x="6277915" y="37363"/>
                  </a:lnTo>
                  <a:lnTo>
                    <a:pt x="6280404" y="31978"/>
                  </a:lnTo>
                  <a:lnTo>
                    <a:pt x="6280404" y="33096"/>
                  </a:lnTo>
                  <a:lnTo>
                    <a:pt x="6262802" y="12077"/>
                  </a:lnTo>
                  <a:lnTo>
                    <a:pt x="6256782" y="14236"/>
                  </a:lnTo>
                  <a:lnTo>
                    <a:pt x="6199987" y="48907"/>
                  </a:lnTo>
                  <a:lnTo>
                    <a:pt x="6199987" y="83616"/>
                  </a:lnTo>
                  <a:lnTo>
                    <a:pt x="6178296" y="71386"/>
                  </a:lnTo>
                  <a:lnTo>
                    <a:pt x="6199987" y="83616"/>
                  </a:lnTo>
                  <a:lnTo>
                    <a:pt x="6199987" y="48907"/>
                  </a:lnTo>
                  <a:lnTo>
                    <a:pt x="6139434" y="85864"/>
                  </a:lnTo>
                  <a:lnTo>
                    <a:pt x="6170676" y="103378"/>
                  </a:lnTo>
                  <a:lnTo>
                    <a:pt x="6200394" y="120040"/>
                  </a:lnTo>
                  <a:lnTo>
                    <a:pt x="6259068" y="152920"/>
                  </a:lnTo>
                  <a:lnTo>
                    <a:pt x="6265075" y="154978"/>
                  </a:lnTo>
                  <a:lnTo>
                    <a:pt x="6271158" y="154444"/>
                  </a:lnTo>
                  <a:lnTo>
                    <a:pt x="6276530" y="151638"/>
                  </a:lnTo>
                  <a:lnTo>
                    <a:pt x="6280404" y="146824"/>
                  </a:lnTo>
                  <a:lnTo>
                    <a:pt x="6282448" y="140817"/>
                  </a:lnTo>
                  <a:close/>
                </a:path>
                <a:path w="7592059" h="2011045">
                  <a:moveTo>
                    <a:pt x="6422136" y="65290"/>
                  </a:moveTo>
                  <a:lnTo>
                    <a:pt x="6295644" y="66814"/>
                  </a:lnTo>
                  <a:lnTo>
                    <a:pt x="6294882" y="66814"/>
                  </a:lnTo>
                  <a:lnTo>
                    <a:pt x="6295644" y="98818"/>
                  </a:lnTo>
                  <a:lnTo>
                    <a:pt x="6422136" y="96532"/>
                  </a:lnTo>
                  <a:lnTo>
                    <a:pt x="6422136" y="65290"/>
                  </a:lnTo>
                  <a:close/>
                </a:path>
                <a:path w="7592059" h="2011045">
                  <a:moveTo>
                    <a:pt x="6487668" y="1923046"/>
                  </a:moveTo>
                  <a:lnTo>
                    <a:pt x="6360414" y="1923046"/>
                  </a:lnTo>
                  <a:lnTo>
                    <a:pt x="6360414" y="1955050"/>
                  </a:lnTo>
                  <a:lnTo>
                    <a:pt x="6487668" y="1955050"/>
                  </a:lnTo>
                  <a:lnTo>
                    <a:pt x="6487668" y="1923046"/>
                  </a:lnTo>
                  <a:close/>
                </a:path>
                <a:path w="7592059" h="2011045">
                  <a:moveTo>
                    <a:pt x="6644640" y="93484"/>
                  </a:moveTo>
                  <a:lnTo>
                    <a:pt x="6643878" y="61480"/>
                  </a:lnTo>
                  <a:lnTo>
                    <a:pt x="6517386" y="63766"/>
                  </a:lnTo>
                  <a:lnTo>
                    <a:pt x="6517386" y="95008"/>
                  </a:lnTo>
                  <a:lnTo>
                    <a:pt x="6643878" y="93497"/>
                  </a:lnTo>
                  <a:lnTo>
                    <a:pt x="6644640" y="93484"/>
                  </a:lnTo>
                  <a:close/>
                </a:path>
                <a:path w="7592059" h="2011045">
                  <a:moveTo>
                    <a:pt x="6709410" y="1923046"/>
                  </a:moveTo>
                  <a:lnTo>
                    <a:pt x="6582918" y="1923046"/>
                  </a:lnTo>
                  <a:lnTo>
                    <a:pt x="6582918" y="1955050"/>
                  </a:lnTo>
                  <a:lnTo>
                    <a:pt x="6709410" y="1955050"/>
                  </a:lnTo>
                  <a:lnTo>
                    <a:pt x="6709410" y="1923046"/>
                  </a:lnTo>
                  <a:close/>
                </a:path>
                <a:path w="7592059" h="2011045">
                  <a:moveTo>
                    <a:pt x="6867144" y="89674"/>
                  </a:moveTo>
                  <a:lnTo>
                    <a:pt x="6866382" y="57670"/>
                  </a:lnTo>
                  <a:lnTo>
                    <a:pt x="6739890" y="59944"/>
                  </a:lnTo>
                  <a:lnTo>
                    <a:pt x="6739128" y="59956"/>
                  </a:lnTo>
                  <a:lnTo>
                    <a:pt x="6739890" y="91198"/>
                  </a:lnTo>
                  <a:lnTo>
                    <a:pt x="6866382" y="89687"/>
                  </a:lnTo>
                  <a:lnTo>
                    <a:pt x="6867144" y="89674"/>
                  </a:lnTo>
                  <a:close/>
                </a:path>
                <a:path w="7592059" h="2011045">
                  <a:moveTo>
                    <a:pt x="6963918" y="1939048"/>
                  </a:moveTo>
                  <a:lnTo>
                    <a:pt x="6845046" y="1869706"/>
                  </a:lnTo>
                  <a:lnTo>
                    <a:pt x="6839140" y="1867662"/>
                  </a:lnTo>
                  <a:lnTo>
                    <a:pt x="6833235" y="1868182"/>
                  </a:lnTo>
                  <a:lnTo>
                    <a:pt x="6827888" y="1871002"/>
                  </a:lnTo>
                  <a:lnTo>
                    <a:pt x="6823710" y="1875802"/>
                  </a:lnTo>
                  <a:lnTo>
                    <a:pt x="6821538" y="1881720"/>
                  </a:lnTo>
                  <a:lnTo>
                    <a:pt x="6821805" y="1887613"/>
                  </a:lnTo>
                  <a:lnTo>
                    <a:pt x="6824345" y="1892947"/>
                  </a:lnTo>
                  <a:lnTo>
                    <a:pt x="6829044" y="1897138"/>
                  </a:lnTo>
                  <a:lnTo>
                    <a:pt x="6873405" y="1923046"/>
                  </a:lnTo>
                  <a:lnTo>
                    <a:pt x="6804660" y="1923046"/>
                  </a:lnTo>
                  <a:lnTo>
                    <a:pt x="6804660" y="1955050"/>
                  </a:lnTo>
                  <a:lnTo>
                    <a:pt x="6873405" y="1955050"/>
                  </a:lnTo>
                  <a:lnTo>
                    <a:pt x="6829044" y="1980958"/>
                  </a:lnTo>
                  <a:lnTo>
                    <a:pt x="6824345" y="1985264"/>
                  </a:lnTo>
                  <a:lnTo>
                    <a:pt x="6821805" y="1990775"/>
                  </a:lnTo>
                  <a:lnTo>
                    <a:pt x="6821538" y="1996719"/>
                  </a:lnTo>
                  <a:lnTo>
                    <a:pt x="6823710" y="2002294"/>
                  </a:lnTo>
                  <a:lnTo>
                    <a:pt x="6827888" y="2007108"/>
                  </a:lnTo>
                  <a:lnTo>
                    <a:pt x="6833235" y="2009914"/>
                  </a:lnTo>
                  <a:lnTo>
                    <a:pt x="6839140" y="2010448"/>
                  </a:lnTo>
                  <a:lnTo>
                    <a:pt x="6845046" y="2008390"/>
                  </a:lnTo>
                  <a:lnTo>
                    <a:pt x="6931901" y="1957717"/>
                  </a:lnTo>
                  <a:lnTo>
                    <a:pt x="6963918" y="1939048"/>
                  </a:lnTo>
                  <a:close/>
                </a:path>
                <a:path w="7592059" h="2011045">
                  <a:moveTo>
                    <a:pt x="7120128" y="69100"/>
                  </a:moveTo>
                  <a:lnTo>
                    <a:pt x="7000494" y="2044"/>
                  </a:lnTo>
                  <a:lnTo>
                    <a:pt x="6994461" y="0"/>
                  </a:lnTo>
                  <a:lnTo>
                    <a:pt x="6988302" y="520"/>
                  </a:lnTo>
                  <a:lnTo>
                    <a:pt x="6982701" y="3340"/>
                  </a:lnTo>
                  <a:lnTo>
                    <a:pt x="6978396" y="8140"/>
                  </a:lnTo>
                  <a:lnTo>
                    <a:pt x="6974586" y="15760"/>
                  </a:lnTo>
                  <a:lnTo>
                    <a:pt x="6976872" y="25666"/>
                  </a:lnTo>
                  <a:lnTo>
                    <a:pt x="6984492" y="29476"/>
                  </a:lnTo>
                  <a:lnTo>
                    <a:pt x="7029983" y="54914"/>
                  </a:lnTo>
                  <a:lnTo>
                    <a:pt x="6962394" y="56134"/>
                  </a:lnTo>
                  <a:lnTo>
                    <a:pt x="6961632" y="56146"/>
                  </a:lnTo>
                  <a:lnTo>
                    <a:pt x="6962394" y="88150"/>
                  </a:lnTo>
                  <a:lnTo>
                    <a:pt x="7029590" y="86944"/>
                  </a:lnTo>
                  <a:lnTo>
                    <a:pt x="6986016" y="113296"/>
                  </a:lnTo>
                  <a:lnTo>
                    <a:pt x="6981317" y="117614"/>
                  </a:lnTo>
                  <a:lnTo>
                    <a:pt x="6978777" y="123202"/>
                  </a:lnTo>
                  <a:lnTo>
                    <a:pt x="6978510" y="129387"/>
                  </a:lnTo>
                  <a:lnTo>
                    <a:pt x="6980682" y="135394"/>
                  </a:lnTo>
                  <a:lnTo>
                    <a:pt x="6984987" y="140093"/>
                  </a:lnTo>
                  <a:lnTo>
                    <a:pt x="6990588" y="142633"/>
                  </a:lnTo>
                  <a:lnTo>
                    <a:pt x="6994461" y="142798"/>
                  </a:lnTo>
                  <a:lnTo>
                    <a:pt x="6996747" y="142900"/>
                  </a:lnTo>
                  <a:lnTo>
                    <a:pt x="7002780" y="140728"/>
                  </a:lnTo>
                  <a:lnTo>
                    <a:pt x="7088886" y="88176"/>
                  </a:lnTo>
                  <a:lnTo>
                    <a:pt x="7120128" y="69100"/>
                  </a:lnTo>
                  <a:close/>
                </a:path>
                <a:path w="7592059" h="2011045">
                  <a:moveTo>
                    <a:pt x="7536180" y="1001788"/>
                  </a:moveTo>
                  <a:lnTo>
                    <a:pt x="7504176" y="1001788"/>
                  </a:lnTo>
                  <a:lnTo>
                    <a:pt x="7504176" y="1129042"/>
                  </a:lnTo>
                  <a:lnTo>
                    <a:pt x="7536180" y="1129042"/>
                  </a:lnTo>
                  <a:lnTo>
                    <a:pt x="7536180" y="1001788"/>
                  </a:lnTo>
                  <a:close/>
                </a:path>
                <a:path w="7592059" h="2011045">
                  <a:moveTo>
                    <a:pt x="7536180" y="780046"/>
                  </a:moveTo>
                  <a:lnTo>
                    <a:pt x="7504176" y="780046"/>
                  </a:lnTo>
                  <a:lnTo>
                    <a:pt x="7504176" y="906538"/>
                  </a:lnTo>
                  <a:lnTo>
                    <a:pt x="7536180" y="906538"/>
                  </a:lnTo>
                  <a:lnTo>
                    <a:pt x="7536180" y="780046"/>
                  </a:lnTo>
                  <a:close/>
                </a:path>
                <a:path w="7592059" h="2011045">
                  <a:moveTo>
                    <a:pt x="7591565" y="1258011"/>
                  </a:moveTo>
                  <a:lnTo>
                    <a:pt x="7591044" y="1252105"/>
                  </a:lnTo>
                  <a:lnTo>
                    <a:pt x="7588224" y="1246771"/>
                  </a:lnTo>
                  <a:lnTo>
                    <a:pt x="7583424" y="1242580"/>
                  </a:lnTo>
                  <a:lnTo>
                    <a:pt x="7577836" y="1240421"/>
                  </a:lnTo>
                  <a:lnTo>
                    <a:pt x="7571892" y="1240675"/>
                  </a:lnTo>
                  <a:lnTo>
                    <a:pt x="7566380" y="1243228"/>
                  </a:lnTo>
                  <a:lnTo>
                    <a:pt x="7562088" y="1247914"/>
                  </a:lnTo>
                  <a:lnTo>
                    <a:pt x="7536180" y="1292288"/>
                  </a:lnTo>
                  <a:lnTo>
                    <a:pt x="7536180" y="1224292"/>
                  </a:lnTo>
                  <a:lnTo>
                    <a:pt x="7504176" y="1224292"/>
                  </a:lnTo>
                  <a:lnTo>
                    <a:pt x="7504176" y="1292288"/>
                  </a:lnTo>
                  <a:lnTo>
                    <a:pt x="7478268" y="1247914"/>
                  </a:lnTo>
                  <a:lnTo>
                    <a:pt x="7474077" y="1243228"/>
                  </a:lnTo>
                  <a:lnTo>
                    <a:pt x="7468730" y="1240675"/>
                  </a:lnTo>
                  <a:lnTo>
                    <a:pt x="7462825" y="1240421"/>
                  </a:lnTo>
                  <a:lnTo>
                    <a:pt x="7456932" y="1242580"/>
                  </a:lnTo>
                  <a:lnTo>
                    <a:pt x="7452119" y="1246771"/>
                  </a:lnTo>
                  <a:lnTo>
                    <a:pt x="7449312" y="1252105"/>
                  </a:lnTo>
                  <a:lnTo>
                    <a:pt x="7448778" y="1258011"/>
                  </a:lnTo>
                  <a:lnTo>
                    <a:pt x="7450836" y="1263916"/>
                  </a:lnTo>
                  <a:lnTo>
                    <a:pt x="7504176" y="1355356"/>
                  </a:lnTo>
                  <a:lnTo>
                    <a:pt x="7520178" y="1382788"/>
                  </a:lnTo>
                  <a:lnTo>
                    <a:pt x="7536180" y="1355356"/>
                  </a:lnTo>
                  <a:lnTo>
                    <a:pt x="7589520" y="1263916"/>
                  </a:lnTo>
                  <a:lnTo>
                    <a:pt x="7591565" y="1258011"/>
                  </a:lnTo>
                  <a:close/>
                </a:path>
                <a:path w="7592059" h="2011045">
                  <a:moveTo>
                    <a:pt x="7591565" y="594055"/>
                  </a:moveTo>
                  <a:lnTo>
                    <a:pt x="7589520" y="588022"/>
                  </a:lnTo>
                  <a:lnTo>
                    <a:pt x="7534935" y="494449"/>
                  </a:lnTo>
                  <a:lnTo>
                    <a:pt x="7534935" y="557542"/>
                  </a:lnTo>
                  <a:lnTo>
                    <a:pt x="7505408" y="557542"/>
                  </a:lnTo>
                  <a:lnTo>
                    <a:pt x="7506462" y="555752"/>
                  </a:lnTo>
                  <a:lnTo>
                    <a:pt x="7520178" y="532269"/>
                  </a:lnTo>
                  <a:lnTo>
                    <a:pt x="7533894" y="555752"/>
                  </a:lnTo>
                  <a:lnTo>
                    <a:pt x="7534935" y="557542"/>
                  </a:lnTo>
                  <a:lnTo>
                    <a:pt x="7534935" y="494449"/>
                  </a:lnTo>
                  <a:lnTo>
                    <a:pt x="7520178" y="469150"/>
                  </a:lnTo>
                  <a:lnTo>
                    <a:pt x="7450836" y="588022"/>
                  </a:lnTo>
                  <a:lnTo>
                    <a:pt x="7448778" y="594055"/>
                  </a:lnTo>
                  <a:lnTo>
                    <a:pt x="7449312" y="600214"/>
                  </a:lnTo>
                  <a:lnTo>
                    <a:pt x="7452119" y="605815"/>
                  </a:lnTo>
                  <a:lnTo>
                    <a:pt x="7456932" y="610120"/>
                  </a:lnTo>
                  <a:lnTo>
                    <a:pt x="7464552" y="613930"/>
                  </a:lnTo>
                  <a:lnTo>
                    <a:pt x="7473696" y="611644"/>
                  </a:lnTo>
                  <a:lnTo>
                    <a:pt x="7478268" y="604024"/>
                  </a:lnTo>
                  <a:lnTo>
                    <a:pt x="7504176" y="559663"/>
                  </a:lnTo>
                  <a:lnTo>
                    <a:pt x="7504176" y="684796"/>
                  </a:lnTo>
                  <a:lnTo>
                    <a:pt x="7536180" y="684796"/>
                  </a:lnTo>
                  <a:lnTo>
                    <a:pt x="7536180" y="559663"/>
                  </a:lnTo>
                  <a:lnTo>
                    <a:pt x="7562088" y="604024"/>
                  </a:lnTo>
                  <a:lnTo>
                    <a:pt x="7566660" y="611644"/>
                  </a:lnTo>
                  <a:lnTo>
                    <a:pt x="7576566" y="613930"/>
                  </a:lnTo>
                  <a:lnTo>
                    <a:pt x="7583424" y="610120"/>
                  </a:lnTo>
                  <a:lnTo>
                    <a:pt x="7588224" y="605815"/>
                  </a:lnTo>
                  <a:lnTo>
                    <a:pt x="7591044" y="600214"/>
                  </a:lnTo>
                  <a:lnTo>
                    <a:pt x="7591565" y="594055"/>
                  </a:lnTo>
                  <a:close/>
                </a:path>
              </a:pathLst>
            </a:custGeom>
            <a:solidFill>
              <a:srgbClr val="4A7EBB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15340" y="4727538"/>
            <a:ext cx="972110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dirty="0">
                <a:latin typeface="Calibri"/>
                <a:cs typeface="Calibri"/>
              </a:rPr>
              <a:t>Sensor</a:t>
            </a:r>
            <a:r>
              <a:rPr sz="1412" b="1" spc="-66" dirty="0">
                <a:latin typeface="Calibri"/>
                <a:cs typeface="Calibri"/>
              </a:rPr>
              <a:t> </a:t>
            </a:r>
            <a:r>
              <a:rPr sz="1412" b="1" spc="-18" dirty="0">
                <a:latin typeface="Calibri"/>
                <a:cs typeface="Calibri"/>
              </a:rPr>
              <a:t>Mote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6</a:t>
            </a:fld>
            <a:endParaRPr spc="-22" dirty="0"/>
          </a:p>
        </p:txBody>
      </p:sp>
      <p:sp>
        <p:nvSpPr>
          <p:cNvPr id="17" name="object 17"/>
          <p:cNvSpPr txBox="1"/>
          <p:nvPr/>
        </p:nvSpPr>
        <p:spPr>
          <a:xfrm>
            <a:off x="2937267" y="4205120"/>
            <a:ext cx="453838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spc="-9" dirty="0">
                <a:latin typeface="Calibri"/>
                <a:cs typeface="Calibri"/>
              </a:rPr>
              <a:t>Sensor</a:t>
            </a:r>
            <a:endParaRPr sz="1235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70029" y="3647744"/>
            <a:ext cx="642097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spc="-9" dirty="0">
                <a:latin typeface="Calibri"/>
                <a:cs typeface="Calibri"/>
              </a:rPr>
              <a:t>Processor</a:t>
            </a:r>
            <a:endParaRPr sz="1235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04504" y="2908161"/>
            <a:ext cx="383241" cy="20080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spcBef>
                <a:spcPts val="84"/>
              </a:spcBef>
            </a:pPr>
            <a:r>
              <a:rPr sz="1235" spc="-9" dirty="0">
                <a:latin typeface="Calibri"/>
                <a:cs typeface="Calibri"/>
              </a:rPr>
              <a:t>Radio</a:t>
            </a:r>
            <a:endParaRPr sz="1235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02585" y="2962611"/>
            <a:ext cx="676275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Gateway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42201" y="2361529"/>
            <a:ext cx="958103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Proxy</a:t>
            </a:r>
            <a:r>
              <a:rPr sz="1412" b="1" spc="-40" dirty="0">
                <a:latin typeface="Calibri"/>
                <a:cs typeface="Calibri"/>
              </a:rPr>
              <a:t> </a:t>
            </a:r>
            <a:r>
              <a:rPr sz="1412" b="1" spc="-9" dirty="0">
                <a:latin typeface="Calibri"/>
                <a:cs typeface="Calibri"/>
              </a:rPr>
              <a:t>Server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16731" y="4388667"/>
            <a:ext cx="625849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Internet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702450" y="4291854"/>
            <a:ext cx="840441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Websocket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011306" y="4321438"/>
            <a:ext cx="969309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Cloud‐server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57882" y="1709340"/>
            <a:ext cx="700368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Analytics</a:t>
            </a:r>
            <a:endParaRPr sz="1412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509277" y="2852332"/>
            <a:ext cx="753035" cy="22861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412" b="1" spc="-9" dirty="0">
                <a:latin typeface="Calibri"/>
                <a:cs typeface="Calibri"/>
              </a:rPr>
              <a:t>Actuation</a:t>
            </a:r>
            <a:endParaRPr sz="1412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2" dirty="0"/>
              <a:t>IoT</a:t>
            </a:r>
            <a:r>
              <a:rPr spc="57" dirty="0"/>
              <a:t> </a:t>
            </a:r>
            <a:r>
              <a:rPr spc="-9" dirty="0"/>
              <a:t>Interdependencies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8386" y="1544170"/>
            <a:ext cx="5261387" cy="3769660"/>
            <a:chOff x="3297935" y="2377439"/>
            <a:chExt cx="3792220" cy="32677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6223" y="2377439"/>
              <a:ext cx="3755135" cy="3657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97935" y="2724911"/>
              <a:ext cx="3791711" cy="291998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729983" y="5623560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6095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7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2" dirty="0"/>
              <a:t>IoT</a:t>
            </a:r>
            <a:r>
              <a:rPr spc="31" dirty="0"/>
              <a:t> </a:t>
            </a:r>
            <a:r>
              <a:rPr dirty="0"/>
              <a:t>Service</a:t>
            </a:r>
            <a:r>
              <a:rPr spc="26" dirty="0"/>
              <a:t> </a:t>
            </a:r>
            <a:r>
              <a:rPr dirty="0"/>
              <a:t>Oriented</a:t>
            </a:r>
            <a:r>
              <a:rPr spc="26" dirty="0"/>
              <a:t> </a:t>
            </a:r>
            <a:r>
              <a:rPr spc="-9" dirty="0"/>
              <a:t>Architecture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0664" y="1323322"/>
            <a:ext cx="5690347" cy="43916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36812" y="6031964"/>
            <a:ext cx="7109572" cy="14705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882" b="1" dirty="0">
                <a:latin typeface="Calibri"/>
                <a:cs typeface="Calibri"/>
              </a:rPr>
              <a:t>Source:</a:t>
            </a:r>
            <a:r>
              <a:rPr sz="882" b="1" spc="-22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Li Da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Xu,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Wu</a:t>
            </a:r>
            <a:r>
              <a:rPr sz="882" spc="-9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He, and</a:t>
            </a:r>
            <a:r>
              <a:rPr sz="882" spc="-9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Shancang</a:t>
            </a:r>
            <a:r>
              <a:rPr sz="882" spc="-13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Li, “Internet</a:t>
            </a:r>
            <a:r>
              <a:rPr sz="882" spc="-13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of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Things</a:t>
            </a:r>
            <a:r>
              <a:rPr sz="882" spc="-13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in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Industries:</a:t>
            </a:r>
            <a:r>
              <a:rPr sz="882" spc="-18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A</a:t>
            </a:r>
            <a:r>
              <a:rPr sz="882" spc="-9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Survey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“,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IEEE</a:t>
            </a:r>
            <a:r>
              <a:rPr sz="882" spc="-13" dirty="0">
                <a:latin typeface="Calibri"/>
                <a:cs typeface="Calibri"/>
              </a:rPr>
              <a:t> </a:t>
            </a:r>
            <a:r>
              <a:rPr sz="882" spc="-9" dirty="0">
                <a:latin typeface="Calibri"/>
                <a:cs typeface="Calibri"/>
              </a:rPr>
              <a:t>Transactions</a:t>
            </a:r>
            <a:r>
              <a:rPr sz="882" spc="-13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on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spc="-9" dirty="0">
                <a:latin typeface="Calibri"/>
                <a:cs typeface="Calibri"/>
              </a:rPr>
              <a:t>Industrial</a:t>
            </a:r>
            <a:r>
              <a:rPr sz="882" spc="-22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Informatics,</a:t>
            </a:r>
            <a:r>
              <a:rPr sz="882" spc="-22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Vol.</a:t>
            </a:r>
            <a:r>
              <a:rPr sz="882" spc="-9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10, No. 4,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dirty="0">
                <a:latin typeface="Calibri"/>
                <a:cs typeface="Calibri"/>
              </a:rPr>
              <a:t>Nov.</a:t>
            </a:r>
            <a:r>
              <a:rPr sz="882" spc="-4" dirty="0">
                <a:latin typeface="Calibri"/>
                <a:cs typeface="Calibri"/>
              </a:rPr>
              <a:t> </a:t>
            </a:r>
            <a:r>
              <a:rPr sz="882" spc="-9" dirty="0">
                <a:latin typeface="Calibri"/>
                <a:cs typeface="Calibri"/>
              </a:rPr>
              <a:t>2014.</a:t>
            </a:r>
            <a:endParaRPr sz="882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2" dirty="0"/>
              <a:t>IoT</a:t>
            </a:r>
            <a:r>
              <a:rPr spc="-35" dirty="0"/>
              <a:t> </a:t>
            </a:r>
            <a:r>
              <a:rPr spc="-9" dirty="0"/>
              <a:t>Categories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9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533855" y="2162443"/>
            <a:ext cx="6710643" cy="3005370"/>
          </a:xfrm>
          <a:prstGeom prst="rect">
            <a:avLst/>
          </a:prstGeom>
        </p:spPr>
        <p:txBody>
          <a:bodyPr vert="horz" wrap="square" lIns="0" tIns="79562" rIns="0" bIns="0" rtlCol="0">
            <a:spAutoFit/>
          </a:bodyPr>
          <a:lstStyle/>
          <a:p>
            <a:pPr marL="313221" indent="-302015">
              <a:spcBef>
                <a:spcPts val="62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b="1" spc="-9" dirty="0">
                <a:latin typeface="Calibri"/>
                <a:cs typeface="Calibri"/>
              </a:rPr>
              <a:t>Industrial</a:t>
            </a:r>
            <a:r>
              <a:rPr sz="2118" b="1" spc="-35" dirty="0">
                <a:latin typeface="Calibri"/>
                <a:cs typeface="Calibri"/>
              </a:rPr>
              <a:t> </a:t>
            </a:r>
            <a:r>
              <a:rPr sz="2118" b="1" spc="-22" dirty="0">
                <a:latin typeface="Calibri"/>
                <a:cs typeface="Calibri"/>
              </a:rPr>
              <a:t>IoT</a:t>
            </a:r>
            <a:endParaRPr sz="2118" dirty="0">
              <a:latin typeface="Calibri"/>
              <a:cs typeface="Calibri"/>
            </a:endParaRPr>
          </a:p>
          <a:p>
            <a:pPr marL="666225" lvl="1" indent="-251585">
              <a:spcBef>
                <a:spcPts val="449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IoT</a:t>
            </a:r>
            <a:r>
              <a:rPr sz="1765" spc="-53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device</a:t>
            </a:r>
            <a:r>
              <a:rPr sz="1765" spc="-26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connects</a:t>
            </a:r>
            <a:r>
              <a:rPr sz="1765" spc="-26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to</a:t>
            </a:r>
            <a:r>
              <a:rPr sz="1765" spc="-40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an</a:t>
            </a:r>
            <a:r>
              <a:rPr sz="1765" spc="-40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IP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network</a:t>
            </a:r>
            <a:r>
              <a:rPr sz="1765" spc="-35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and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the</a:t>
            </a:r>
            <a:r>
              <a:rPr sz="1765" spc="-40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global</a:t>
            </a:r>
            <a:r>
              <a:rPr sz="1765" spc="-3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Internet.</a:t>
            </a:r>
            <a:endParaRPr sz="1765" dirty="0">
              <a:latin typeface="Calibri"/>
              <a:cs typeface="Calibri"/>
            </a:endParaRPr>
          </a:p>
          <a:p>
            <a:pPr marL="666225" marR="117108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spc="-9" dirty="0">
                <a:latin typeface="Calibri"/>
                <a:cs typeface="Calibri"/>
              </a:rPr>
              <a:t>Communication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between</a:t>
            </a:r>
            <a:r>
              <a:rPr sz="1765" spc="-35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the</a:t>
            </a:r>
            <a:r>
              <a:rPr sz="1765" spc="-49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nodes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done</a:t>
            </a:r>
            <a:r>
              <a:rPr sz="1765" spc="-53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using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regular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as</a:t>
            </a:r>
            <a:r>
              <a:rPr sz="1765" spc="-40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well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spc="-22" dirty="0">
                <a:latin typeface="Calibri"/>
                <a:cs typeface="Calibri"/>
              </a:rPr>
              <a:t>as </a:t>
            </a:r>
            <a:r>
              <a:rPr sz="1765" dirty="0">
                <a:latin typeface="Calibri"/>
                <a:cs typeface="Calibri"/>
              </a:rPr>
              <a:t>industry</a:t>
            </a:r>
            <a:r>
              <a:rPr sz="1765" spc="-57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specific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technologies.</a:t>
            </a:r>
            <a:endParaRPr lang="en-US" sz="1765" spc="-9" dirty="0">
              <a:latin typeface="Calibri"/>
              <a:cs typeface="Calibri"/>
            </a:endParaRPr>
          </a:p>
          <a:p>
            <a:pPr marL="666225" marR="117108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endParaRPr sz="1765" dirty="0">
              <a:latin typeface="Calibri"/>
              <a:cs typeface="Calibri"/>
            </a:endParaRPr>
          </a:p>
          <a:p>
            <a:pPr marL="313221" indent="-302015">
              <a:spcBef>
                <a:spcPts val="481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b="1" dirty="0">
                <a:latin typeface="Calibri"/>
                <a:cs typeface="Calibri"/>
              </a:rPr>
              <a:t>Consumer</a:t>
            </a:r>
            <a:r>
              <a:rPr sz="2118" b="1" spc="-119" dirty="0">
                <a:latin typeface="Calibri"/>
                <a:cs typeface="Calibri"/>
              </a:rPr>
              <a:t> </a:t>
            </a:r>
            <a:r>
              <a:rPr sz="2118" b="1" spc="-22" dirty="0">
                <a:latin typeface="Calibri"/>
                <a:cs typeface="Calibri"/>
              </a:rPr>
              <a:t>IoT</a:t>
            </a:r>
            <a:endParaRPr sz="2118" dirty="0">
              <a:latin typeface="Calibri"/>
              <a:cs typeface="Calibri"/>
            </a:endParaRPr>
          </a:p>
          <a:p>
            <a:pPr marL="666225" lvl="1" indent="-251585">
              <a:spcBef>
                <a:spcPts val="449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IoT</a:t>
            </a:r>
            <a:r>
              <a:rPr sz="1765" spc="-71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device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communicates</a:t>
            </a:r>
            <a:r>
              <a:rPr sz="1765" spc="-35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within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the</a:t>
            </a:r>
            <a:r>
              <a:rPr sz="1765" spc="-57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locally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networked</a:t>
            </a:r>
            <a:r>
              <a:rPr sz="1765" spc="-57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devices.</a:t>
            </a:r>
            <a:endParaRPr sz="1765" dirty="0">
              <a:latin typeface="Calibri"/>
              <a:cs typeface="Calibri"/>
            </a:endParaRPr>
          </a:p>
          <a:p>
            <a:pPr marL="666225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Local</a:t>
            </a:r>
            <a:r>
              <a:rPr sz="1765" spc="-35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communication</a:t>
            </a:r>
            <a:r>
              <a:rPr sz="1765" spc="-13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is</a:t>
            </a:r>
            <a:r>
              <a:rPr sz="1765" spc="-26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done</a:t>
            </a:r>
            <a:r>
              <a:rPr sz="1765" spc="-40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mainly</a:t>
            </a:r>
            <a:r>
              <a:rPr sz="1765" spc="-31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via</a:t>
            </a:r>
            <a:r>
              <a:rPr sz="1765" spc="-22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Bluetooth,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Zigbee</a:t>
            </a:r>
            <a:r>
              <a:rPr sz="1765" spc="-26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or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WiFi.</a:t>
            </a:r>
            <a:endParaRPr sz="1765" dirty="0">
              <a:latin typeface="Calibri"/>
              <a:cs typeface="Calibri"/>
            </a:endParaRPr>
          </a:p>
          <a:p>
            <a:pPr marL="666225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Generally</a:t>
            </a:r>
            <a:r>
              <a:rPr sz="1765" spc="-35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limited</a:t>
            </a:r>
            <a:r>
              <a:rPr sz="1765" spc="-31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to</a:t>
            </a:r>
            <a:r>
              <a:rPr sz="1765" spc="-62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local</a:t>
            </a:r>
            <a:r>
              <a:rPr sz="1765" spc="-44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communication</a:t>
            </a:r>
            <a:r>
              <a:rPr sz="1765" spc="-31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by</a:t>
            </a:r>
            <a:r>
              <a:rPr sz="1765" spc="-57" dirty="0">
                <a:latin typeface="Calibri"/>
                <a:cs typeface="Calibri"/>
              </a:rPr>
              <a:t> </a:t>
            </a:r>
            <a:r>
              <a:rPr sz="1765" dirty="0">
                <a:latin typeface="Calibri"/>
                <a:cs typeface="Calibri"/>
              </a:rPr>
              <a:t>a</a:t>
            </a:r>
            <a:r>
              <a:rPr sz="1765" spc="-53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Gateway</a:t>
            </a:r>
            <a:endParaRPr sz="1765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28" dirty="0"/>
              <a:t>IoT</a:t>
            </a:r>
            <a:r>
              <a:rPr spc="-40" dirty="0"/>
              <a:t> </a:t>
            </a:r>
            <a:r>
              <a:rPr spc="57" dirty="0"/>
              <a:t>Gateways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4012" y="1600200"/>
            <a:ext cx="5965761" cy="3886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192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10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2" dirty="0"/>
              <a:t>IoT</a:t>
            </a:r>
            <a:r>
              <a:rPr spc="-9" dirty="0"/>
              <a:t> </a:t>
            </a:r>
            <a:r>
              <a:rPr spc="101" dirty="0"/>
              <a:t>and</a:t>
            </a:r>
            <a:r>
              <a:rPr dirty="0"/>
              <a:t> Associated</a:t>
            </a:r>
            <a:r>
              <a:rPr spc="4" dirty="0"/>
              <a:t> </a:t>
            </a:r>
            <a:r>
              <a:rPr spc="-9" dirty="0"/>
              <a:t>Technologies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FF7A17D-F313-D9E2-BEEB-215017EFA197}"/>
              </a:ext>
            </a:extLst>
          </p:cNvPr>
          <p:cNvGrpSpPr/>
          <p:nvPr/>
        </p:nvGrpSpPr>
        <p:grpSpPr>
          <a:xfrm>
            <a:off x="4535225" y="1962598"/>
            <a:ext cx="3118373" cy="3084755"/>
            <a:chOff x="4535225" y="1962598"/>
            <a:chExt cx="3118373" cy="308475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7664" y="2663190"/>
              <a:ext cx="1753496" cy="1753496"/>
            </a:xfrm>
            <a:prstGeom prst="rect">
              <a:avLst/>
            </a:prstGeom>
          </p:spPr>
        </p:pic>
        <p:sp>
          <p:nvSpPr>
            <p:cNvPr id="4" name="object 4"/>
            <p:cNvSpPr txBox="1"/>
            <p:nvPr/>
          </p:nvSpPr>
          <p:spPr>
            <a:xfrm>
              <a:off x="5622644" y="3004296"/>
              <a:ext cx="944096" cy="893427"/>
            </a:xfrm>
            <a:prstGeom prst="rect">
              <a:avLst/>
            </a:prstGeom>
          </p:spPr>
          <p:txBody>
            <a:bodyPr vert="horz" wrap="square" lIns="0" tIns="10646" rIns="0" bIns="0" rtlCol="0">
              <a:spAutoFit/>
            </a:bodyPr>
            <a:lstStyle/>
            <a:p>
              <a:pPr marL="11206">
                <a:spcBef>
                  <a:spcPts val="84"/>
                </a:spcBef>
              </a:pPr>
              <a:r>
                <a:rPr sz="5736" spc="-22" dirty="0">
                  <a:latin typeface="Calibri"/>
                  <a:cs typeface="Calibri"/>
                </a:rPr>
                <a:t>IoT</a:t>
              </a:r>
              <a:endParaRPr sz="5736" dirty="0">
                <a:latin typeface="Calibri"/>
                <a:cs typeface="Calibri"/>
              </a:endParaRPr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4022" y="1962598"/>
              <a:ext cx="880781" cy="880781"/>
            </a:xfrm>
            <a:prstGeom prst="rect">
              <a:avLst/>
            </a:prstGeom>
          </p:spPr>
        </p:pic>
        <p:sp>
          <p:nvSpPr>
            <p:cNvPr id="6" name="object 6"/>
            <p:cNvSpPr txBox="1"/>
            <p:nvPr/>
          </p:nvSpPr>
          <p:spPr>
            <a:xfrm>
              <a:off x="5857968" y="2295636"/>
              <a:ext cx="474569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dirty="0">
                  <a:latin typeface="Calibri"/>
                  <a:cs typeface="Calibri"/>
                </a:rPr>
                <a:t>Big</a:t>
              </a:r>
              <a:r>
                <a:rPr sz="1059" spc="-13" dirty="0">
                  <a:latin typeface="Calibri"/>
                  <a:cs typeface="Calibri"/>
                </a:rPr>
                <a:t> </a:t>
              </a:r>
              <a:r>
                <a:rPr sz="1059" spc="-18" dirty="0">
                  <a:latin typeface="Calibri"/>
                  <a:cs typeface="Calibri"/>
                </a:rPr>
                <a:t>Data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3524" y="2226833"/>
              <a:ext cx="880781" cy="884144"/>
            </a:xfrm>
            <a:prstGeom prst="rect">
              <a:avLst/>
            </a:prstGeom>
          </p:spPr>
        </p:pic>
        <p:sp>
          <p:nvSpPr>
            <p:cNvPr id="8" name="object 8"/>
            <p:cNvSpPr txBox="1"/>
            <p:nvPr/>
          </p:nvSpPr>
          <p:spPr>
            <a:xfrm>
              <a:off x="6656722" y="2561216"/>
              <a:ext cx="33729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9" dirty="0">
                  <a:latin typeface="Calibri"/>
                  <a:cs typeface="Calibri"/>
                </a:rPr>
                <a:t>Cloud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72817" y="2901203"/>
              <a:ext cx="880781" cy="880781"/>
            </a:xfrm>
            <a:prstGeom prst="rect">
              <a:avLst/>
            </a:prstGeom>
          </p:spPr>
        </p:pic>
        <p:sp>
          <p:nvSpPr>
            <p:cNvPr id="10" name="object 10"/>
            <p:cNvSpPr txBox="1"/>
            <p:nvPr/>
          </p:nvSpPr>
          <p:spPr>
            <a:xfrm>
              <a:off x="6908183" y="3234241"/>
              <a:ext cx="612401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dirty="0">
                  <a:latin typeface="Calibri"/>
                  <a:cs typeface="Calibri"/>
                </a:rPr>
                <a:t>Smart</a:t>
              </a:r>
              <a:r>
                <a:rPr sz="1059" spc="-4" dirty="0">
                  <a:latin typeface="Calibri"/>
                  <a:cs typeface="Calibri"/>
                </a:rPr>
                <a:t> </a:t>
              </a:r>
              <a:r>
                <a:rPr sz="1059" spc="-18" dirty="0">
                  <a:latin typeface="Calibri"/>
                  <a:cs typeface="Calibri"/>
                </a:rPr>
                <a:t>Grid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37001" y="3664324"/>
              <a:ext cx="884144" cy="884144"/>
            </a:xfrm>
            <a:prstGeom prst="rect">
              <a:avLst/>
            </a:prstGeom>
          </p:spPr>
        </p:pic>
        <p:sp>
          <p:nvSpPr>
            <p:cNvPr id="12" name="object 12"/>
            <p:cNvSpPr txBox="1"/>
            <p:nvPr/>
          </p:nvSpPr>
          <p:spPr>
            <a:xfrm>
              <a:off x="6977435" y="3999379"/>
              <a:ext cx="202826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22" dirty="0">
                  <a:latin typeface="Calibri"/>
                  <a:cs typeface="Calibri"/>
                </a:rPr>
                <a:t>IoV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042642" y="4166572"/>
              <a:ext cx="880781" cy="880781"/>
            </a:xfrm>
            <a:prstGeom prst="rect">
              <a:avLst/>
            </a:prstGeom>
          </p:spPr>
        </p:pic>
        <p:sp>
          <p:nvSpPr>
            <p:cNvPr id="14" name="object 14"/>
            <p:cNvSpPr txBox="1"/>
            <p:nvPr/>
          </p:nvSpPr>
          <p:spPr>
            <a:xfrm>
              <a:off x="6323909" y="4498937"/>
              <a:ext cx="320488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22" dirty="0">
                  <a:latin typeface="Calibri"/>
                  <a:cs typeface="Calibri"/>
                </a:rPr>
                <a:t>M2M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65401" y="4166572"/>
              <a:ext cx="880781" cy="880781"/>
            </a:xfrm>
            <a:prstGeom prst="rect">
              <a:avLst/>
            </a:prstGeom>
          </p:spPr>
        </p:pic>
        <p:sp>
          <p:nvSpPr>
            <p:cNvPr id="16" name="object 16"/>
            <p:cNvSpPr txBox="1"/>
            <p:nvPr/>
          </p:nvSpPr>
          <p:spPr>
            <a:xfrm>
              <a:off x="5444471" y="4424979"/>
              <a:ext cx="524996" cy="334933"/>
            </a:xfrm>
            <a:prstGeom prst="rect">
              <a:avLst/>
            </a:prstGeom>
          </p:spPr>
          <p:txBody>
            <a:bodyPr vert="horz" wrap="square" lIns="0" tIns="26894" rIns="0" bIns="0" rtlCol="0">
              <a:spAutoFit/>
            </a:bodyPr>
            <a:lstStyle/>
            <a:p>
              <a:pPr marL="11206" marR="4483" indent="121030">
                <a:lnSpc>
                  <a:spcPts val="1165"/>
                </a:lnSpc>
                <a:spcBef>
                  <a:spcPts val="212"/>
                </a:spcBef>
              </a:pPr>
              <a:r>
                <a:rPr sz="1059" spc="-9" dirty="0">
                  <a:latin typeface="Calibri"/>
                  <a:cs typeface="Calibri"/>
                </a:rPr>
                <a:t>Tele‐ medicine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67678" y="3664324"/>
              <a:ext cx="884144" cy="884144"/>
            </a:xfrm>
            <a:prstGeom prst="rect">
              <a:avLst/>
            </a:prstGeom>
          </p:spPr>
        </p:pic>
        <p:sp>
          <p:nvSpPr>
            <p:cNvPr id="18" name="object 18"/>
            <p:cNvSpPr txBox="1"/>
            <p:nvPr/>
          </p:nvSpPr>
          <p:spPr>
            <a:xfrm>
              <a:off x="4998029" y="3999379"/>
              <a:ext cx="225238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22" dirty="0">
                  <a:latin typeface="Calibri"/>
                  <a:cs typeface="Calibri"/>
                </a:rPr>
                <a:t>CPS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35225" y="2901203"/>
              <a:ext cx="880781" cy="880781"/>
            </a:xfrm>
            <a:prstGeom prst="rect">
              <a:avLst/>
            </a:prstGeom>
          </p:spPr>
        </p:pic>
        <p:sp>
          <p:nvSpPr>
            <p:cNvPr id="20" name="object 20"/>
            <p:cNvSpPr txBox="1"/>
            <p:nvPr/>
          </p:nvSpPr>
          <p:spPr>
            <a:xfrm>
              <a:off x="4684712" y="3234241"/>
              <a:ext cx="584387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9" dirty="0">
                  <a:latin typeface="Calibri"/>
                  <a:cs typeface="Calibri"/>
                </a:rPr>
                <a:t>3G/4G/5G</a:t>
              </a:r>
              <a:endParaRPr sz="1059">
                <a:latin typeface="Calibri"/>
                <a:cs typeface="Calibri"/>
              </a:endParaRPr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24519" y="2226833"/>
              <a:ext cx="880781" cy="884144"/>
            </a:xfrm>
            <a:prstGeom prst="rect">
              <a:avLst/>
            </a:prstGeom>
          </p:spPr>
        </p:pic>
        <p:sp>
          <p:nvSpPr>
            <p:cNvPr id="22" name="object 22"/>
            <p:cNvSpPr txBox="1"/>
            <p:nvPr/>
          </p:nvSpPr>
          <p:spPr>
            <a:xfrm>
              <a:off x="5238057" y="2561216"/>
              <a:ext cx="254374" cy="174309"/>
            </a:xfrm>
            <a:prstGeom prst="rect">
              <a:avLst/>
            </a:prstGeom>
          </p:spPr>
          <p:txBody>
            <a:bodyPr vert="horz" wrap="square" lIns="0" tIns="11206" rIns="0" bIns="0" rtlCol="0">
              <a:spAutoFit/>
            </a:bodyPr>
            <a:lstStyle/>
            <a:p>
              <a:pPr marL="11206">
                <a:spcBef>
                  <a:spcPts val="88"/>
                </a:spcBef>
              </a:pPr>
              <a:r>
                <a:rPr sz="1059" spc="-22" dirty="0">
                  <a:latin typeface="Calibri"/>
                  <a:cs typeface="Calibri"/>
                </a:rPr>
                <a:t>SDN</a:t>
              </a:r>
              <a:endParaRPr sz="1059">
                <a:latin typeface="Calibri"/>
                <a:cs typeface="Calibri"/>
              </a:endParaRPr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11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9012" y="189472"/>
            <a:ext cx="10508555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Technical</a:t>
            </a:r>
            <a:r>
              <a:rPr spc="-93" dirty="0"/>
              <a:t> </a:t>
            </a:r>
            <a:r>
              <a:rPr spc="-9" dirty="0"/>
              <a:t>Deviations</a:t>
            </a:r>
            <a:r>
              <a:rPr spc="-101" dirty="0"/>
              <a:t> </a:t>
            </a:r>
            <a:r>
              <a:rPr dirty="0"/>
              <a:t>from</a:t>
            </a:r>
            <a:r>
              <a:rPr spc="-93" dirty="0"/>
              <a:t> </a:t>
            </a:r>
            <a:r>
              <a:rPr dirty="0"/>
              <a:t>Regular</a:t>
            </a:r>
            <a:r>
              <a:rPr spc="-93" dirty="0"/>
              <a:t> </a:t>
            </a:r>
            <a:r>
              <a:rPr spc="35" dirty="0"/>
              <a:t>Web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6412" y="1371600"/>
            <a:ext cx="5486400" cy="4495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12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3857" y="391747"/>
            <a:ext cx="7626163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Key</a:t>
            </a:r>
            <a:r>
              <a:rPr spc="-71" dirty="0"/>
              <a:t> </a:t>
            </a:r>
            <a:r>
              <a:rPr spc="-18" dirty="0"/>
              <a:t>Technologies</a:t>
            </a:r>
            <a:r>
              <a:rPr spc="-66" dirty="0"/>
              <a:t> </a:t>
            </a:r>
            <a:r>
              <a:rPr spc="-53" dirty="0"/>
              <a:t>for</a:t>
            </a:r>
            <a:r>
              <a:rPr spc="-66" dirty="0"/>
              <a:t> </a:t>
            </a:r>
            <a:r>
              <a:rPr spc="-53" dirty="0"/>
              <a:t>IoT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5500" y="1727947"/>
            <a:ext cx="4997824" cy="340210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51012" y="5833946"/>
            <a:ext cx="7626163" cy="30955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 marR="4483" indent="-560">
              <a:spcBef>
                <a:spcPts val="84"/>
              </a:spcBef>
            </a:pPr>
            <a:r>
              <a:rPr sz="971" b="1" dirty="0">
                <a:latin typeface="Arial"/>
                <a:cs typeface="Arial"/>
              </a:rPr>
              <a:t>Source:</a:t>
            </a:r>
            <a:r>
              <a:rPr sz="971" b="1" spc="-22" dirty="0">
                <a:latin typeface="Arial"/>
                <a:cs typeface="Arial"/>
              </a:rPr>
              <a:t> </a:t>
            </a:r>
            <a:r>
              <a:rPr sz="971" dirty="0">
                <a:latin typeface="Arial MT"/>
                <a:cs typeface="Arial MT"/>
              </a:rPr>
              <a:t>O</a:t>
            </a:r>
            <a:r>
              <a:rPr sz="971" spc="-26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Vermesan,</a:t>
            </a:r>
            <a:r>
              <a:rPr sz="971" spc="-35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P.</a:t>
            </a:r>
            <a:r>
              <a:rPr sz="971" spc="-26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Friess</a:t>
            </a:r>
            <a:r>
              <a:rPr sz="971" b="1" dirty="0">
                <a:latin typeface="Arial"/>
                <a:cs typeface="Arial"/>
              </a:rPr>
              <a:t>,</a:t>
            </a:r>
            <a:r>
              <a:rPr sz="971" b="1" spc="-31" dirty="0">
                <a:latin typeface="Arial"/>
                <a:cs typeface="Arial"/>
              </a:rPr>
              <a:t> </a:t>
            </a:r>
            <a:r>
              <a:rPr sz="971" b="1" dirty="0">
                <a:latin typeface="Arial"/>
                <a:cs typeface="Arial"/>
              </a:rPr>
              <a:t>“</a:t>
            </a:r>
            <a:r>
              <a:rPr sz="971" dirty="0">
                <a:latin typeface="Arial MT"/>
                <a:cs typeface="Arial MT"/>
              </a:rPr>
              <a:t>Internet</a:t>
            </a:r>
            <a:r>
              <a:rPr sz="971" spc="-44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of</a:t>
            </a:r>
            <a:r>
              <a:rPr sz="971" spc="-31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Things</a:t>
            </a:r>
            <a:r>
              <a:rPr sz="971" spc="-22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–</a:t>
            </a:r>
            <a:r>
              <a:rPr sz="971" spc="-26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Converging</a:t>
            </a:r>
            <a:r>
              <a:rPr sz="971" spc="-13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Technologies</a:t>
            </a:r>
            <a:r>
              <a:rPr sz="971" spc="-22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for</a:t>
            </a:r>
            <a:r>
              <a:rPr sz="971" spc="-35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Smart</a:t>
            </a:r>
            <a:r>
              <a:rPr sz="971" spc="-31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Environments</a:t>
            </a:r>
            <a:r>
              <a:rPr sz="971" spc="-22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and</a:t>
            </a:r>
            <a:r>
              <a:rPr sz="971" spc="-26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Integrated</a:t>
            </a:r>
            <a:r>
              <a:rPr sz="971" spc="-40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Ecosystems”,</a:t>
            </a:r>
            <a:r>
              <a:rPr sz="971" spc="-40" dirty="0">
                <a:latin typeface="Arial MT"/>
                <a:cs typeface="Arial MT"/>
              </a:rPr>
              <a:t> </a:t>
            </a:r>
            <a:r>
              <a:rPr sz="971" spc="-9" dirty="0">
                <a:latin typeface="Arial MT"/>
                <a:cs typeface="Arial MT"/>
              </a:rPr>
              <a:t>River </a:t>
            </a:r>
            <a:r>
              <a:rPr sz="971" dirty="0">
                <a:latin typeface="Arial MT"/>
                <a:cs typeface="Arial MT"/>
              </a:rPr>
              <a:t>Publishers,</a:t>
            </a:r>
            <a:r>
              <a:rPr sz="971" spc="-13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Series</a:t>
            </a:r>
            <a:r>
              <a:rPr sz="971" spc="-4" dirty="0">
                <a:latin typeface="Arial MT"/>
                <a:cs typeface="Arial MT"/>
              </a:rPr>
              <a:t> </a:t>
            </a:r>
            <a:r>
              <a:rPr sz="971" dirty="0">
                <a:latin typeface="Arial MT"/>
                <a:cs typeface="Arial MT"/>
              </a:rPr>
              <a:t>in</a:t>
            </a:r>
            <a:r>
              <a:rPr sz="971" spc="-9" dirty="0">
                <a:latin typeface="Arial MT"/>
                <a:cs typeface="Arial MT"/>
              </a:rPr>
              <a:t> Communications,</a:t>
            </a:r>
            <a:r>
              <a:rPr sz="971" spc="-4" dirty="0">
                <a:latin typeface="Arial MT"/>
                <a:cs typeface="Arial MT"/>
              </a:rPr>
              <a:t> </a:t>
            </a:r>
            <a:r>
              <a:rPr sz="971" spc="-18" dirty="0">
                <a:latin typeface="Arial MT"/>
                <a:cs typeface="Arial MT"/>
              </a:rPr>
              <a:t>2013</a:t>
            </a:r>
            <a:endParaRPr sz="971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16906" y="243225"/>
            <a:ext cx="8872748" cy="855988"/>
          </a:xfrm>
          <a:prstGeom prst="rect">
            <a:avLst/>
          </a:prstGeom>
        </p:spPr>
        <p:txBody>
          <a:bodyPr vert="horz" wrap="square" lIns="0" tIns="177277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32" dirty="0"/>
              <a:t>IoT</a:t>
            </a:r>
            <a:r>
              <a:rPr spc="-35" dirty="0"/>
              <a:t> </a:t>
            </a:r>
            <a:r>
              <a:rPr spc="-9" dirty="0"/>
              <a:t>Challenges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390307" y="5789369"/>
            <a:ext cx="1157367" cy="14305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pPr marL="33619">
              <a:lnSpc>
                <a:spcPts val="1094"/>
              </a:lnSpc>
            </a:pPr>
            <a:r>
              <a:rPr spc="-22" dirty="0"/>
              <a:t>14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29106" y="2301016"/>
            <a:ext cx="3057525" cy="2288394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313221" indent="-302015">
              <a:spcBef>
                <a:spcPts val="596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spc="-9" dirty="0">
                <a:latin typeface="Calibri"/>
                <a:cs typeface="Calibri"/>
              </a:rPr>
              <a:t>Interfacing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spc="-9" dirty="0">
                <a:latin typeface="Calibri"/>
                <a:cs typeface="Calibri"/>
              </a:rPr>
              <a:t>Interoperability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Data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storage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Data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Analytics</a:t>
            </a:r>
            <a:endParaRPr sz="2118">
              <a:latin typeface="Calibri"/>
              <a:cs typeface="Calibri"/>
            </a:endParaRPr>
          </a:p>
          <a:p>
            <a:pPr marL="313221" marR="4483" indent="-302575">
              <a:spcBef>
                <a:spcPts val="512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Complexity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 </a:t>
            </a:r>
            <a:r>
              <a:rPr sz="2118" dirty="0">
                <a:latin typeface="Calibri"/>
                <a:cs typeface="Calibri"/>
              </a:rPr>
              <a:t>(e.g.,</a:t>
            </a:r>
            <a:r>
              <a:rPr sz="2118" spc="-9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SDN)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33855" y="2301016"/>
            <a:ext cx="3019425" cy="1962472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313221" indent="-302015">
              <a:spcBef>
                <a:spcPts val="596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spc="-9" dirty="0">
                <a:latin typeface="Calibri"/>
                <a:cs typeface="Calibri"/>
              </a:rPr>
              <a:t>Security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spc="-9" dirty="0">
                <a:latin typeface="Calibri"/>
                <a:cs typeface="Calibri"/>
              </a:rPr>
              <a:t>Scalability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Energy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efficiency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Bandwidth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12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Modeling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Analysis</a:t>
            </a:r>
            <a:endParaRPr sz="2118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1412" y="262938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8" dirty="0"/>
              <a:t>Considerations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15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533855" y="2231092"/>
            <a:ext cx="6989109" cy="242101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280722" indent="-302575">
              <a:spcBef>
                <a:spcPts val="88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Communication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between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device(s)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outside </a:t>
            </a:r>
            <a:r>
              <a:rPr sz="2118" dirty="0">
                <a:latin typeface="Calibri"/>
                <a:cs typeface="Calibri"/>
              </a:rPr>
              <a:t>world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dictates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</a:t>
            </a:r>
            <a:r>
              <a:rPr sz="2118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architecture</a:t>
            </a:r>
            <a:r>
              <a:rPr sz="2118" spc="-9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313781" marR="113185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Choice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communication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technology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dictates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device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hardware</a:t>
            </a:r>
            <a:r>
              <a:rPr sz="2118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requirements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118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costs</a:t>
            </a:r>
            <a:r>
              <a:rPr sz="2118" spc="-9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313781" marR="4483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Due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presence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numerous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applications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enabled </a:t>
            </a:r>
            <a:r>
              <a:rPr sz="2118" dirty="0">
                <a:latin typeface="Calibri"/>
                <a:cs typeface="Calibri"/>
              </a:rPr>
              <a:t>devices,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single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networking</a:t>
            </a:r>
            <a:r>
              <a:rPr sz="2118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paradigm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sufficient</a:t>
            </a:r>
            <a:r>
              <a:rPr sz="2118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to </a:t>
            </a:r>
            <a:r>
              <a:rPr sz="2118" dirty="0">
                <a:latin typeface="Calibri"/>
                <a:cs typeface="Calibri"/>
              </a:rPr>
              <a:t>address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all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needs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consumer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or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device.</a:t>
            </a:r>
            <a:endParaRPr sz="2118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dirty="0"/>
              <a:t>Complexity</a:t>
            </a:r>
            <a:r>
              <a:rPr spc="132" dirty="0"/>
              <a:t> </a:t>
            </a:r>
            <a:r>
              <a:rPr dirty="0"/>
              <a:t>of</a:t>
            </a:r>
            <a:r>
              <a:rPr spc="137" dirty="0"/>
              <a:t> </a:t>
            </a:r>
            <a:r>
              <a:rPr spc="-9" dirty="0"/>
              <a:t>Networks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16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601090" y="2298327"/>
            <a:ext cx="4906496" cy="164092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079" indent="-402873">
              <a:spcBef>
                <a:spcPts val="88"/>
              </a:spcBef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Growth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networks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spc="-18" dirty="0">
                <a:latin typeface="Calibri"/>
                <a:cs typeface="Calibri"/>
              </a:rPr>
              <a:t>Interference</a:t>
            </a:r>
            <a:r>
              <a:rPr sz="2118" dirty="0">
                <a:latin typeface="Calibri"/>
                <a:cs typeface="Calibri"/>
              </a:rPr>
              <a:t> among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devices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Network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spc="-9" dirty="0">
                <a:latin typeface="Calibri"/>
                <a:cs typeface="Calibri"/>
              </a:rPr>
              <a:t>Heterogeneity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networks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Wingdings"/>
              <a:buChar char="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Protocol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standardization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within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networks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8607" y="4728210"/>
            <a:ext cx="7083799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b="1" dirty="0">
                <a:latin typeface="Arial"/>
                <a:cs typeface="Arial"/>
              </a:rPr>
              <a:t>Source:</a:t>
            </a:r>
            <a:r>
              <a:rPr sz="1059" b="1" spc="-9" dirty="0">
                <a:latin typeface="Arial"/>
                <a:cs typeface="Arial"/>
              </a:rPr>
              <a:t> </a:t>
            </a:r>
            <a:r>
              <a:rPr sz="1059" dirty="0">
                <a:latin typeface="Arial MT"/>
                <a:cs typeface="Arial MT"/>
              </a:rPr>
              <a:t>O</a:t>
            </a:r>
            <a:r>
              <a:rPr sz="1059" spc="-4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Vermesan,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71" dirty="0">
                <a:latin typeface="Arial MT"/>
                <a:cs typeface="Arial MT"/>
              </a:rPr>
              <a:t>P.</a:t>
            </a:r>
            <a:r>
              <a:rPr sz="1059" spc="4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Friess</a:t>
            </a:r>
            <a:r>
              <a:rPr sz="1059" b="1" dirty="0">
                <a:latin typeface="Arial"/>
                <a:cs typeface="Arial"/>
              </a:rPr>
              <a:t>, “</a:t>
            </a:r>
            <a:r>
              <a:rPr sz="1059" dirty="0">
                <a:latin typeface="Arial MT"/>
                <a:cs typeface="Arial MT"/>
              </a:rPr>
              <a:t>Internet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of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Things</a:t>
            </a:r>
            <a:r>
              <a:rPr sz="1059" spc="-9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–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Converging</a:t>
            </a:r>
            <a:r>
              <a:rPr sz="1059" spc="-35" dirty="0">
                <a:latin typeface="Arial MT"/>
                <a:cs typeface="Arial MT"/>
              </a:rPr>
              <a:t> </a:t>
            </a:r>
            <a:r>
              <a:rPr sz="1059" spc="-18" dirty="0">
                <a:latin typeface="Arial MT"/>
                <a:cs typeface="Arial MT"/>
              </a:rPr>
              <a:t>Technologies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for</a:t>
            </a:r>
            <a:r>
              <a:rPr sz="1059" spc="-9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Smart</a:t>
            </a:r>
            <a:r>
              <a:rPr sz="1059" spc="-9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Environments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and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Integrated </a:t>
            </a:r>
            <a:r>
              <a:rPr sz="1059" dirty="0">
                <a:latin typeface="Arial MT"/>
                <a:cs typeface="Arial MT"/>
              </a:rPr>
              <a:t>Ecosystems”,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River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Publishers,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Series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in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Communications,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18" dirty="0">
                <a:latin typeface="Arial MT"/>
                <a:cs typeface="Arial MT"/>
              </a:rPr>
              <a:t>2013</a:t>
            </a:r>
            <a:endParaRPr sz="1059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84" dirty="0"/>
              <a:t>Wireless</a:t>
            </a:r>
            <a:r>
              <a:rPr spc="-40" dirty="0"/>
              <a:t> </a:t>
            </a:r>
            <a:r>
              <a:rPr spc="-9" dirty="0"/>
              <a:t>Networks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17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399385" y="2152426"/>
            <a:ext cx="6161554" cy="19668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079" indent="-402873">
              <a:spcBef>
                <a:spcPts val="88"/>
              </a:spcBef>
              <a:buFont typeface="Arial MT"/>
              <a:buChar char="•"/>
              <a:tabLst>
                <a:tab pos="414079" algn="l"/>
              </a:tabLst>
            </a:pPr>
            <a:r>
              <a:rPr sz="2118" spc="-26" dirty="0">
                <a:latin typeface="Calibri"/>
                <a:cs typeface="Calibri"/>
              </a:rPr>
              <a:t>Traffic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load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</a:t>
            </a:r>
            <a:endParaRPr sz="2118">
              <a:latin typeface="Calibri"/>
              <a:cs typeface="Calibri"/>
            </a:endParaRPr>
          </a:p>
          <a:p>
            <a:pPr marL="414640" marR="4483" indent="-403433">
              <a:buFont typeface="Arial MT"/>
              <a:buChar char="•"/>
              <a:tabLst>
                <a:tab pos="414640" algn="l"/>
              </a:tabLst>
            </a:pPr>
            <a:r>
              <a:rPr sz="2118" spc="-18" dirty="0">
                <a:latin typeface="Calibri"/>
                <a:cs typeface="Calibri"/>
              </a:rPr>
              <a:t>Variations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wireless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networks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–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Wireless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Body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Area </a:t>
            </a:r>
            <a:r>
              <a:rPr sz="2118" dirty="0">
                <a:latin typeface="Calibri"/>
                <a:cs typeface="Calibri"/>
              </a:rPr>
              <a:t>Networks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other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Personal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Area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Networks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118" spc="-9" dirty="0">
                <a:latin typeface="Calibri"/>
                <a:cs typeface="Calibri"/>
              </a:rPr>
              <a:t>Interoperability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118" dirty="0">
                <a:latin typeface="Calibri"/>
                <a:cs typeface="Calibri"/>
              </a:rPr>
              <a:t>Network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</a:t>
            </a:r>
            <a:endParaRPr sz="2118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118" spc="-9" dirty="0">
                <a:latin typeface="Calibri"/>
                <a:cs typeface="Calibri"/>
              </a:rPr>
              <a:t>Overlay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networks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8607" y="4728210"/>
            <a:ext cx="7121898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b="1" dirty="0">
                <a:latin typeface="Arial"/>
                <a:cs typeface="Arial"/>
              </a:rPr>
              <a:t>Source:</a:t>
            </a:r>
            <a:r>
              <a:rPr sz="1059" b="1" spc="-13" dirty="0">
                <a:latin typeface="Arial"/>
                <a:cs typeface="Arial"/>
              </a:rPr>
              <a:t> </a:t>
            </a:r>
            <a:r>
              <a:rPr sz="1059" dirty="0">
                <a:latin typeface="Arial MT"/>
                <a:cs typeface="Arial MT"/>
              </a:rPr>
              <a:t>O.</a:t>
            </a:r>
            <a:r>
              <a:rPr sz="1059" spc="-9" dirty="0">
                <a:latin typeface="Arial MT"/>
                <a:cs typeface="Arial MT"/>
              </a:rPr>
              <a:t> Vermesan,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spc="-71" dirty="0">
                <a:latin typeface="Arial MT"/>
                <a:cs typeface="Arial MT"/>
              </a:rPr>
              <a:t>P.</a:t>
            </a:r>
            <a:r>
              <a:rPr sz="1059" spc="-4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Friess</a:t>
            </a:r>
            <a:r>
              <a:rPr sz="1059" b="1" dirty="0">
                <a:latin typeface="Arial"/>
                <a:cs typeface="Arial"/>
              </a:rPr>
              <a:t>,</a:t>
            </a:r>
            <a:r>
              <a:rPr sz="1059" b="1" spc="-9" dirty="0">
                <a:latin typeface="Arial"/>
                <a:cs typeface="Arial"/>
              </a:rPr>
              <a:t> </a:t>
            </a:r>
            <a:r>
              <a:rPr sz="1059" b="1" dirty="0">
                <a:latin typeface="Arial"/>
                <a:cs typeface="Arial"/>
              </a:rPr>
              <a:t>“</a:t>
            </a:r>
            <a:r>
              <a:rPr sz="1059" dirty="0">
                <a:latin typeface="Arial MT"/>
                <a:cs typeface="Arial MT"/>
              </a:rPr>
              <a:t>Internet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of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Things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–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Converging</a:t>
            </a:r>
            <a:r>
              <a:rPr sz="1059" spc="-31" dirty="0">
                <a:latin typeface="Arial MT"/>
                <a:cs typeface="Arial MT"/>
              </a:rPr>
              <a:t> </a:t>
            </a:r>
            <a:r>
              <a:rPr sz="1059" spc="-18" dirty="0">
                <a:latin typeface="Arial MT"/>
                <a:cs typeface="Arial MT"/>
              </a:rPr>
              <a:t>Technologies</a:t>
            </a:r>
            <a:r>
              <a:rPr sz="1059" spc="-31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for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Smart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Environments</a:t>
            </a:r>
            <a:r>
              <a:rPr sz="1059" spc="-31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and</a:t>
            </a:r>
            <a:r>
              <a:rPr sz="1059" spc="-13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Integrated </a:t>
            </a:r>
            <a:r>
              <a:rPr sz="1059" dirty="0">
                <a:latin typeface="Arial MT"/>
                <a:cs typeface="Arial MT"/>
              </a:rPr>
              <a:t>Ecosystems”,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River</a:t>
            </a:r>
            <a:r>
              <a:rPr sz="1059" spc="-18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Publishers,</a:t>
            </a:r>
            <a:r>
              <a:rPr sz="1059" spc="-26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Series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dirty="0">
                <a:latin typeface="Arial MT"/>
                <a:cs typeface="Arial MT"/>
              </a:rPr>
              <a:t>in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9" dirty="0">
                <a:latin typeface="Arial MT"/>
                <a:cs typeface="Arial MT"/>
              </a:rPr>
              <a:t>Communications,</a:t>
            </a:r>
            <a:r>
              <a:rPr sz="1059" spc="-22" dirty="0">
                <a:latin typeface="Arial MT"/>
                <a:cs typeface="Arial MT"/>
              </a:rPr>
              <a:t> </a:t>
            </a:r>
            <a:r>
              <a:rPr sz="1059" spc="-18" dirty="0">
                <a:latin typeface="Arial MT"/>
                <a:cs typeface="Arial MT"/>
              </a:rPr>
              <a:t>2013</a:t>
            </a:r>
            <a:endParaRPr sz="1059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5806"/>
            <a:ext cx="8872748" cy="953527"/>
          </a:xfrm>
          <a:prstGeom prst="rect">
            <a:avLst/>
          </a:prstGeom>
        </p:spPr>
        <p:txBody>
          <a:bodyPr vert="horz" wrap="square" lIns="0" tIns="212912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Scalability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3662" cy="2241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204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33619">
              <a:lnSpc>
                <a:spcPts val="1094"/>
              </a:lnSpc>
            </a:pPr>
            <a:fld id="{81D60167-4931-47E6-BA6A-407CBD079E47}" type="slidenum">
              <a:rPr lang="en-US" spc="-25" smtClean="0"/>
              <a:pPr marL="38100">
                <a:lnSpc>
                  <a:spcPts val="1240"/>
                </a:lnSpc>
              </a:pPr>
              <a:t>18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399385" y="2295638"/>
            <a:ext cx="5925670" cy="1532245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079" indent="-402873">
              <a:spcBef>
                <a:spcPts val="88"/>
              </a:spcBef>
              <a:buFont typeface="Arial MT"/>
              <a:buChar char="•"/>
              <a:tabLst>
                <a:tab pos="414079" algn="l"/>
              </a:tabLst>
            </a:pPr>
            <a:r>
              <a:rPr sz="2471" dirty="0">
                <a:latin typeface="Calibri"/>
                <a:cs typeface="Calibri"/>
              </a:rPr>
              <a:t>Flexibility</a:t>
            </a:r>
            <a:r>
              <a:rPr sz="2471" spc="-79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within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Internet</a:t>
            </a:r>
            <a:endParaRPr sz="2471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471" dirty="0">
                <a:latin typeface="Calibri"/>
                <a:cs typeface="Calibri"/>
              </a:rPr>
              <a:t>IoT</a:t>
            </a:r>
            <a:r>
              <a:rPr sz="2471" spc="-18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integration</a:t>
            </a:r>
            <a:endParaRPr sz="2471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471" dirty="0">
                <a:latin typeface="Calibri"/>
                <a:cs typeface="Calibri"/>
              </a:rPr>
              <a:t>Large</a:t>
            </a:r>
            <a:r>
              <a:rPr sz="2471" spc="-79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scale</a:t>
            </a:r>
            <a:r>
              <a:rPr sz="2471" spc="-57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deployment</a:t>
            </a:r>
            <a:endParaRPr sz="2471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471" dirty="0">
                <a:latin typeface="Calibri"/>
                <a:cs typeface="Calibri"/>
              </a:rPr>
              <a:t>Real‐time</a:t>
            </a:r>
            <a:r>
              <a:rPr sz="2471" spc="-57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connectivity</a:t>
            </a:r>
            <a:r>
              <a:rPr sz="2471" spc="-40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of</a:t>
            </a:r>
            <a:r>
              <a:rPr sz="2471" spc="-35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billions</a:t>
            </a:r>
            <a:r>
              <a:rPr sz="2471" spc="-35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of</a:t>
            </a:r>
            <a:r>
              <a:rPr sz="2471" spc="-40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devices</a:t>
            </a:r>
            <a:endParaRPr sz="2471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130443" y="2166546"/>
            <a:ext cx="7275419" cy="2828607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716654" indent="-302015">
              <a:spcBef>
                <a:spcPts val="596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RFID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acronym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“radio‐frequency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identification”</a:t>
            </a:r>
            <a:endParaRPr sz="2118" dirty="0">
              <a:latin typeface="Calibri"/>
              <a:cs typeface="Calibri"/>
            </a:endParaRPr>
          </a:p>
          <a:p>
            <a:pPr marL="716094" marR="172580" indent="-302015">
              <a:spcBef>
                <a:spcPts val="507"/>
              </a:spcBef>
              <a:buFont typeface="Wingdings"/>
              <a:buChar char=""/>
              <a:tabLst>
                <a:tab pos="717215" algn="l"/>
              </a:tabLst>
            </a:pPr>
            <a:r>
              <a:rPr sz="2118" dirty="0">
                <a:latin typeface="Calibri"/>
                <a:cs typeface="Calibri"/>
              </a:rPr>
              <a:t>Data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digitally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encoded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RFID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tags,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read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by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44" dirty="0">
                <a:latin typeface="Calibri"/>
                <a:cs typeface="Calibri"/>
              </a:rPr>
              <a:t>a 	</a:t>
            </a:r>
            <a:r>
              <a:rPr sz="2118" spc="-9" dirty="0">
                <a:latin typeface="Calibri"/>
                <a:cs typeface="Calibri"/>
              </a:rPr>
              <a:t>reader.</a:t>
            </a:r>
            <a:endParaRPr sz="2118" dirty="0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Somewhat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similar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barcodes.</a:t>
            </a:r>
            <a:endParaRPr sz="2118" dirty="0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Data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read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from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tags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are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stored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database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by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reader.</a:t>
            </a:r>
            <a:endParaRPr sz="2118" dirty="0">
              <a:latin typeface="Calibri"/>
              <a:cs typeface="Calibri"/>
            </a:endParaRPr>
          </a:p>
          <a:p>
            <a:pPr marL="717215" marR="4483" indent="-302575">
              <a:spcBef>
                <a:spcPts val="512"/>
              </a:spcBef>
              <a:buFont typeface="Wingdings"/>
              <a:buChar char=""/>
              <a:tabLst>
                <a:tab pos="717215" algn="l"/>
              </a:tabLst>
            </a:pPr>
            <a:r>
              <a:rPr sz="2118" dirty="0">
                <a:latin typeface="Calibri"/>
                <a:cs typeface="Calibri"/>
              </a:rPr>
              <a:t>As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compared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traditional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barcodes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QR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codes,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RFID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tag </a:t>
            </a:r>
            <a:r>
              <a:rPr sz="2118" dirty="0">
                <a:latin typeface="Calibri"/>
                <a:cs typeface="Calibri"/>
              </a:rPr>
              <a:t>data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read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outside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line‐of‐sight.</a:t>
            </a:r>
            <a:endParaRPr sz="2118" dirty="0">
              <a:latin typeface="Calibri"/>
              <a:cs typeface="Calibri"/>
            </a:endParaRPr>
          </a:p>
          <a:p>
            <a:pPr marL="11206">
              <a:spcBef>
                <a:spcPts val="441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does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RFID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work?</a:t>
            </a:r>
            <a:r>
              <a:rPr sz="1059" dirty="0">
                <a:latin typeface="Calibri"/>
                <a:cs typeface="Calibri"/>
              </a:rPr>
              <a:t>”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AB&amp;R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(Online)</a:t>
            </a:r>
            <a:endParaRPr sz="1059" dirty="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Introduction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19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267131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194" dirty="0"/>
              <a:t>RFID</a:t>
            </a:r>
            <a:r>
              <a:rPr spc="26" dirty="0"/>
              <a:t> </a:t>
            </a:r>
            <a:r>
              <a:rPr spc="-26" dirty="0"/>
              <a:t>Features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20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2" y="2166545"/>
            <a:ext cx="7347697" cy="2842344"/>
          </a:xfrm>
          <a:prstGeom prst="rect">
            <a:avLst/>
          </a:prstGeom>
        </p:spPr>
        <p:txBody>
          <a:bodyPr vert="horz" wrap="square" lIns="0" tIns="43143" rIns="0" bIns="0" rtlCol="0">
            <a:spAutoFit/>
          </a:bodyPr>
          <a:lstStyle/>
          <a:p>
            <a:pPr marL="716654" indent="-302015">
              <a:spcBef>
                <a:spcPts val="340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RFID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tag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consists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integrated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circuit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antenna.</a:t>
            </a:r>
            <a:endParaRPr sz="2118" dirty="0">
              <a:latin typeface="Calibri"/>
              <a:cs typeface="Calibri"/>
            </a:endParaRPr>
          </a:p>
          <a:p>
            <a:pPr marL="716654" marR="4483" indent="-302575">
              <a:lnSpc>
                <a:spcPts val="2285"/>
              </a:lnSpc>
              <a:spcBef>
                <a:spcPts val="543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The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tag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covered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by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protective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material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also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acts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as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shield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against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various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environmental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effects.</a:t>
            </a:r>
            <a:endParaRPr sz="2118" dirty="0">
              <a:latin typeface="Calibri"/>
              <a:cs typeface="Calibri"/>
            </a:endParaRPr>
          </a:p>
          <a:p>
            <a:pPr marL="716094" indent="-302015">
              <a:spcBef>
                <a:spcPts val="224"/>
              </a:spcBef>
              <a:buFont typeface="Wingdings"/>
              <a:buChar char=""/>
              <a:tabLst>
                <a:tab pos="716094" algn="l"/>
              </a:tabLst>
            </a:pPr>
            <a:r>
              <a:rPr sz="2118" spc="-35" dirty="0">
                <a:latin typeface="Calibri"/>
                <a:cs typeface="Calibri"/>
              </a:rPr>
              <a:t>Tags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may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passive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or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active.</a:t>
            </a:r>
            <a:endParaRPr sz="2118" dirty="0">
              <a:latin typeface="Calibri"/>
              <a:cs typeface="Calibri"/>
            </a:endParaRPr>
          </a:p>
          <a:p>
            <a:pPr marL="716094" indent="-302015">
              <a:spcBef>
                <a:spcPts val="251"/>
              </a:spcBef>
              <a:buFont typeface="Wingdings"/>
              <a:buChar char=""/>
              <a:tabLst>
                <a:tab pos="716094" algn="l"/>
              </a:tabLst>
            </a:pPr>
            <a:r>
              <a:rPr sz="2118" spc="-9" dirty="0">
                <a:latin typeface="Calibri"/>
                <a:cs typeface="Calibri"/>
              </a:rPr>
              <a:t>Passive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RFID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tags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are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most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widely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used.</a:t>
            </a:r>
            <a:endParaRPr sz="2118" dirty="0">
              <a:latin typeface="Calibri"/>
              <a:cs typeface="Calibri"/>
            </a:endParaRPr>
          </a:p>
          <a:p>
            <a:pPr marL="717215" marR="320505" indent="-302575">
              <a:lnSpc>
                <a:spcPts val="2285"/>
              </a:lnSpc>
              <a:spcBef>
                <a:spcPts val="547"/>
              </a:spcBef>
              <a:buFont typeface="Wingdings"/>
              <a:buChar char=""/>
              <a:tabLst>
                <a:tab pos="717215" algn="l"/>
              </a:tabLst>
            </a:pPr>
            <a:r>
              <a:rPr sz="2118" spc="-9" dirty="0">
                <a:latin typeface="Calibri"/>
                <a:cs typeface="Calibri"/>
              </a:rPr>
              <a:t>Passive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tags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have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powered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by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reader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inductively</a:t>
            </a:r>
            <a:r>
              <a:rPr sz="2118" spc="-9" dirty="0">
                <a:latin typeface="Calibri"/>
                <a:cs typeface="Calibri"/>
              </a:rPr>
              <a:t> before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they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transmit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information,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whereas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active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tags </a:t>
            </a:r>
            <a:r>
              <a:rPr sz="2118" dirty="0">
                <a:latin typeface="Calibri"/>
                <a:cs typeface="Calibri"/>
              </a:rPr>
              <a:t>have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their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own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power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supply.</a:t>
            </a:r>
            <a:endParaRPr sz="2118" dirty="0">
              <a:latin typeface="Calibri"/>
              <a:cs typeface="Calibri"/>
            </a:endParaRPr>
          </a:p>
          <a:p>
            <a:pPr marL="11206">
              <a:lnSpc>
                <a:spcPts val="1178"/>
              </a:lnSpc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does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RFID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work?</a:t>
            </a:r>
            <a:r>
              <a:rPr sz="1059" dirty="0">
                <a:latin typeface="Calibri"/>
                <a:cs typeface="Calibri"/>
              </a:rPr>
              <a:t>”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AB&amp;R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(Online)</a:t>
            </a:r>
            <a:endParaRPr sz="1059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0879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9545" y="431034"/>
            <a:ext cx="5008357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Working</a:t>
            </a:r>
            <a:r>
              <a:rPr spc="-150" dirty="0"/>
              <a:t> </a:t>
            </a:r>
            <a:r>
              <a:rPr spc="-9" dirty="0"/>
              <a:t>Principle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3855" y="1933912"/>
            <a:ext cx="7052982" cy="2706706"/>
          </a:xfrm>
          <a:prstGeom prst="rect">
            <a:avLst/>
          </a:prstGeom>
        </p:spPr>
        <p:txBody>
          <a:bodyPr vert="horz" wrap="square" lIns="0" tIns="44263" rIns="0" bIns="0" rtlCol="0">
            <a:spAutoFit/>
          </a:bodyPr>
          <a:lstStyle/>
          <a:p>
            <a:pPr marL="313221" marR="444897" indent="-302575">
              <a:lnSpc>
                <a:spcPts val="2100"/>
              </a:lnSpc>
              <a:spcBef>
                <a:spcPts val="349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dirty="0">
                <a:latin typeface="Calibri"/>
                <a:cs typeface="Calibri"/>
              </a:rPr>
              <a:t>Derived</a:t>
            </a:r>
            <a:r>
              <a:rPr sz="1941" spc="-8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from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Automatic</a:t>
            </a:r>
            <a:r>
              <a:rPr sz="1941" spc="-7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Identification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7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Data</a:t>
            </a:r>
            <a:r>
              <a:rPr sz="1941" spc="-7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Capture</a:t>
            </a:r>
            <a:r>
              <a:rPr sz="1941" spc="-66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(AIDC) technology.</a:t>
            </a:r>
            <a:endParaRPr sz="1941">
              <a:latin typeface="Calibri"/>
              <a:cs typeface="Calibri"/>
            </a:endParaRPr>
          </a:p>
          <a:p>
            <a:pPr marL="313221" marR="4483" indent="-302575">
              <a:lnSpc>
                <a:spcPts val="2100"/>
              </a:lnSpc>
              <a:spcBef>
                <a:spcPts val="459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dirty="0">
                <a:latin typeface="Calibri"/>
                <a:cs typeface="Calibri"/>
              </a:rPr>
              <a:t>AIDC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performs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object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identification,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object</a:t>
            </a:r>
            <a:r>
              <a:rPr sz="1941" spc="-7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data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collection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and </a:t>
            </a:r>
            <a:r>
              <a:rPr sz="1941" dirty="0">
                <a:latin typeface="Calibri"/>
                <a:cs typeface="Calibri"/>
              </a:rPr>
              <a:t>mapping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collected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data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computer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systems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with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little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or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no </a:t>
            </a:r>
            <a:r>
              <a:rPr sz="1941" dirty="0">
                <a:latin typeface="Calibri"/>
                <a:cs typeface="Calibri"/>
              </a:rPr>
              <a:t>human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intervention.</a:t>
            </a:r>
            <a:endParaRPr sz="1941">
              <a:latin typeface="Calibri"/>
              <a:cs typeface="Calibri"/>
            </a:endParaRPr>
          </a:p>
          <a:p>
            <a:pPr marL="313221" indent="-302015">
              <a:spcBef>
                <a:spcPts val="194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dirty="0">
                <a:latin typeface="Calibri"/>
                <a:cs typeface="Calibri"/>
              </a:rPr>
              <a:t>AIDC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uses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wired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communication</a:t>
            </a:r>
            <a:endParaRPr sz="1941">
              <a:latin typeface="Calibri"/>
              <a:cs typeface="Calibri"/>
            </a:endParaRPr>
          </a:p>
          <a:p>
            <a:pPr marL="313221" indent="-302015">
              <a:spcBef>
                <a:spcPts val="234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RFID</a:t>
            </a:r>
            <a:r>
              <a:rPr sz="1941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uses</a:t>
            </a:r>
            <a:r>
              <a:rPr sz="1941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radio</a:t>
            </a:r>
            <a:r>
              <a:rPr sz="1941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waves</a:t>
            </a:r>
            <a:r>
              <a:rPr sz="1941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941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perform</a:t>
            </a:r>
            <a:r>
              <a:rPr sz="1941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AIDC</a:t>
            </a:r>
            <a:r>
              <a:rPr sz="1941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functions</a:t>
            </a:r>
            <a:r>
              <a:rPr sz="1941" spc="-9" dirty="0">
                <a:latin typeface="Calibri"/>
                <a:cs typeface="Calibri"/>
              </a:rPr>
              <a:t>.</a:t>
            </a:r>
            <a:endParaRPr sz="1941">
              <a:latin typeface="Calibri"/>
              <a:cs typeface="Calibri"/>
            </a:endParaRPr>
          </a:p>
          <a:p>
            <a:pPr marL="313221" marR="423045" indent="-302575">
              <a:lnSpc>
                <a:spcPts val="2100"/>
              </a:lnSpc>
              <a:spcBef>
                <a:spcPts val="494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dirty="0">
                <a:latin typeface="Calibri"/>
                <a:cs typeface="Calibri"/>
              </a:rPr>
              <a:t>The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main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components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RFID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system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include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RFID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tag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or </a:t>
            </a:r>
            <a:r>
              <a:rPr sz="1941" dirty="0">
                <a:latin typeface="Calibri"/>
                <a:cs typeface="Calibri"/>
              </a:rPr>
              <a:t>smart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label,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RFID</a:t>
            </a:r>
            <a:r>
              <a:rPr sz="1941" spc="-22" dirty="0">
                <a:latin typeface="Calibri"/>
                <a:cs typeface="Calibri"/>
              </a:rPr>
              <a:t> reader,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antenna.</a:t>
            </a:r>
            <a:endParaRPr sz="1941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0443" y="4804857"/>
            <a:ext cx="2623857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does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RFID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work?</a:t>
            </a:r>
            <a:r>
              <a:rPr sz="1059" dirty="0">
                <a:latin typeface="Calibri"/>
                <a:cs typeface="Calibri"/>
              </a:rPr>
              <a:t>”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AB&amp;R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5146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9386" y="1664074"/>
            <a:ext cx="7810052" cy="301751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22</a:t>
            </a:fld>
            <a:endParaRPr spc="-22" dirty="0"/>
          </a:p>
        </p:txBody>
      </p:sp>
    </p:spTree>
    <p:extLst>
      <p:ext uri="{BB962C8B-B14F-4D97-AF65-F5344CB8AC3E}">
        <p14:creationId xmlns:p14="http://schemas.microsoft.com/office/powerpoint/2010/main" val="1881740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23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3" y="2032075"/>
            <a:ext cx="7237319" cy="2969671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716654" indent="-302015">
              <a:spcBef>
                <a:spcPts val="596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spc="-9" dirty="0">
                <a:latin typeface="Calibri"/>
                <a:cs typeface="Calibri"/>
              </a:rPr>
              <a:t>Inventory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</a:t>
            </a:r>
            <a:endParaRPr sz="2118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Asset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tracking</a:t>
            </a:r>
            <a:endParaRPr sz="2118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spc="-9" dirty="0">
                <a:latin typeface="Calibri"/>
                <a:cs typeface="Calibri"/>
              </a:rPr>
              <a:t>Personnel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tracking</a:t>
            </a:r>
            <a:endParaRPr sz="2118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Controlling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access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restricted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areas</a:t>
            </a:r>
            <a:endParaRPr sz="2118">
              <a:latin typeface="Calibri"/>
              <a:cs typeface="Calibri"/>
            </a:endParaRPr>
          </a:p>
          <a:p>
            <a:pPr marL="716654" indent="-302015">
              <a:spcBef>
                <a:spcPts val="512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ID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badging</a:t>
            </a:r>
            <a:endParaRPr sz="2118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Supply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chain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management</a:t>
            </a:r>
            <a:endParaRPr sz="2118">
              <a:latin typeface="Calibri"/>
              <a:cs typeface="Calibri"/>
            </a:endParaRPr>
          </a:p>
          <a:p>
            <a:pPr marL="716654" indent="-302015">
              <a:spcBef>
                <a:spcPts val="507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spc="-9" dirty="0">
                <a:latin typeface="Calibri"/>
                <a:cs typeface="Calibri"/>
              </a:rPr>
              <a:t>Counterfeit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prevention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(e.g.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pharmaceutical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industry)</a:t>
            </a:r>
            <a:endParaRPr sz="2118">
              <a:latin typeface="Calibri"/>
              <a:cs typeface="Calibri"/>
            </a:endParaRPr>
          </a:p>
          <a:p>
            <a:pPr marL="11206">
              <a:spcBef>
                <a:spcPts val="485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does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RFID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work?</a:t>
            </a:r>
            <a:r>
              <a:rPr sz="1059" dirty="0">
                <a:latin typeface="Calibri"/>
                <a:cs typeface="Calibri"/>
              </a:rPr>
              <a:t>”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AB&amp;R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65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ZigBee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ZigBee communication protocol :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ZigBee is newly developed technology that works on IEEE standard 802.15.4, which can be used in the wireless sensor network (WSN). </a:t>
            </a:r>
          </a:p>
          <a:p>
            <a:pPr algn="just"/>
            <a:r>
              <a:rPr lang="en-US" dirty="0"/>
              <a:t>The low data rates, low power consumption, low cost are main features of ZigBee. </a:t>
            </a:r>
          </a:p>
          <a:p>
            <a:pPr algn="just"/>
            <a:r>
              <a:rPr lang="en-US" dirty="0"/>
              <a:t>The </a:t>
            </a:r>
            <a:r>
              <a:rPr lang="en-US" b="1" dirty="0"/>
              <a:t>ZigBee</a:t>
            </a:r>
            <a:r>
              <a:rPr lang="en-US" dirty="0"/>
              <a:t> technology is designed to carry small amounts of data over a short distance while consuming very little power.</a:t>
            </a:r>
          </a:p>
          <a:p>
            <a:pPr algn="just"/>
            <a:r>
              <a:rPr lang="en-US" dirty="0"/>
              <a:t>It is a short-range communication standard like Bluetooth and Wi-Fi, covering range of 10 to 100 meters.</a:t>
            </a:r>
          </a:p>
        </p:txBody>
      </p:sp>
    </p:spTree>
    <p:extLst>
      <p:ext uri="{BB962C8B-B14F-4D97-AF65-F5344CB8AC3E}">
        <p14:creationId xmlns:p14="http://schemas.microsoft.com/office/powerpoint/2010/main" val="926148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8" y="1139076"/>
            <a:ext cx="8792795" cy="4551270"/>
          </a:xfrm>
        </p:spPr>
      </p:pic>
    </p:spTree>
    <p:extLst>
      <p:ext uri="{BB962C8B-B14F-4D97-AF65-F5344CB8AC3E}">
        <p14:creationId xmlns:p14="http://schemas.microsoft.com/office/powerpoint/2010/main" val="11757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ounded Rectangle 29"/>
          <p:cNvSpPr>
            <a:spLocks noChangeArrowheads="1"/>
          </p:cNvSpPr>
          <p:nvPr/>
        </p:nvSpPr>
        <p:spPr bwMode="auto">
          <a:xfrm>
            <a:off x="4032024" y="2686505"/>
            <a:ext cx="989012" cy="1574800"/>
          </a:xfrm>
          <a:prstGeom prst="roundRect">
            <a:avLst>
              <a:gd name="adj" fmla="val 10838"/>
            </a:avLst>
          </a:prstGeom>
          <a:solidFill>
            <a:srgbClr val="FFFF00">
              <a:alpha val="36078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>
              <a:solidFill>
                <a:schemeClr val="tx1"/>
              </a:solidFill>
              <a:latin typeface="굴림" charset="-127"/>
            </a:endParaRPr>
          </a:p>
        </p:txBody>
      </p:sp>
      <p:sp>
        <p:nvSpPr>
          <p:cNvPr id="4099" name="Title 1"/>
          <p:cNvSpPr>
            <a:spLocks noGrp="1"/>
          </p:cNvSpPr>
          <p:nvPr>
            <p:ph type="title"/>
          </p:nvPr>
        </p:nvSpPr>
        <p:spPr>
          <a:xfrm>
            <a:off x="2113189" y="0"/>
            <a:ext cx="8047037" cy="838200"/>
          </a:xfrm>
        </p:spPr>
        <p:txBody>
          <a:bodyPr/>
          <a:lstStyle/>
          <a:p>
            <a:r>
              <a:rPr lang="en-US" altLang="en-US" dirty="0"/>
              <a:t>Bluetooth Low Energy (BLE)</a:t>
            </a:r>
          </a:p>
        </p:txBody>
      </p:sp>
      <p:sp>
        <p:nvSpPr>
          <p:cNvPr id="4100" name="Arrow: Up 5"/>
          <p:cNvSpPr>
            <a:spLocks noChangeArrowheads="1"/>
          </p:cNvSpPr>
          <p:nvPr/>
        </p:nvSpPr>
        <p:spPr bwMode="auto">
          <a:xfrm>
            <a:off x="2876550" y="966788"/>
            <a:ext cx="258762" cy="4221162"/>
          </a:xfrm>
          <a:prstGeom prst="upArrow">
            <a:avLst>
              <a:gd name="adj1" fmla="val 50000"/>
              <a:gd name="adj2" fmla="val 49996"/>
            </a:avLst>
          </a:prstGeom>
          <a:solidFill>
            <a:srgbClr val="A8DBF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endParaRPr kumimoji="0" lang="en-US" altLang="en-US" sz="1800">
              <a:solidFill>
                <a:schemeClr val="tx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4101" name="Arrow: Up 6"/>
          <p:cNvSpPr>
            <a:spLocks noChangeArrowheads="1"/>
          </p:cNvSpPr>
          <p:nvPr/>
        </p:nvSpPr>
        <p:spPr bwMode="auto">
          <a:xfrm rot="5400000">
            <a:off x="5995987" y="2317750"/>
            <a:ext cx="374650" cy="6337300"/>
          </a:xfrm>
          <a:prstGeom prst="upArrow">
            <a:avLst>
              <a:gd name="adj1" fmla="val 50000"/>
              <a:gd name="adj2" fmla="val 50041"/>
            </a:avLst>
          </a:prstGeom>
          <a:solidFill>
            <a:srgbClr val="A8DBF2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algn="ctr" eaLnBrk="1" latinLnBrk="0" hangingPunct="1">
              <a:spcBef>
                <a:spcPct val="0"/>
              </a:spcBef>
              <a:buClrTx/>
              <a:buFontTx/>
              <a:buNone/>
            </a:pPr>
            <a:endParaRPr kumimoji="0" lang="en-US" altLang="en-US" sz="1800">
              <a:solidFill>
                <a:schemeClr val="tx1"/>
              </a:solidFill>
              <a:latin typeface="Tahoma" pitchFamily="34" charset="0"/>
              <a:cs typeface="Arial" charset="0"/>
            </a:endParaRPr>
          </a:p>
        </p:txBody>
      </p:sp>
      <p:sp>
        <p:nvSpPr>
          <p:cNvPr id="4102" name="TextBox 6"/>
          <p:cNvSpPr txBox="1">
            <a:spLocks noChangeArrowheads="1"/>
          </p:cNvSpPr>
          <p:nvPr/>
        </p:nvSpPr>
        <p:spPr bwMode="auto">
          <a:xfrm>
            <a:off x="8567737" y="4673601"/>
            <a:ext cx="19192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굴림" charset="-127"/>
              </a:rPr>
              <a:t>Communication Range</a:t>
            </a:r>
          </a:p>
        </p:txBody>
      </p:sp>
      <p:sp>
        <p:nvSpPr>
          <p:cNvPr id="4103" name="TextBox 7"/>
          <p:cNvSpPr txBox="1">
            <a:spLocks noChangeArrowheads="1"/>
          </p:cNvSpPr>
          <p:nvPr/>
        </p:nvSpPr>
        <p:spPr bwMode="auto">
          <a:xfrm>
            <a:off x="1787525" y="776288"/>
            <a:ext cx="128111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  <a:latin typeface="굴림" charset="-127"/>
              </a:rPr>
              <a:t>Battery Lifetime</a:t>
            </a:r>
          </a:p>
        </p:txBody>
      </p:sp>
      <p:sp>
        <p:nvSpPr>
          <p:cNvPr id="4104" name="TextBox 8"/>
          <p:cNvSpPr txBox="1">
            <a:spLocks noChangeArrowheads="1"/>
          </p:cNvSpPr>
          <p:nvPr/>
        </p:nvSpPr>
        <p:spPr bwMode="auto">
          <a:xfrm>
            <a:off x="2187575" y="5187950"/>
            <a:ext cx="71846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굴림" charset="-127"/>
              </a:rPr>
              <a:t>Days</a:t>
            </a:r>
          </a:p>
        </p:txBody>
      </p:sp>
      <p:sp>
        <p:nvSpPr>
          <p:cNvPr id="4105" name="TextBox 9"/>
          <p:cNvSpPr txBox="1">
            <a:spLocks noChangeArrowheads="1"/>
          </p:cNvSpPr>
          <p:nvPr/>
        </p:nvSpPr>
        <p:spPr bwMode="auto">
          <a:xfrm>
            <a:off x="2090738" y="3719513"/>
            <a:ext cx="97174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굴림" charset="-127"/>
              </a:rPr>
              <a:t>Months</a:t>
            </a:r>
          </a:p>
        </p:txBody>
      </p:sp>
      <p:sp>
        <p:nvSpPr>
          <p:cNvPr id="4106" name="TextBox 10"/>
          <p:cNvSpPr txBox="1">
            <a:spLocks noChangeArrowheads="1"/>
          </p:cNvSpPr>
          <p:nvPr/>
        </p:nvSpPr>
        <p:spPr bwMode="auto">
          <a:xfrm>
            <a:off x="2179638" y="1562100"/>
            <a:ext cx="7889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굴림" charset="-127"/>
              </a:rPr>
              <a:t>Years</a:t>
            </a:r>
          </a:p>
        </p:txBody>
      </p:sp>
      <p:sp>
        <p:nvSpPr>
          <p:cNvPr id="4107" name="TextBox 11"/>
          <p:cNvSpPr txBox="1">
            <a:spLocks noChangeArrowheads="1"/>
          </p:cNvSpPr>
          <p:nvPr/>
        </p:nvSpPr>
        <p:spPr bwMode="auto">
          <a:xfrm>
            <a:off x="2921000" y="5603875"/>
            <a:ext cx="14253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굴림" charset="-127"/>
              </a:rPr>
              <a:t>Few Meters</a:t>
            </a:r>
          </a:p>
        </p:txBody>
      </p:sp>
      <p:sp>
        <p:nvSpPr>
          <p:cNvPr id="4108" name="TextBox 12"/>
          <p:cNvSpPr txBox="1">
            <a:spLocks noChangeArrowheads="1"/>
          </p:cNvSpPr>
          <p:nvPr/>
        </p:nvSpPr>
        <p:spPr bwMode="auto">
          <a:xfrm>
            <a:off x="4541838" y="5603875"/>
            <a:ext cx="298831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굴림" charset="-127"/>
              </a:rPr>
              <a:t>Tens-Hundreds of Meters</a:t>
            </a:r>
          </a:p>
        </p:txBody>
      </p:sp>
      <p:sp>
        <p:nvSpPr>
          <p:cNvPr id="4109" name="TextBox 13"/>
          <p:cNvSpPr txBox="1">
            <a:spLocks noChangeArrowheads="1"/>
          </p:cNvSpPr>
          <p:nvPr/>
        </p:nvSpPr>
        <p:spPr bwMode="auto">
          <a:xfrm>
            <a:off x="7893050" y="5580063"/>
            <a:ext cx="13676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굴림" charset="-127"/>
              </a:rPr>
              <a:t>Kiliometers</a:t>
            </a:r>
          </a:p>
        </p:txBody>
      </p:sp>
      <p:pic>
        <p:nvPicPr>
          <p:cNvPr id="4110" name="Picture 4" descr="Bildergebnis für BLE ic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862" y="2713039"/>
            <a:ext cx="927100" cy="123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1" name="Picture 8" descr="Bildergebnis für RFID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312" y="1138239"/>
            <a:ext cx="825500" cy="110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12" name="Picture 10" descr="Bildergebnis für zigbee ic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0013" y="3684588"/>
            <a:ext cx="633413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13" name="TextBox 18"/>
          <p:cNvSpPr txBox="1">
            <a:spLocks noChangeArrowheads="1"/>
          </p:cNvSpPr>
          <p:nvPr/>
        </p:nvSpPr>
        <p:spPr bwMode="auto">
          <a:xfrm>
            <a:off x="3190876" y="2246314"/>
            <a:ext cx="8659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굴림" charset="-127"/>
              </a:rPr>
              <a:t>RFID</a:t>
            </a:r>
          </a:p>
        </p:txBody>
      </p:sp>
      <p:sp>
        <p:nvSpPr>
          <p:cNvPr id="4114" name="TextBox 19"/>
          <p:cNvSpPr txBox="1">
            <a:spLocks noChangeArrowheads="1"/>
          </p:cNvSpPr>
          <p:nvPr/>
        </p:nvSpPr>
        <p:spPr bwMode="auto">
          <a:xfrm>
            <a:off x="4238626" y="3827464"/>
            <a:ext cx="74251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굴림" charset="-127"/>
              </a:rPr>
              <a:t>BLE</a:t>
            </a:r>
          </a:p>
        </p:txBody>
      </p:sp>
      <p:sp>
        <p:nvSpPr>
          <p:cNvPr id="4115" name="TextBox 20"/>
          <p:cNvSpPr txBox="1">
            <a:spLocks noChangeArrowheads="1"/>
          </p:cNvSpPr>
          <p:nvPr/>
        </p:nvSpPr>
        <p:spPr bwMode="auto">
          <a:xfrm>
            <a:off x="4691062" y="4432301"/>
            <a:ext cx="21755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1pPr>
            <a:lvl2pPr marL="742950" indent="-28575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2pPr>
            <a:lvl3pPr marL="11430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3pPr>
            <a:lvl4pPr marL="16002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4pPr>
            <a:lvl5pPr marL="2057400" indent="-228600" latinLnBrk="1">
              <a:spcBef>
                <a:spcPct val="20000"/>
              </a:spcBef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rgbClr val="420371"/>
              </a:buClr>
              <a:buFont typeface="Wingdings" pitchFamily="2" charset="2"/>
              <a:buChar char="Ø"/>
              <a:defRPr kumimoji="1" sz="2400">
                <a:solidFill>
                  <a:srgbClr val="160A44"/>
                </a:solidFill>
                <a:latin typeface="Verdana" pitchFamily="34" charset="0"/>
                <a:ea typeface="굴림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  <a:latin typeface="굴림" charset="-127"/>
              </a:rPr>
              <a:t>IEEE 802.15.4</a:t>
            </a:r>
          </a:p>
        </p:txBody>
      </p:sp>
      <p:pic>
        <p:nvPicPr>
          <p:cNvPr id="4116" name="Picture 24" descr="Rel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362" y="1473200"/>
            <a:ext cx="1397000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>
          <a:xfrm>
            <a:off x="2093915" y="-2955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zh-TW" sz="2800" dirty="0"/>
              <a:t>How much Energy does Traditional Bluetooth Use?</a:t>
            </a:r>
            <a:endParaRPr lang="zh-TW" altLang="en-US" sz="2800" dirty="0"/>
          </a:p>
        </p:txBody>
      </p:sp>
      <p:sp>
        <p:nvSpPr>
          <p:cNvPr id="3075" name="內容版面配置區 2"/>
          <p:cNvSpPr>
            <a:spLocks noGrp="1"/>
          </p:cNvSpPr>
          <p:nvPr>
            <p:ph idx="1"/>
          </p:nvPr>
        </p:nvSpPr>
        <p:spPr>
          <a:xfrm>
            <a:off x="1979612" y="1125538"/>
            <a:ext cx="8409214" cy="5111750"/>
          </a:xfrm>
        </p:spPr>
        <p:txBody>
          <a:bodyPr/>
          <a:lstStyle/>
          <a:p>
            <a:pPr latinLnBrk="0"/>
            <a:r>
              <a:rPr lang="en-US" altLang="zh-TW" sz="2200" dirty="0"/>
              <a:t>Traditional Bluetooth is </a:t>
            </a:r>
            <a:r>
              <a:rPr lang="en-US" altLang="zh-TW" sz="2200" i="1" dirty="0">
                <a:solidFill>
                  <a:srgbClr val="FF0000"/>
                </a:solidFill>
              </a:rPr>
              <a:t>connection oriented</a:t>
            </a:r>
            <a:r>
              <a:rPr lang="en-US" altLang="zh-TW" sz="2200" i="1" dirty="0"/>
              <a:t>. </a:t>
            </a:r>
            <a:r>
              <a:rPr lang="en-US" altLang="zh-TW" sz="2200" dirty="0"/>
              <a:t>When a device is connected, a link is maintained, even if there is no data flowing.</a:t>
            </a:r>
          </a:p>
          <a:p>
            <a:pPr latinLnBrk="0"/>
            <a:endParaRPr lang="en-US" altLang="zh-TW" sz="2200" dirty="0"/>
          </a:p>
          <a:p>
            <a:pPr latinLnBrk="0"/>
            <a:r>
              <a:rPr lang="en-US" altLang="zh-TW" sz="2200" dirty="0"/>
              <a:t>Sniff modes allow devices to sleep, reducing power consumption to give months of battery life</a:t>
            </a:r>
          </a:p>
          <a:p>
            <a:pPr latinLnBrk="0"/>
            <a:endParaRPr lang="en-US" altLang="zh-TW" sz="2200" dirty="0"/>
          </a:p>
          <a:p>
            <a:pPr latinLnBrk="0"/>
            <a:r>
              <a:rPr lang="en-US" altLang="zh-TW" sz="2200" dirty="0"/>
              <a:t>Peak transmit current is typically around 25mA</a:t>
            </a:r>
          </a:p>
          <a:p>
            <a:pPr latinLnBrk="0"/>
            <a:endParaRPr lang="en-US" altLang="zh-TW" sz="2200" dirty="0"/>
          </a:p>
          <a:p>
            <a:pPr latinLnBrk="0"/>
            <a:r>
              <a:rPr lang="en-US" altLang="zh-TW" sz="2200" dirty="0"/>
              <a:t>Even  though it has been independently shown to be lower power than other radio standards, it is still not low enough power for </a:t>
            </a:r>
            <a:r>
              <a:rPr lang="en-US" altLang="zh-TW" sz="2200" dirty="0">
                <a:solidFill>
                  <a:srgbClr val="FF0000"/>
                </a:solidFill>
              </a:rPr>
              <a:t>coin cells </a:t>
            </a:r>
            <a:r>
              <a:rPr lang="en-US" altLang="zh-TW" sz="2200" dirty="0"/>
              <a:t>and energy harvesting applications</a:t>
            </a:r>
            <a:endParaRPr lang="zh-TW" altLang="en-US" sz="2200" dirty="0"/>
          </a:p>
        </p:txBody>
      </p:sp>
      <p:sp>
        <p:nvSpPr>
          <p:cNvPr id="3076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5612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EA1EE4-02D4-42D7-AD71-A87F34C2D389}" type="slidenum">
              <a:rPr lang="zh-TW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zh-TW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827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>
          <a:xfrm>
            <a:off x="2093915" y="-2955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zh-TW" dirty="0"/>
              <a:t>What is Bluetooth Low Energy?</a:t>
            </a:r>
            <a:endParaRPr lang="zh-TW" altLang="en-US" dirty="0"/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>
          <a:xfrm>
            <a:off x="1979612" y="1125538"/>
            <a:ext cx="8229600" cy="51117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Bluetooth low energy is a NEW, open, short range radio technology</a:t>
            </a:r>
          </a:p>
          <a:p>
            <a:pPr lvl="1" latinLnBrk="0"/>
            <a:r>
              <a:rPr lang="en-US" altLang="zh-TW" dirty="0"/>
              <a:t>Blank sheet of paper design</a:t>
            </a:r>
          </a:p>
          <a:p>
            <a:pPr lvl="1" latinLnBrk="0"/>
            <a:endParaRPr lang="en-US" altLang="zh-TW" dirty="0"/>
          </a:p>
          <a:p>
            <a:pPr lvl="1" latinLnBrk="0"/>
            <a:r>
              <a:rPr lang="en-US" altLang="zh-TW" dirty="0"/>
              <a:t>Different to Bluetooth classic (BR/EDR)</a:t>
            </a:r>
          </a:p>
          <a:p>
            <a:pPr lvl="1" latinLnBrk="0"/>
            <a:endParaRPr lang="en-US" altLang="zh-TW" dirty="0"/>
          </a:p>
          <a:p>
            <a:pPr lvl="1" latinLnBrk="0"/>
            <a:r>
              <a:rPr lang="en-US" altLang="zh-TW" dirty="0"/>
              <a:t>Optimized for ultra low power</a:t>
            </a:r>
          </a:p>
          <a:p>
            <a:pPr lvl="1" latinLnBrk="0"/>
            <a:endParaRPr lang="en-US" altLang="zh-TW" dirty="0"/>
          </a:p>
          <a:p>
            <a:pPr lvl="1" latinLnBrk="0"/>
            <a:r>
              <a:rPr lang="en-US" altLang="zh-TW" dirty="0"/>
              <a:t>Enable coin cell battery use cases</a:t>
            </a:r>
          </a:p>
          <a:p>
            <a:pPr lvl="2" latinLnBrk="0"/>
            <a:r>
              <a:rPr lang="en-US" altLang="zh-TW" dirty="0"/>
              <a:t>&lt; 20mA peak current</a:t>
            </a:r>
          </a:p>
          <a:p>
            <a:pPr lvl="2" latinLnBrk="0"/>
            <a:r>
              <a:rPr lang="en-US" altLang="zh-TW" dirty="0"/>
              <a:t>&lt; 5 </a:t>
            </a:r>
            <a:r>
              <a:rPr lang="en-US" altLang="zh-TW" dirty="0" err="1"/>
              <a:t>uA</a:t>
            </a:r>
            <a:r>
              <a:rPr lang="en-US" altLang="zh-TW" dirty="0"/>
              <a:t> average current</a:t>
            </a:r>
          </a:p>
        </p:txBody>
      </p:sp>
      <p:sp>
        <p:nvSpPr>
          <p:cNvPr id="4100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5612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5D1BB40-B4DB-44B6-BD44-43F99021250E}" type="slidenum">
              <a:rPr lang="zh-TW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zh-TW" altLang="en-US" sz="1200">
              <a:solidFill>
                <a:srgbClr val="898989"/>
              </a:solidFill>
            </a:endParaRPr>
          </a:p>
        </p:txBody>
      </p:sp>
      <p:pic>
        <p:nvPicPr>
          <p:cNvPr id="4101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3895726"/>
            <a:ext cx="1871662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693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>
          <a:xfrm>
            <a:off x="2110244" y="-2955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zh-TW" dirty="0"/>
              <a:t>Basic Concepts of Bluetooth 4.0</a:t>
            </a:r>
            <a:endParaRPr lang="zh-TW" altLang="en-US" dirty="0"/>
          </a:p>
        </p:txBody>
      </p:sp>
      <p:sp>
        <p:nvSpPr>
          <p:cNvPr id="5123" name="內容版面配置區 2"/>
          <p:cNvSpPr>
            <a:spLocks noGrp="1"/>
          </p:cNvSpPr>
          <p:nvPr>
            <p:ph idx="1"/>
          </p:nvPr>
        </p:nvSpPr>
        <p:spPr>
          <a:xfrm>
            <a:off x="1979612" y="1125538"/>
            <a:ext cx="8229600" cy="5111750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Everything is optimized for lowest power consumption</a:t>
            </a:r>
          </a:p>
          <a:p>
            <a:pPr lvl="1" latinLnBrk="0">
              <a:lnSpc>
                <a:spcPct val="150000"/>
              </a:lnSpc>
            </a:pPr>
            <a:r>
              <a:rPr lang="en-US" altLang="zh-TW" dirty="0"/>
              <a:t>Short packets reduce TX peak current</a:t>
            </a:r>
          </a:p>
          <a:p>
            <a:pPr lvl="1" latinLnBrk="0">
              <a:lnSpc>
                <a:spcPct val="150000"/>
              </a:lnSpc>
            </a:pPr>
            <a:r>
              <a:rPr lang="en-US" altLang="zh-TW" dirty="0"/>
              <a:t>Short packets reduce RX time</a:t>
            </a:r>
          </a:p>
          <a:p>
            <a:pPr lvl="1" latinLnBrk="0">
              <a:lnSpc>
                <a:spcPct val="150000"/>
              </a:lnSpc>
            </a:pPr>
            <a:r>
              <a:rPr lang="en-US" altLang="zh-TW" dirty="0"/>
              <a:t>Less RF channels to improve discovery and connection time</a:t>
            </a:r>
          </a:p>
          <a:p>
            <a:pPr lvl="1" latinLnBrk="0">
              <a:lnSpc>
                <a:spcPct val="150000"/>
              </a:lnSpc>
            </a:pPr>
            <a:r>
              <a:rPr lang="en-US" altLang="zh-TW" dirty="0"/>
              <a:t>Simple state machine</a:t>
            </a:r>
          </a:p>
          <a:p>
            <a:pPr lvl="1" latinLnBrk="0">
              <a:lnSpc>
                <a:spcPct val="150000"/>
              </a:lnSpc>
            </a:pPr>
            <a:r>
              <a:rPr lang="en-US" altLang="zh-TW" dirty="0"/>
              <a:t>Single protocol</a:t>
            </a:r>
          </a:p>
          <a:p>
            <a:pPr lvl="1" latinLnBrk="0">
              <a:lnSpc>
                <a:spcPct val="150000"/>
              </a:lnSpc>
            </a:pPr>
            <a:r>
              <a:rPr lang="en-US" altLang="zh-TW" dirty="0"/>
              <a:t>Etc.</a:t>
            </a:r>
            <a:endParaRPr lang="zh-TW" altLang="en-US" dirty="0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5612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C127DE-74C8-44B6-BC80-E18E3EA0ACDF}" type="slidenum">
              <a:rPr lang="zh-TW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zh-TW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5134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title"/>
          </p:nvPr>
        </p:nvSpPr>
        <p:spPr>
          <a:xfrm>
            <a:off x="2093915" y="-19284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zh-TW" dirty="0"/>
              <a:t>Bluetooth Low Energy Factsheet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</p:nvPr>
        </p:nvGraphicFramePr>
        <p:xfrm>
          <a:off x="2349500" y="1484314"/>
          <a:ext cx="7561262" cy="4103693"/>
        </p:xfrm>
        <a:graphic>
          <a:graphicData uri="http://schemas.openxmlformats.org/drawingml/2006/table">
            <a:tbl>
              <a:tblPr/>
              <a:tblGrid>
                <a:gridCol w="1795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Range: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~ 150 meters open field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Output Power: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~ 10 mW (10dBm)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Max Current: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~ 15 mA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Latency: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3 ms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Topology:</a:t>
                      </a: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Star</a:t>
                      </a:r>
                      <a:endParaRPr kumimoji="0" lang="zh-TW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Connections: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&gt; 2 billion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Modulation: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GFSK @ 2.4 GHz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Robustness: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Adaptive Frequency Hopping, 24 bit CRC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Security: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128bit AES CCM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Sleep current: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~ 1</a:t>
                      </a:r>
                      <a:r>
                        <a:rPr kumimoji="0" lang="el-GR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μ</a:t>
                      </a: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A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30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Modes: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charset="0"/>
                        <a:defRPr sz="28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charset="0"/>
                        <a:defRPr sz="24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charset="0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charset="0"/>
                        <a:defRPr>
                          <a:solidFill>
                            <a:schemeClr val="tx1"/>
                          </a:solidFill>
                          <a:latin typeface="Calibri" pitchFamily="34" charset="0"/>
                          <a:ea typeface="新細明體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77933C"/>
                          </a:solidFill>
                          <a:effectLst/>
                          <a:latin typeface="Calibri" pitchFamily="34" charset="0"/>
                          <a:ea typeface="新細明體" charset="-120"/>
                        </a:rPr>
                        <a:t>Broadcast, Connection, Event Data Models, Reads, Writes</a:t>
                      </a:r>
                      <a:endParaRPr kumimoji="0" lang="zh-TW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77933C"/>
                        </a:solidFill>
                        <a:effectLst/>
                        <a:latin typeface="Calibri" pitchFamily="34" charset="0"/>
                        <a:ea typeface="新細明體" charset="-120"/>
                      </a:endParaRPr>
                    </a:p>
                  </a:txBody>
                  <a:tcPr marL="91445" marR="91445" marT="45729" marB="45729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185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5612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9D11EA-AFCF-4653-B53E-84A204B501DC}" type="slidenum">
              <a:rPr lang="zh-TW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zh-TW" altLang="en-US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04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內容版面配置區 2"/>
          <p:cNvSpPr>
            <a:spLocks noGrp="1"/>
          </p:cNvSpPr>
          <p:nvPr>
            <p:ph idx="1"/>
          </p:nvPr>
        </p:nvSpPr>
        <p:spPr>
          <a:xfrm>
            <a:off x="1979612" y="1125538"/>
            <a:ext cx="8229600" cy="5111750"/>
          </a:xfrm>
        </p:spPr>
        <p:txBody>
          <a:bodyPr/>
          <a:lstStyle/>
          <a:p>
            <a:pPr latinLnBrk="0"/>
            <a:r>
              <a:rPr lang="en-US" altLang="zh-TW" dirty="0"/>
              <a:t>Data Throughput</a:t>
            </a:r>
          </a:p>
          <a:p>
            <a:pPr lvl="1" latinLnBrk="0"/>
            <a:r>
              <a:rPr lang="en-US" altLang="zh-TW" dirty="0"/>
              <a:t>For Bluetooth low energy, data throughput is not a meaningful parameter. It does not support streaming.</a:t>
            </a:r>
          </a:p>
          <a:p>
            <a:pPr lvl="1" latinLnBrk="0"/>
            <a:endParaRPr lang="en-US" altLang="zh-TW" dirty="0"/>
          </a:p>
          <a:p>
            <a:pPr lvl="1" latinLnBrk="0"/>
            <a:r>
              <a:rPr lang="en-US" altLang="zh-TW" dirty="0"/>
              <a:t>It has a data rate of 1Mbps, but is not optimized for file transfer.</a:t>
            </a:r>
          </a:p>
          <a:p>
            <a:pPr lvl="1" latinLnBrk="0"/>
            <a:endParaRPr lang="en-US" altLang="zh-TW" dirty="0"/>
          </a:p>
          <a:p>
            <a:pPr lvl="1" latinLnBrk="0"/>
            <a:r>
              <a:rPr lang="en-US" altLang="zh-TW" dirty="0"/>
              <a:t>It is designed for </a:t>
            </a:r>
            <a:r>
              <a:rPr lang="en-US" altLang="zh-TW" dirty="0">
                <a:solidFill>
                  <a:srgbClr val="FF0000"/>
                </a:solidFill>
              </a:rPr>
              <a:t>sending small chunks of data</a:t>
            </a:r>
            <a:r>
              <a:rPr lang="en-US" altLang="zh-TW" dirty="0"/>
              <a:t> (exposing state)</a:t>
            </a:r>
            <a:endParaRPr lang="zh-TW" altLang="en-US" dirty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5612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75B07E-89D9-47D5-9D10-41BFD1790C5B}" type="slidenum">
              <a:rPr lang="zh-TW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zh-TW" altLang="en-US" sz="1200">
              <a:solidFill>
                <a:srgbClr val="898989"/>
              </a:solidFill>
            </a:endParaRPr>
          </a:p>
        </p:txBody>
      </p:sp>
      <p:sp>
        <p:nvSpPr>
          <p:cNvPr id="6" name="標題 1"/>
          <p:cNvSpPr txBox="1">
            <a:spLocks/>
          </p:cNvSpPr>
          <p:nvPr/>
        </p:nvSpPr>
        <p:spPr bwMode="auto">
          <a:xfrm>
            <a:off x="2093915" y="-19284"/>
            <a:ext cx="8229600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Arial" charset="0"/>
                <a:ea typeface="+mj-ea"/>
                <a:cs typeface="+mj-cs"/>
              </a:defRPr>
            </a:lvl1pPr>
            <a:lvl2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Arial" charset="0"/>
              </a:defRPr>
            </a:lvl2pPr>
            <a:lvl3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Arial" charset="0"/>
              </a:defRPr>
            </a:lvl3pPr>
            <a:lvl4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Arial" charset="0"/>
              </a:defRPr>
            </a:lvl4pPr>
            <a:lvl5pPr algn="l" rtl="0" eaLnBrk="0" fontAlgn="base" latinLnBrk="1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Arial" charset="0"/>
              </a:defRPr>
            </a:lvl5pPr>
            <a:lvl6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Verdana" pitchFamily="34" charset="0"/>
              </a:defRPr>
            </a:lvl6pPr>
            <a:lvl7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Verdana" pitchFamily="34" charset="0"/>
              </a:defRPr>
            </a:lvl7pPr>
            <a:lvl8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Verdana" pitchFamily="34" charset="0"/>
              </a:defRPr>
            </a:lvl8pPr>
            <a:lvl9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160A44"/>
                </a:solidFill>
                <a:latin typeface="Verdana" pitchFamily="34" charset="0"/>
              </a:defRPr>
            </a:lvl9pPr>
          </a:lstStyle>
          <a:p>
            <a:pPr eaLnBrk="1" hangingPunct="1"/>
            <a:r>
              <a:rPr lang="en-US" altLang="zh-TW" kern="0" dirty="0"/>
              <a:t>Bluetooth Low Energy Factsheet (2)</a:t>
            </a:r>
            <a:endParaRPr lang="zh-TW" altLang="en-US" kern="0" dirty="0"/>
          </a:p>
        </p:txBody>
      </p:sp>
    </p:spTree>
    <p:extLst>
      <p:ext uri="{BB962C8B-B14F-4D97-AF65-F5344CB8AC3E}">
        <p14:creationId xmlns:p14="http://schemas.microsoft.com/office/powerpoint/2010/main" val="19035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xfrm>
            <a:off x="2159231" y="-2955"/>
            <a:ext cx="8229600" cy="777875"/>
          </a:xfrm>
        </p:spPr>
        <p:txBody>
          <a:bodyPr/>
          <a:lstStyle/>
          <a:p>
            <a:pPr eaLnBrk="1" hangingPunct="1"/>
            <a:r>
              <a:rPr lang="en-US" altLang="zh-TW" dirty="0"/>
              <a:t>Designed for Exposing State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79612" y="3820886"/>
            <a:ext cx="8229600" cy="241640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It’s good at small, discrete data transfers.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Data can triggered by local events.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Data can be read at any time by a client.</a:t>
            </a:r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075612" y="6356351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2B6ECB-6EA1-479B-8ADA-2E04DC4A6F9E}" type="slidenum">
              <a:rPr lang="zh-TW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zh-TW" altLang="en-US" sz="1200">
              <a:solidFill>
                <a:srgbClr val="898989"/>
              </a:solidFill>
            </a:endParaRPr>
          </a:p>
        </p:txBody>
      </p:sp>
      <p:sp>
        <p:nvSpPr>
          <p:cNvPr id="5" name="圓角矩形圖說文字 4"/>
          <p:cNvSpPr/>
          <p:nvPr/>
        </p:nvSpPr>
        <p:spPr>
          <a:xfrm>
            <a:off x="2422525" y="1700213"/>
            <a:ext cx="1727200" cy="576262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23.2˚C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  <p:sp>
        <p:nvSpPr>
          <p:cNvPr id="6" name="圓角矩形圖說文字 5"/>
          <p:cNvSpPr/>
          <p:nvPr/>
        </p:nvSpPr>
        <p:spPr>
          <a:xfrm>
            <a:off x="4325938" y="2544763"/>
            <a:ext cx="1584325" cy="576262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Gate 10 BOARDING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  <p:sp>
        <p:nvSpPr>
          <p:cNvPr id="7" name="圓角矩形圖說文字 6"/>
          <p:cNvSpPr/>
          <p:nvPr/>
        </p:nvSpPr>
        <p:spPr>
          <a:xfrm>
            <a:off x="7318376" y="1700213"/>
            <a:ext cx="1584325" cy="576262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12:23 pm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  <p:sp>
        <p:nvSpPr>
          <p:cNvPr id="8" name="圓角矩形圖說文字 7"/>
          <p:cNvSpPr/>
          <p:nvPr/>
        </p:nvSpPr>
        <p:spPr>
          <a:xfrm>
            <a:off x="5127626" y="1700213"/>
            <a:ext cx="1584325" cy="576262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60.5 km/h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6469062" y="2544763"/>
            <a:ext cx="1582738" cy="576262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3.2 kWh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2593976" y="2949576"/>
            <a:ext cx="1584325" cy="576263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PLAY &gt;&gt;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8255001" y="3121026"/>
            <a:ext cx="1584325" cy="574675"/>
          </a:xfrm>
          <a:prstGeom prst="wedgeRoundRectCallout">
            <a:avLst>
              <a:gd name="adj1" fmla="val 5440"/>
              <a:gd name="adj2" fmla="val 8638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itchFamily="34" charset="0"/>
                <a:ea typeface="新細明體" charset="-120"/>
              </a:defRPr>
            </a:lvl9pPr>
          </a:lstStyle>
          <a:p>
            <a:pPr algn="ctr" eaLnBrk="1" hangingPunct="1"/>
            <a:r>
              <a:rPr kumimoji="0" lang="en-US" altLang="zh-TW" sz="2000">
                <a:solidFill>
                  <a:srgbClr val="FFFFFF"/>
                </a:solidFill>
              </a:rPr>
              <a:t>Network Available</a:t>
            </a:r>
            <a:endParaRPr kumimoji="0" lang="zh-TW" alt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8412" y="2679149"/>
            <a:ext cx="3427404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88" dirty="0"/>
              <a:t>6LoWPAN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33</a:t>
            </a:fld>
            <a:endParaRPr spc="-44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3412" y="1447800"/>
            <a:ext cx="8991600" cy="3284949"/>
          </a:xfrm>
          <a:prstGeom prst="rect">
            <a:avLst/>
          </a:prstGeom>
        </p:spPr>
        <p:txBody>
          <a:bodyPr vert="horz" wrap="square" lIns="0" tIns="75640" rIns="0" bIns="0" rtlCol="0">
            <a:spAutoFit/>
          </a:bodyPr>
          <a:lstStyle/>
          <a:p>
            <a:pPr marL="313221" indent="-302015">
              <a:spcBef>
                <a:spcPts val="596"/>
              </a:spcBef>
              <a:buFont typeface="Wingdings"/>
              <a:buChar char=""/>
              <a:tabLst>
                <a:tab pos="313221" algn="l"/>
              </a:tabLst>
            </a:pPr>
            <a:r>
              <a:rPr sz="2800" dirty="0">
                <a:latin typeface="Calibri"/>
                <a:cs typeface="Calibri"/>
              </a:rPr>
              <a:t>Low‐power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Wireless</a:t>
            </a: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Personal</a:t>
            </a:r>
            <a:r>
              <a:rPr sz="2800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Area</a:t>
            </a: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Networks</a:t>
            </a:r>
            <a:r>
              <a:rPr sz="2800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over</a:t>
            </a:r>
            <a:r>
              <a:rPr sz="2800" u="heavy" spc="-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IPv6</a:t>
            </a:r>
            <a:r>
              <a:rPr sz="2800" spc="-9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13781" marR="4483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smallest</a:t>
            </a:r>
            <a:r>
              <a:rPr sz="2800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devices</a:t>
            </a:r>
            <a:r>
              <a:rPr sz="2800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2800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limited</a:t>
            </a:r>
            <a:r>
              <a:rPr sz="2800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processing</a:t>
            </a:r>
            <a:r>
              <a:rPr sz="2800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ability</a:t>
            </a:r>
            <a:r>
              <a:rPr sz="2800" spc="-9" dirty="0"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800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transmit</a:t>
            </a:r>
            <a:r>
              <a:rPr sz="2800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information</a:t>
            </a:r>
            <a:r>
              <a:rPr sz="2800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wirelessly</a:t>
            </a:r>
            <a:r>
              <a:rPr sz="2800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protocol.</a:t>
            </a:r>
            <a:endParaRPr sz="2800" dirty="0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low‐power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Internet.</a:t>
            </a:r>
            <a:endParaRPr sz="2800" dirty="0">
              <a:latin typeface="Calibri"/>
              <a:cs typeface="Calibri"/>
            </a:endParaRPr>
          </a:p>
          <a:p>
            <a:pPr marL="312661" marR="280722" indent="-302015">
              <a:spcBef>
                <a:spcPts val="507"/>
              </a:spcBef>
              <a:buFont typeface="Wingdings"/>
              <a:buChar char=""/>
              <a:tabLst>
                <a:tab pos="314342" algn="l"/>
              </a:tabLst>
            </a:pPr>
            <a:r>
              <a:rPr sz="2800" spc="-9" dirty="0">
                <a:latin typeface="Calibri"/>
                <a:cs typeface="Calibri"/>
              </a:rPr>
              <a:t>Created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Internet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Engineering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spc="-26" dirty="0">
                <a:latin typeface="Calibri"/>
                <a:cs typeface="Calibri"/>
              </a:rPr>
              <a:t>Task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Force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(IETF)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‐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RFC 	</a:t>
            </a:r>
            <a:r>
              <a:rPr sz="2800" dirty="0">
                <a:latin typeface="Calibri"/>
                <a:cs typeface="Calibri"/>
              </a:rPr>
              <a:t>5933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RFC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4919.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5812" y="5638800"/>
            <a:ext cx="5937997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2024" marR="4483" indent="-31378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6" dirty="0">
                <a:latin typeface="Calibri"/>
                <a:cs typeface="Calibri"/>
              </a:rPr>
              <a:t> </a:t>
            </a:r>
            <a:r>
              <a:rPr sz="1059" spc="-49" dirty="0">
                <a:latin typeface="Calibri"/>
                <a:cs typeface="Calibri"/>
              </a:rPr>
              <a:t>T.</a:t>
            </a:r>
            <a:r>
              <a:rPr sz="105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Winter,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Thubert,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Brandt,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J.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Hui,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Kelsey,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Levis,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K.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Pister,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Struik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44" dirty="0">
                <a:latin typeface="Calibri"/>
                <a:cs typeface="Calibri"/>
              </a:rPr>
              <a:t>JP.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Vasseur,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Alexander, </a:t>
            </a:r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RPL: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IPv6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Routing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for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Low‐Power</a:t>
            </a:r>
            <a:r>
              <a:rPr sz="1059" u="sng" spc="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and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Lossy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Networks</a:t>
            </a:r>
            <a:r>
              <a:rPr sz="1059" spc="-18" dirty="0">
                <a:latin typeface="Calibri"/>
                <a:cs typeface="Calibri"/>
              </a:rPr>
              <a:t>”,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IETF,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Standards</a:t>
            </a:r>
            <a:r>
              <a:rPr sz="1059" spc="-31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Track, </a:t>
            </a:r>
            <a:r>
              <a:rPr sz="1059" spc="-22" dirty="0">
                <a:latin typeface="Calibri"/>
                <a:cs typeface="Calibri"/>
              </a:rPr>
              <a:t>Mar.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2012</a:t>
            </a:r>
            <a:endParaRPr sz="1059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26" dirty="0"/>
              <a:t>Features</a:t>
            </a:r>
            <a:r>
              <a:rPr spc="-97" dirty="0"/>
              <a:t> </a:t>
            </a:r>
            <a:r>
              <a:rPr dirty="0"/>
              <a:t>of</a:t>
            </a:r>
            <a:r>
              <a:rPr spc="-97" dirty="0"/>
              <a:t> </a:t>
            </a:r>
            <a:r>
              <a:rPr spc="-101" dirty="0"/>
              <a:t>6LoWPANs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89012" y="1143000"/>
            <a:ext cx="8641528" cy="278899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628123" indent="-302575">
              <a:spcBef>
                <a:spcPts val="88"/>
              </a:spcBef>
              <a:buFont typeface="Wingdings"/>
              <a:buChar char=""/>
              <a:tabLst>
                <a:tab pos="313781" algn="l"/>
              </a:tabLst>
            </a:pPr>
            <a:r>
              <a:rPr sz="2400" dirty="0">
                <a:latin typeface="Calibri"/>
                <a:cs typeface="Calibri"/>
              </a:rPr>
              <a:t>Allows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IEEE</a:t>
            </a:r>
            <a:r>
              <a:rPr sz="24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802.15.4</a:t>
            </a:r>
            <a:r>
              <a:rPr sz="24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radios</a:t>
            </a:r>
            <a:r>
              <a:rPr sz="2400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carry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128‐bit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addresses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Internet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Protocol</a:t>
            </a:r>
            <a:r>
              <a:rPr sz="2400" spc="-9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version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</a:t>
            </a:r>
            <a:r>
              <a:rPr sz="2400" spc="-8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(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IPv6</a:t>
            </a:r>
            <a:r>
              <a:rPr sz="2400" spc="-9" dirty="0">
                <a:latin typeface="Calibri"/>
                <a:cs typeface="Calibri"/>
              </a:rPr>
              <a:t>).</a:t>
            </a:r>
            <a:endParaRPr sz="2400" dirty="0">
              <a:latin typeface="Calibri"/>
              <a:cs typeface="Calibri"/>
            </a:endParaRPr>
          </a:p>
          <a:p>
            <a:pPr marL="313781" marR="4483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400" dirty="0">
                <a:latin typeface="Calibri"/>
                <a:cs typeface="Calibri"/>
              </a:rPr>
              <a:t>Header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compression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address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translation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techniques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allow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IEEE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802.15.4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radios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Internet.</a:t>
            </a:r>
            <a:endParaRPr sz="2400" dirty="0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IPv6</a:t>
            </a:r>
            <a:r>
              <a:rPr sz="2400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packets</a:t>
            </a:r>
            <a:r>
              <a:rPr sz="2400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compressed</a:t>
            </a:r>
            <a:r>
              <a:rPr sz="2400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4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reformatted</a:t>
            </a:r>
            <a:r>
              <a:rPr sz="2400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400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fit</a:t>
            </a:r>
            <a:r>
              <a:rPr sz="2400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4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IEEE</a:t>
            </a:r>
            <a:endParaRPr sz="2400" dirty="0">
              <a:latin typeface="Calibri"/>
              <a:cs typeface="Calibri"/>
            </a:endParaRPr>
          </a:p>
          <a:p>
            <a:pPr marL="313781"/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802.15.4</a:t>
            </a:r>
            <a:r>
              <a:rPr sz="2400" u="heavy" spc="-9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packet</a:t>
            </a:r>
            <a:r>
              <a:rPr sz="2400" u="heavy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format</a:t>
            </a:r>
            <a:r>
              <a:rPr sz="2400" spc="-9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400" dirty="0">
                <a:latin typeface="Calibri"/>
                <a:cs typeface="Calibri"/>
              </a:rPr>
              <a:t>Uses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include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49" dirty="0">
                <a:latin typeface="Calibri"/>
                <a:cs typeface="Calibri"/>
              </a:rPr>
              <a:t>IoT,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grid,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M2M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applications.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27644"/>
            <a:ext cx="8872748" cy="851689"/>
          </a:xfrm>
          <a:prstGeom prst="rect">
            <a:avLst/>
          </a:prstGeom>
        </p:spPr>
        <p:txBody>
          <a:bodyPr vert="horz" wrap="square" lIns="0" tIns="112059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26" dirty="0"/>
              <a:t>Addressing</a:t>
            </a:r>
            <a:r>
              <a:rPr spc="-110" dirty="0"/>
              <a:t> </a:t>
            </a:r>
            <a:r>
              <a:rPr dirty="0"/>
              <a:t>in</a:t>
            </a:r>
            <a:r>
              <a:rPr spc="-124" dirty="0"/>
              <a:t> </a:t>
            </a:r>
            <a:r>
              <a:rPr spc="-71" dirty="0"/>
              <a:t>6LoWPAN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42422" y="1940410"/>
            <a:ext cx="1732990" cy="877421"/>
            <a:chOff x="1456944" y="2199132"/>
            <a:chExt cx="1964055" cy="994410"/>
          </a:xfrm>
        </p:grpSpPr>
        <p:sp>
          <p:nvSpPr>
            <p:cNvPr id="4" name="object 4"/>
            <p:cNvSpPr/>
            <p:nvPr/>
          </p:nvSpPr>
          <p:spPr>
            <a:xfrm>
              <a:off x="1469898" y="2212086"/>
              <a:ext cx="1938020" cy="969010"/>
            </a:xfrm>
            <a:custGeom>
              <a:avLst/>
              <a:gdLst/>
              <a:ahLst/>
              <a:cxnLst/>
              <a:rect l="l" t="t" r="r" b="b"/>
              <a:pathLst>
                <a:path w="1938020" h="969010">
                  <a:moveTo>
                    <a:pt x="1937766" y="871728"/>
                  </a:moveTo>
                  <a:lnTo>
                    <a:pt x="1937766" y="96773"/>
                  </a:lnTo>
                  <a:lnTo>
                    <a:pt x="1930146" y="59150"/>
                  </a:lnTo>
                  <a:lnTo>
                    <a:pt x="1909381" y="28384"/>
                  </a:lnTo>
                  <a:lnTo>
                    <a:pt x="1878615" y="7619"/>
                  </a:lnTo>
                  <a:lnTo>
                    <a:pt x="1840992" y="0"/>
                  </a:lnTo>
                  <a:lnTo>
                    <a:pt x="96773" y="0"/>
                  </a:lnTo>
                  <a:lnTo>
                    <a:pt x="59150" y="7620"/>
                  </a:lnTo>
                  <a:lnTo>
                    <a:pt x="28384" y="28384"/>
                  </a:lnTo>
                  <a:lnTo>
                    <a:pt x="7619" y="59150"/>
                  </a:lnTo>
                  <a:lnTo>
                    <a:pt x="0" y="96774"/>
                  </a:lnTo>
                  <a:lnTo>
                    <a:pt x="0" y="871728"/>
                  </a:lnTo>
                  <a:lnTo>
                    <a:pt x="7620" y="909351"/>
                  </a:lnTo>
                  <a:lnTo>
                    <a:pt x="28384" y="940117"/>
                  </a:lnTo>
                  <a:lnTo>
                    <a:pt x="59150" y="960882"/>
                  </a:lnTo>
                  <a:lnTo>
                    <a:pt x="96774" y="968502"/>
                  </a:lnTo>
                  <a:lnTo>
                    <a:pt x="1840992" y="968501"/>
                  </a:lnTo>
                  <a:lnTo>
                    <a:pt x="1878615" y="960882"/>
                  </a:lnTo>
                  <a:lnTo>
                    <a:pt x="1909381" y="940117"/>
                  </a:lnTo>
                  <a:lnTo>
                    <a:pt x="1930146" y="909351"/>
                  </a:lnTo>
                  <a:lnTo>
                    <a:pt x="1937766" y="871728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sp>
          <p:nvSpPr>
            <p:cNvPr id="5" name="object 5"/>
            <p:cNvSpPr/>
            <p:nvPr/>
          </p:nvSpPr>
          <p:spPr>
            <a:xfrm>
              <a:off x="1456944" y="2199132"/>
              <a:ext cx="1964055" cy="994410"/>
            </a:xfrm>
            <a:custGeom>
              <a:avLst/>
              <a:gdLst/>
              <a:ahLst/>
              <a:cxnLst/>
              <a:rect l="l" t="t" r="r" b="b"/>
              <a:pathLst>
                <a:path w="1964054" h="994410">
                  <a:moveTo>
                    <a:pt x="1963674" y="884681"/>
                  </a:moveTo>
                  <a:lnTo>
                    <a:pt x="1963674" y="108965"/>
                  </a:lnTo>
                  <a:lnTo>
                    <a:pt x="1962912" y="97535"/>
                  </a:lnTo>
                  <a:lnTo>
                    <a:pt x="1948444" y="54461"/>
                  </a:lnTo>
                  <a:lnTo>
                    <a:pt x="1898524" y="9351"/>
                  </a:lnTo>
                  <a:lnTo>
                    <a:pt x="1854708" y="54"/>
                  </a:lnTo>
                  <a:lnTo>
                    <a:pt x="108966" y="0"/>
                  </a:lnTo>
                  <a:lnTo>
                    <a:pt x="74917" y="5813"/>
                  </a:lnTo>
                  <a:lnTo>
                    <a:pt x="20037" y="46486"/>
                  </a:lnTo>
                  <a:lnTo>
                    <a:pt x="2285" y="88391"/>
                  </a:lnTo>
                  <a:lnTo>
                    <a:pt x="0" y="109727"/>
                  </a:lnTo>
                  <a:lnTo>
                    <a:pt x="0" y="885443"/>
                  </a:lnTo>
                  <a:lnTo>
                    <a:pt x="9144" y="928115"/>
                  </a:lnTo>
                  <a:lnTo>
                    <a:pt x="25908" y="954734"/>
                  </a:lnTo>
                  <a:lnTo>
                    <a:pt x="25908" y="100583"/>
                  </a:lnTo>
                  <a:lnTo>
                    <a:pt x="27432" y="92201"/>
                  </a:lnTo>
                  <a:lnTo>
                    <a:pt x="48767" y="51707"/>
                  </a:lnTo>
                  <a:lnTo>
                    <a:pt x="81395" y="30434"/>
                  </a:lnTo>
                  <a:lnTo>
                    <a:pt x="1854708" y="25209"/>
                  </a:lnTo>
                  <a:lnTo>
                    <a:pt x="1861566" y="25780"/>
                  </a:lnTo>
                  <a:lnTo>
                    <a:pt x="1863089" y="25907"/>
                  </a:lnTo>
                  <a:lnTo>
                    <a:pt x="1916615" y="53506"/>
                  </a:lnTo>
                  <a:lnTo>
                    <a:pt x="1937766" y="101345"/>
                  </a:lnTo>
                  <a:lnTo>
                    <a:pt x="1937766" y="954414"/>
                  </a:lnTo>
                  <a:lnTo>
                    <a:pt x="1953992" y="929400"/>
                  </a:lnTo>
                  <a:lnTo>
                    <a:pt x="1962912" y="895349"/>
                  </a:lnTo>
                  <a:lnTo>
                    <a:pt x="1963674" y="884681"/>
                  </a:lnTo>
                  <a:close/>
                </a:path>
                <a:path w="1964054" h="994410">
                  <a:moveTo>
                    <a:pt x="1937766" y="954414"/>
                  </a:moveTo>
                  <a:lnTo>
                    <a:pt x="1937766" y="893825"/>
                  </a:lnTo>
                  <a:lnTo>
                    <a:pt x="1936242" y="902207"/>
                  </a:lnTo>
                  <a:lnTo>
                    <a:pt x="1926675" y="927141"/>
                  </a:lnTo>
                  <a:lnTo>
                    <a:pt x="1909786" y="947732"/>
                  </a:lnTo>
                  <a:lnTo>
                    <a:pt x="1887455" y="962135"/>
                  </a:lnTo>
                  <a:lnTo>
                    <a:pt x="1861566" y="968501"/>
                  </a:lnTo>
                  <a:lnTo>
                    <a:pt x="1854708" y="969125"/>
                  </a:lnTo>
                  <a:lnTo>
                    <a:pt x="1853945" y="969194"/>
                  </a:lnTo>
                  <a:lnTo>
                    <a:pt x="109728" y="969263"/>
                  </a:lnTo>
                  <a:lnTo>
                    <a:pt x="83029" y="964528"/>
                  </a:lnTo>
                  <a:lnTo>
                    <a:pt x="82675" y="964465"/>
                  </a:lnTo>
                  <a:lnTo>
                    <a:pt x="41228" y="933680"/>
                  </a:lnTo>
                  <a:lnTo>
                    <a:pt x="25908" y="893063"/>
                  </a:lnTo>
                  <a:lnTo>
                    <a:pt x="25908" y="954734"/>
                  </a:lnTo>
                  <a:lnTo>
                    <a:pt x="57912" y="981455"/>
                  </a:lnTo>
                  <a:lnTo>
                    <a:pt x="95559" y="993253"/>
                  </a:lnTo>
                  <a:lnTo>
                    <a:pt x="1854708" y="994409"/>
                  </a:lnTo>
                  <a:lnTo>
                    <a:pt x="1861566" y="993920"/>
                  </a:lnTo>
                  <a:lnTo>
                    <a:pt x="1863089" y="993811"/>
                  </a:lnTo>
                  <a:lnTo>
                    <a:pt x="1864614" y="993702"/>
                  </a:lnTo>
                  <a:lnTo>
                    <a:pt x="1865376" y="993647"/>
                  </a:lnTo>
                  <a:lnTo>
                    <a:pt x="1876806" y="992123"/>
                  </a:lnTo>
                  <a:lnTo>
                    <a:pt x="1909392" y="979012"/>
                  </a:lnTo>
                  <a:lnTo>
                    <a:pt x="1935637" y="957695"/>
                  </a:lnTo>
                  <a:lnTo>
                    <a:pt x="1937766" y="9544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020638" y="2118136"/>
            <a:ext cx="1578349" cy="432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9" dirty="0">
                <a:solidFill>
                  <a:srgbClr val="FFFFFF"/>
                </a:solidFill>
                <a:latin typeface="Calibri"/>
                <a:cs typeface="Calibri"/>
              </a:rPr>
              <a:t>Addressing</a:t>
            </a:r>
            <a:endParaRPr sz="2735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3871" y="2806401"/>
            <a:ext cx="182656" cy="652182"/>
          </a:xfrm>
          <a:custGeom>
            <a:avLst/>
            <a:gdLst/>
            <a:ahLst/>
            <a:cxnLst/>
            <a:rect l="l" t="t" r="r" b="b"/>
            <a:pathLst>
              <a:path w="207010" h="739139">
                <a:moveTo>
                  <a:pt x="25145" y="713994"/>
                </a:moveTo>
                <a:lnTo>
                  <a:pt x="25145" y="0"/>
                </a:lnTo>
                <a:lnTo>
                  <a:pt x="0" y="0"/>
                </a:lnTo>
                <a:lnTo>
                  <a:pt x="0" y="733806"/>
                </a:lnTo>
                <a:lnTo>
                  <a:pt x="5333" y="739140"/>
                </a:lnTo>
                <a:lnTo>
                  <a:pt x="12191" y="739140"/>
                </a:lnTo>
                <a:lnTo>
                  <a:pt x="12191" y="713994"/>
                </a:lnTo>
                <a:lnTo>
                  <a:pt x="25145" y="713994"/>
                </a:lnTo>
                <a:close/>
              </a:path>
              <a:path w="207010" h="739139">
                <a:moveTo>
                  <a:pt x="206501" y="739140"/>
                </a:moveTo>
                <a:lnTo>
                  <a:pt x="206501" y="713994"/>
                </a:lnTo>
                <a:lnTo>
                  <a:pt x="12191" y="713994"/>
                </a:lnTo>
                <a:lnTo>
                  <a:pt x="25145" y="726948"/>
                </a:lnTo>
                <a:lnTo>
                  <a:pt x="25145" y="739140"/>
                </a:lnTo>
                <a:lnTo>
                  <a:pt x="206501" y="739140"/>
                </a:lnTo>
                <a:close/>
              </a:path>
              <a:path w="207010" h="739139">
                <a:moveTo>
                  <a:pt x="25145" y="739140"/>
                </a:moveTo>
                <a:lnTo>
                  <a:pt x="25145" y="726948"/>
                </a:lnTo>
                <a:lnTo>
                  <a:pt x="12191" y="713994"/>
                </a:lnTo>
                <a:lnTo>
                  <a:pt x="12191" y="739140"/>
                </a:lnTo>
                <a:lnTo>
                  <a:pt x="25145" y="739140"/>
                </a:lnTo>
                <a:close/>
              </a:path>
            </a:pathLst>
          </a:custGeom>
          <a:solidFill>
            <a:srgbClr val="3D6696"/>
          </a:solidFill>
        </p:spPr>
        <p:txBody>
          <a:bodyPr wrap="square" lIns="0" tIns="0" rIns="0" bIns="0" rtlCol="0"/>
          <a:lstStyle/>
          <a:p>
            <a:endParaRPr sz="1588"/>
          </a:p>
        </p:txBody>
      </p:sp>
      <p:grpSp>
        <p:nvGrpSpPr>
          <p:cNvPr id="8" name="object 8"/>
          <p:cNvGrpSpPr/>
          <p:nvPr/>
        </p:nvGrpSpPr>
        <p:grpSpPr>
          <a:xfrm>
            <a:off x="3284648" y="3008779"/>
            <a:ext cx="1390650" cy="877421"/>
            <a:chOff x="1844801" y="3409950"/>
            <a:chExt cx="1576070" cy="9944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755" y="3422903"/>
              <a:ext cx="1549907" cy="96926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844801" y="3409950"/>
              <a:ext cx="1576070" cy="994410"/>
            </a:xfrm>
            <a:custGeom>
              <a:avLst/>
              <a:gdLst/>
              <a:ahLst/>
              <a:cxnLst/>
              <a:rect l="l" t="t" r="r" b="b"/>
              <a:pathLst>
                <a:path w="1576070" h="994410">
                  <a:moveTo>
                    <a:pt x="1575816" y="884681"/>
                  </a:moveTo>
                  <a:lnTo>
                    <a:pt x="1575816" y="108965"/>
                  </a:lnTo>
                  <a:lnTo>
                    <a:pt x="1575054" y="98297"/>
                  </a:lnTo>
                  <a:lnTo>
                    <a:pt x="1560477" y="54457"/>
                  </a:lnTo>
                  <a:lnTo>
                    <a:pt x="1510539" y="9640"/>
                  </a:lnTo>
                  <a:lnTo>
                    <a:pt x="1466850" y="54"/>
                  </a:lnTo>
                  <a:lnTo>
                    <a:pt x="108966" y="0"/>
                  </a:lnTo>
                  <a:lnTo>
                    <a:pt x="74737" y="5736"/>
                  </a:lnTo>
                  <a:lnTo>
                    <a:pt x="19869" y="46555"/>
                  </a:lnTo>
                  <a:lnTo>
                    <a:pt x="2285" y="88391"/>
                  </a:lnTo>
                  <a:lnTo>
                    <a:pt x="0" y="109727"/>
                  </a:lnTo>
                  <a:lnTo>
                    <a:pt x="0" y="885443"/>
                  </a:lnTo>
                  <a:lnTo>
                    <a:pt x="9144" y="928115"/>
                  </a:lnTo>
                  <a:lnTo>
                    <a:pt x="25146" y="954824"/>
                  </a:lnTo>
                  <a:lnTo>
                    <a:pt x="25146" y="109727"/>
                  </a:lnTo>
                  <a:lnTo>
                    <a:pt x="25908" y="100583"/>
                  </a:lnTo>
                  <a:lnTo>
                    <a:pt x="42452" y="59155"/>
                  </a:lnTo>
                  <a:lnTo>
                    <a:pt x="79253" y="31290"/>
                  </a:lnTo>
                  <a:lnTo>
                    <a:pt x="1475232" y="25907"/>
                  </a:lnTo>
                  <a:lnTo>
                    <a:pt x="1483614" y="27431"/>
                  </a:lnTo>
                  <a:lnTo>
                    <a:pt x="1508811" y="37324"/>
                  </a:lnTo>
                  <a:lnTo>
                    <a:pt x="1528995" y="53930"/>
                  </a:lnTo>
                  <a:lnTo>
                    <a:pt x="1543062" y="75955"/>
                  </a:lnTo>
                  <a:lnTo>
                    <a:pt x="1549908" y="102107"/>
                  </a:lnTo>
                  <a:lnTo>
                    <a:pt x="1549908" y="954607"/>
                  </a:lnTo>
                  <a:lnTo>
                    <a:pt x="1566405" y="929060"/>
                  </a:lnTo>
                  <a:lnTo>
                    <a:pt x="1575054" y="895349"/>
                  </a:lnTo>
                  <a:lnTo>
                    <a:pt x="1575816" y="884681"/>
                  </a:lnTo>
                  <a:close/>
                </a:path>
                <a:path w="1576070" h="994410">
                  <a:moveTo>
                    <a:pt x="1549908" y="954607"/>
                  </a:moveTo>
                  <a:lnTo>
                    <a:pt x="1549908" y="894587"/>
                  </a:lnTo>
                  <a:lnTo>
                    <a:pt x="1548384" y="902969"/>
                  </a:lnTo>
                  <a:lnTo>
                    <a:pt x="1538566" y="927646"/>
                  </a:lnTo>
                  <a:lnTo>
                    <a:pt x="1499570" y="962441"/>
                  </a:lnTo>
                  <a:lnTo>
                    <a:pt x="108966" y="969143"/>
                  </a:lnTo>
                  <a:lnTo>
                    <a:pt x="83115" y="965058"/>
                  </a:lnTo>
                  <a:lnTo>
                    <a:pt x="40801" y="933570"/>
                  </a:lnTo>
                  <a:lnTo>
                    <a:pt x="25146" y="884682"/>
                  </a:lnTo>
                  <a:lnTo>
                    <a:pt x="25146" y="954824"/>
                  </a:lnTo>
                  <a:lnTo>
                    <a:pt x="57912" y="981455"/>
                  </a:lnTo>
                  <a:lnTo>
                    <a:pt x="97970" y="994086"/>
                  </a:lnTo>
                  <a:lnTo>
                    <a:pt x="1466850" y="994409"/>
                  </a:lnTo>
                  <a:lnTo>
                    <a:pt x="1473708" y="993920"/>
                  </a:lnTo>
                  <a:lnTo>
                    <a:pt x="1475232" y="993811"/>
                  </a:lnTo>
                  <a:lnTo>
                    <a:pt x="1476756" y="993702"/>
                  </a:lnTo>
                  <a:lnTo>
                    <a:pt x="1477518" y="993647"/>
                  </a:lnTo>
                  <a:lnTo>
                    <a:pt x="1488948" y="992123"/>
                  </a:lnTo>
                  <a:lnTo>
                    <a:pt x="1521234" y="979708"/>
                  </a:lnTo>
                  <a:lnTo>
                    <a:pt x="1547760" y="957934"/>
                  </a:lnTo>
                  <a:lnTo>
                    <a:pt x="1549908" y="954607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369701" y="3037915"/>
            <a:ext cx="1219200" cy="741718"/>
          </a:xfrm>
          <a:prstGeom prst="rect">
            <a:avLst/>
          </a:prstGeom>
        </p:spPr>
        <p:txBody>
          <a:bodyPr vert="horz" wrap="square" lIns="0" tIns="48745" rIns="0" bIns="0" rtlCol="0">
            <a:spAutoFit/>
          </a:bodyPr>
          <a:lstStyle/>
          <a:p>
            <a:pPr marL="11206" marR="4483" indent="220206">
              <a:lnSpc>
                <a:spcPts val="2718"/>
              </a:lnSpc>
              <a:spcBef>
                <a:spcPts val="383"/>
              </a:spcBef>
            </a:pPr>
            <a:r>
              <a:rPr sz="2471" spc="-9" dirty="0">
                <a:latin typeface="Calibri"/>
                <a:cs typeface="Calibri"/>
              </a:rPr>
              <a:t>64‐bit Extended</a:t>
            </a:r>
            <a:endParaRPr sz="2471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113872" y="2806401"/>
            <a:ext cx="1561540" cy="2149288"/>
            <a:chOff x="1651254" y="3180588"/>
            <a:chExt cx="1769745" cy="2435860"/>
          </a:xfrm>
        </p:grpSpPr>
        <p:sp>
          <p:nvSpPr>
            <p:cNvPr id="13" name="object 13"/>
            <p:cNvSpPr/>
            <p:nvPr/>
          </p:nvSpPr>
          <p:spPr>
            <a:xfrm>
              <a:off x="1651254" y="3180588"/>
              <a:ext cx="207010" cy="1950720"/>
            </a:xfrm>
            <a:custGeom>
              <a:avLst/>
              <a:gdLst/>
              <a:ahLst/>
              <a:cxnLst/>
              <a:rect l="l" t="t" r="r" b="b"/>
              <a:pathLst>
                <a:path w="207010" h="1950720">
                  <a:moveTo>
                    <a:pt x="25145" y="1924812"/>
                  </a:moveTo>
                  <a:lnTo>
                    <a:pt x="25145" y="0"/>
                  </a:lnTo>
                  <a:lnTo>
                    <a:pt x="0" y="0"/>
                  </a:lnTo>
                  <a:lnTo>
                    <a:pt x="0" y="1944624"/>
                  </a:lnTo>
                  <a:lnTo>
                    <a:pt x="5333" y="1950720"/>
                  </a:lnTo>
                  <a:lnTo>
                    <a:pt x="12191" y="1950720"/>
                  </a:lnTo>
                  <a:lnTo>
                    <a:pt x="12191" y="1924812"/>
                  </a:lnTo>
                  <a:lnTo>
                    <a:pt x="25145" y="1924812"/>
                  </a:lnTo>
                  <a:close/>
                </a:path>
                <a:path w="207010" h="1950720">
                  <a:moveTo>
                    <a:pt x="206501" y="1950720"/>
                  </a:moveTo>
                  <a:lnTo>
                    <a:pt x="206501" y="1924812"/>
                  </a:lnTo>
                  <a:lnTo>
                    <a:pt x="12191" y="1924812"/>
                  </a:lnTo>
                  <a:lnTo>
                    <a:pt x="25145" y="1937766"/>
                  </a:lnTo>
                  <a:lnTo>
                    <a:pt x="25145" y="1950720"/>
                  </a:lnTo>
                  <a:lnTo>
                    <a:pt x="206501" y="1950720"/>
                  </a:lnTo>
                  <a:close/>
                </a:path>
                <a:path w="207010" h="1950720">
                  <a:moveTo>
                    <a:pt x="25145" y="1950720"/>
                  </a:moveTo>
                  <a:lnTo>
                    <a:pt x="25145" y="1937766"/>
                  </a:lnTo>
                  <a:lnTo>
                    <a:pt x="12191" y="1924812"/>
                  </a:lnTo>
                  <a:lnTo>
                    <a:pt x="12191" y="1950720"/>
                  </a:lnTo>
                  <a:lnTo>
                    <a:pt x="25145" y="1950720"/>
                  </a:lnTo>
                  <a:close/>
                </a:path>
              </a:pathLst>
            </a:custGeom>
            <a:solidFill>
              <a:srgbClr val="3D669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7756" y="4633722"/>
              <a:ext cx="1549907" cy="9692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844802" y="4621530"/>
              <a:ext cx="1576070" cy="994410"/>
            </a:xfrm>
            <a:custGeom>
              <a:avLst/>
              <a:gdLst/>
              <a:ahLst/>
              <a:cxnLst/>
              <a:rect l="l" t="t" r="r" b="b"/>
              <a:pathLst>
                <a:path w="1576070" h="994410">
                  <a:moveTo>
                    <a:pt x="1575816" y="884682"/>
                  </a:moveTo>
                  <a:lnTo>
                    <a:pt x="1575816" y="108966"/>
                  </a:lnTo>
                  <a:lnTo>
                    <a:pt x="1575054" y="97536"/>
                  </a:lnTo>
                  <a:lnTo>
                    <a:pt x="1560757" y="54140"/>
                  </a:lnTo>
                  <a:lnTo>
                    <a:pt x="1510623" y="9388"/>
                  </a:lnTo>
                  <a:lnTo>
                    <a:pt x="1476756" y="0"/>
                  </a:lnTo>
                  <a:lnTo>
                    <a:pt x="108966" y="0"/>
                  </a:lnTo>
                  <a:lnTo>
                    <a:pt x="44038" y="21645"/>
                  </a:lnTo>
                  <a:lnTo>
                    <a:pt x="4571" y="77724"/>
                  </a:lnTo>
                  <a:lnTo>
                    <a:pt x="0" y="109728"/>
                  </a:lnTo>
                  <a:lnTo>
                    <a:pt x="0" y="885444"/>
                  </a:lnTo>
                  <a:lnTo>
                    <a:pt x="9144" y="928116"/>
                  </a:lnTo>
                  <a:lnTo>
                    <a:pt x="25146" y="954310"/>
                  </a:lnTo>
                  <a:lnTo>
                    <a:pt x="25146" y="109728"/>
                  </a:lnTo>
                  <a:lnTo>
                    <a:pt x="25908" y="99822"/>
                  </a:lnTo>
                  <a:lnTo>
                    <a:pt x="42429" y="58826"/>
                  </a:lnTo>
                  <a:lnTo>
                    <a:pt x="79621" y="30591"/>
                  </a:lnTo>
                  <a:lnTo>
                    <a:pt x="1466850" y="25209"/>
                  </a:lnTo>
                  <a:lnTo>
                    <a:pt x="1476756" y="26046"/>
                  </a:lnTo>
                  <a:lnTo>
                    <a:pt x="1528795" y="53382"/>
                  </a:lnTo>
                  <a:lnTo>
                    <a:pt x="1549908" y="101346"/>
                  </a:lnTo>
                  <a:lnTo>
                    <a:pt x="1549908" y="954414"/>
                  </a:lnTo>
                  <a:lnTo>
                    <a:pt x="1566134" y="929400"/>
                  </a:lnTo>
                  <a:lnTo>
                    <a:pt x="1575054" y="895350"/>
                  </a:lnTo>
                  <a:lnTo>
                    <a:pt x="1575816" y="884682"/>
                  </a:lnTo>
                  <a:close/>
                </a:path>
                <a:path w="1576070" h="994410">
                  <a:moveTo>
                    <a:pt x="1549908" y="954414"/>
                  </a:moveTo>
                  <a:lnTo>
                    <a:pt x="1549908" y="893826"/>
                  </a:lnTo>
                  <a:lnTo>
                    <a:pt x="1548384" y="902208"/>
                  </a:lnTo>
                  <a:lnTo>
                    <a:pt x="1538539" y="927203"/>
                  </a:lnTo>
                  <a:lnTo>
                    <a:pt x="1521794" y="947489"/>
                  </a:lnTo>
                  <a:lnTo>
                    <a:pt x="1499676" y="961708"/>
                  </a:lnTo>
                  <a:lnTo>
                    <a:pt x="1473708" y="968502"/>
                  </a:lnTo>
                  <a:lnTo>
                    <a:pt x="108966" y="968391"/>
                  </a:lnTo>
                  <a:lnTo>
                    <a:pt x="59531" y="952309"/>
                  </a:lnTo>
                  <a:lnTo>
                    <a:pt x="28956" y="909066"/>
                  </a:lnTo>
                  <a:lnTo>
                    <a:pt x="25146" y="883920"/>
                  </a:lnTo>
                  <a:lnTo>
                    <a:pt x="25146" y="954310"/>
                  </a:lnTo>
                  <a:lnTo>
                    <a:pt x="57912" y="981456"/>
                  </a:lnTo>
                  <a:lnTo>
                    <a:pt x="97286" y="993457"/>
                  </a:lnTo>
                  <a:lnTo>
                    <a:pt x="1466850" y="994410"/>
                  </a:lnTo>
                  <a:lnTo>
                    <a:pt x="1473708" y="993920"/>
                  </a:lnTo>
                  <a:lnTo>
                    <a:pt x="1475232" y="993811"/>
                  </a:lnTo>
                  <a:lnTo>
                    <a:pt x="1476756" y="993702"/>
                  </a:lnTo>
                  <a:lnTo>
                    <a:pt x="1477518" y="993648"/>
                  </a:lnTo>
                  <a:lnTo>
                    <a:pt x="1488948" y="992124"/>
                  </a:lnTo>
                  <a:lnTo>
                    <a:pt x="1521534" y="979012"/>
                  </a:lnTo>
                  <a:lnTo>
                    <a:pt x="1547779" y="957695"/>
                  </a:lnTo>
                  <a:lnTo>
                    <a:pt x="1549908" y="954414"/>
                  </a:lnTo>
                  <a:close/>
                </a:path>
              </a:pathLst>
            </a:custGeom>
            <a:solidFill>
              <a:srgbClr val="4F81B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590122" y="4106956"/>
            <a:ext cx="779369" cy="741718"/>
          </a:xfrm>
          <a:prstGeom prst="rect">
            <a:avLst/>
          </a:prstGeom>
        </p:spPr>
        <p:txBody>
          <a:bodyPr vert="horz" wrap="square" lIns="0" tIns="48745" rIns="0" bIns="0" rtlCol="0">
            <a:spAutoFit/>
          </a:bodyPr>
          <a:lstStyle/>
          <a:p>
            <a:pPr marL="44266" marR="4483" indent="-33619">
              <a:lnSpc>
                <a:spcPts val="2718"/>
              </a:lnSpc>
              <a:spcBef>
                <a:spcPts val="383"/>
              </a:spcBef>
            </a:pPr>
            <a:r>
              <a:rPr sz="2471" spc="-9" dirty="0">
                <a:latin typeface="Calibri"/>
                <a:cs typeface="Calibri"/>
              </a:rPr>
              <a:t>16‐bit Short</a:t>
            </a:r>
            <a:endParaRPr sz="2471" dirty="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0371" y="1972773"/>
            <a:ext cx="4479551" cy="3053174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640" marR="820875" indent="-403993">
              <a:spcBef>
                <a:spcPts val="88"/>
              </a:spcBef>
              <a:buFont typeface="Arial MT"/>
              <a:buChar char="•"/>
              <a:tabLst>
                <a:tab pos="414640" algn="l"/>
              </a:tabLst>
            </a:pPr>
            <a:r>
              <a:rPr sz="247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64‐bit</a:t>
            </a:r>
            <a:r>
              <a:rPr sz="247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7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addresses</a:t>
            </a:r>
            <a:r>
              <a:rPr sz="2471" dirty="0">
                <a:latin typeface="Calibri"/>
                <a:cs typeface="Calibri"/>
              </a:rPr>
              <a:t>: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globally unique</a:t>
            </a:r>
            <a:endParaRPr sz="2471">
              <a:latin typeface="Calibri"/>
              <a:cs typeface="Calibri"/>
            </a:endParaRPr>
          </a:p>
          <a:p>
            <a:pPr marL="414640" marR="202277" indent="-403993">
              <a:buFont typeface="Arial MT"/>
              <a:buChar char="•"/>
              <a:tabLst>
                <a:tab pos="414640" algn="l"/>
              </a:tabLst>
            </a:pPr>
            <a:r>
              <a:rPr sz="247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16</a:t>
            </a:r>
            <a:r>
              <a:rPr sz="247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7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bit</a:t>
            </a:r>
            <a:r>
              <a:rPr sz="2471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7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addresses</a:t>
            </a:r>
            <a:r>
              <a:rPr sz="2471" dirty="0">
                <a:latin typeface="Calibri"/>
                <a:cs typeface="Calibri"/>
              </a:rPr>
              <a:t>:</a:t>
            </a:r>
            <a:r>
              <a:rPr sz="2471" spc="-49" dirty="0">
                <a:latin typeface="Calibri"/>
                <a:cs typeface="Calibri"/>
              </a:rPr>
              <a:t> </a:t>
            </a:r>
            <a:r>
              <a:rPr sz="2471" spc="-44" dirty="0">
                <a:latin typeface="Calibri"/>
                <a:cs typeface="Calibri"/>
              </a:rPr>
              <a:t>PAN</a:t>
            </a:r>
            <a:r>
              <a:rPr sz="2471" spc="-35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specific; </a:t>
            </a:r>
            <a:r>
              <a:rPr sz="2471" dirty="0">
                <a:latin typeface="Calibri"/>
                <a:cs typeface="Calibri"/>
              </a:rPr>
              <a:t>assigned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by</a:t>
            </a:r>
            <a:r>
              <a:rPr sz="2471" spc="-53" dirty="0">
                <a:latin typeface="Calibri"/>
                <a:cs typeface="Calibri"/>
              </a:rPr>
              <a:t> </a:t>
            </a:r>
            <a:r>
              <a:rPr sz="2471" spc="-44" dirty="0">
                <a:latin typeface="Calibri"/>
                <a:cs typeface="Calibri"/>
              </a:rPr>
              <a:t>PAN</a:t>
            </a:r>
            <a:r>
              <a:rPr sz="2471" spc="-40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coordinator</a:t>
            </a:r>
            <a:endParaRPr sz="2471">
              <a:latin typeface="Calibri"/>
              <a:cs typeface="Calibri"/>
            </a:endParaRPr>
          </a:p>
          <a:p>
            <a:pPr marL="414640" marR="4483" indent="-403993">
              <a:buFont typeface="Arial MT"/>
              <a:buChar char="•"/>
              <a:tabLst>
                <a:tab pos="414640" algn="l"/>
              </a:tabLst>
            </a:pPr>
            <a:r>
              <a:rPr sz="2471" dirty="0">
                <a:latin typeface="Calibri"/>
                <a:cs typeface="Calibri"/>
              </a:rPr>
              <a:t>IPv6</a:t>
            </a:r>
            <a:r>
              <a:rPr sz="2471" spc="-57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multicast</a:t>
            </a:r>
            <a:r>
              <a:rPr sz="2471" spc="-62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not</a:t>
            </a:r>
            <a:r>
              <a:rPr sz="2471" spc="-53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supported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spc="-22" dirty="0">
                <a:latin typeface="Calibri"/>
                <a:cs typeface="Calibri"/>
              </a:rPr>
              <a:t>by </a:t>
            </a:r>
            <a:r>
              <a:rPr sz="2471" spc="-9" dirty="0">
                <a:latin typeface="Calibri"/>
                <a:cs typeface="Calibri"/>
              </a:rPr>
              <a:t>802.15.4</a:t>
            </a:r>
            <a:endParaRPr sz="2471">
              <a:latin typeface="Calibri"/>
              <a:cs typeface="Calibri"/>
            </a:endParaRPr>
          </a:p>
          <a:p>
            <a:pPr marL="414640" marR="650536" indent="-403993">
              <a:buFont typeface="Arial MT"/>
              <a:buChar char="•"/>
              <a:tabLst>
                <a:tab pos="414640" algn="l"/>
              </a:tabLst>
            </a:pPr>
            <a:r>
              <a:rPr sz="2471" dirty="0">
                <a:latin typeface="Calibri"/>
                <a:cs typeface="Calibri"/>
              </a:rPr>
              <a:t>IPv6</a:t>
            </a:r>
            <a:r>
              <a:rPr sz="2471" spc="-49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packets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carried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as</a:t>
            </a:r>
            <a:r>
              <a:rPr sz="2471" spc="-44" dirty="0">
                <a:latin typeface="Calibri"/>
                <a:cs typeface="Calibri"/>
              </a:rPr>
              <a:t> </a:t>
            </a:r>
            <a:r>
              <a:rPr sz="2471" spc="-18" dirty="0">
                <a:latin typeface="Calibri"/>
                <a:cs typeface="Calibri"/>
              </a:rPr>
              <a:t>link </a:t>
            </a:r>
            <a:r>
              <a:rPr sz="2471" dirty="0">
                <a:latin typeface="Calibri"/>
                <a:cs typeface="Calibri"/>
              </a:rPr>
              <a:t>layer</a:t>
            </a:r>
            <a:r>
              <a:rPr sz="2471" spc="-132" dirty="0">
                <a:latin typeface="Calibri"/>
                <a:cs typeface="Calibri"/>
              </a:rPr>
              <a:t> </a:t>
            </a:r>
            <a:r>
              <a:rPr sz="2471" dirty="0">
                <a:latin typeface="Calibri"/>
                <a:cs typeface="Calibri"/>
              </a:rPr>
              <a:t>broadcast</a:t>
            </a:r>
            <a:r>
              <a:rPr sz="2471" spc="-115" dirty="0">
                <a:latin typeface="Calibri"/>
                <a:cs typeface="Calibri"/>
              </a:rPr>
              <a:t> </a:t>
            </a:r>
            <a:r>
              <a:rPr sz="2471" spc="-9" dirty="0">
                <a:latin typeface="Calibri"/>
                <a:cs typeface="Calibri"/>
              </a:rPr>
              <a:t>frames</a:t>
            </a:r>
            <a:endParaRPr sz="2471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1412" y="362916"/>
            <a:ext cx="8458200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26" dirty="0"/>
              <a:t>6LowPAN Packet Format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778421"/>
              </p:ext>
            </p:extLst>
          </p:nvPr>
        </p:nvGraphicFramePr>
        <p:xfrm>
          <a:off x="1293812" y="1371600"/>
          <a:ext cx="7696210" cy="426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0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00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2866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2866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0061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29362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320967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</a:tblGrid>
              <a:tr h="337786"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841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498475">
                        <a:lnSpc>
                          <a:spcPts val="1560"/>
                        </a:lnSpc>
                        <a:spcBef>
                          <a:spcPts val="63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IEEE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802.15.4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0597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786">
                <a:tc gridSpan="8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Length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7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Flags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8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DSN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01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024">
                <a:tc gridSpan="17"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PAN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01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024">
                <a:tc gridSpan="3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Destination</a:t>
                      </a:r>
                      <a:r>
                        <a:rPr sz="1200" spc="2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(64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bit)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01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024">
                <a:tc gridSpan="1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01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024">
                <a:tc gridSpan="33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(64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bit)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01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786">
                <a:tc gridSpan="1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80010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7024">
                <a:tc gridSpan="3">
                  <a:txBody>
                    <a:bodyPr/>
                    <a:lstStyle/>
                    <a:p>
                      <a:pPr marL="19177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25" dirty="0">
                          <a:latin typeface="Calibri"/>
                          <a:cs typeface="Calibri"/>
                        </a:rPr>
                        <a:t>Ver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9">
                  <a:txBody>
                    <a:bodyPr/>
                    <a:lstStyle/>
                    <a:p>
                      <a:pPr marL="518159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Traffic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Class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Flow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Label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200" spc="-20" dirty="0">
                          <a:latin typeface="Calibri"/>
                          <a:cs typeface="Calibri"/>
                        </a:rPr>
                        <a:t>IPv6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4652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9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844">
                <a:tc gridSpan="19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Payload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Length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4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9"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Header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1462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172720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Hop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Limit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9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9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7320">
                <a:tc gridSpan="3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Source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(128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bit)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1205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D0D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9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86558">
                <a:tc gridSpan="3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r>
                        <a:rPr sz="1200" spc="-10" dirty="0">
                          <a:latin typeface="Calibri"/>
                          <a:cs typeface="Calibri"/>
                        </a:rPr>
                        <a:t>Destination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Length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(128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bit)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1205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E9E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27939" marB="0" vert="vert2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6B9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229482"/>
            <a:ext cx="8872748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71" dirty="0"/>
              <a:t>Header</a:t>
            </a:r>
            <a:r>
              <a:rPr spc="-66" dirty="0"/>
              <a:t> </a:t>
            </a:r>
            <a:r>
              <a:rPr spc="-31" dirty="0"/>
              <a:t>Type:</a:t>
            </a:r>
            <a:r>
              <a:rPr spc="-66" dirty="0"/>
              <a:t> </a:t>
            </a:r>
            <a:r>
              <a:rPr dirty="0"/>
              <a:t>Dispatch</a:t>
            </a:r>
            <a:r>
              <a:rPr spc="-66" dirty="0"/>
              <a:t> </a:t>
            </a:r>
            <a:r>
              <a:rPr spc="62" dirty="0"/>
              <a:t>Header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217612" y="1531539"/>
          <a:ext cx="7763987" cy="7395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838">
                <a:tc grid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300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300" spc="3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50" dirty="0">
                          <a:latin typeface="Calibri"/>
                          <a:cs typeface="Calibri"/>
                        </a:rPr>
                        <a:t>1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154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550545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Dispatch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154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r>
                        <a:rPr sz="1300" spc="-10" dirty="0">
                          <a:latin typeface="Calibri"/>
                          <a:cs typeface="Calibri"/>
                        </a:rPr>
                        <a:t>Type</a:t>
                      </a:r>
                      <a:r>
                        <a:rPr sz="1300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latin typeface="Calibri"/>
                          <a:cs typeface="Calibri"/>
                        </a:rPr>
                        <a:t>Specific</a:t>
                      </a:r>
                      <a:r>
                        <a:rPr sz="13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latin typeface="Calibri"/>
                          <a:cs typeface="Calibri"/>
                        </a:rPr>
                        <a:t>Header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11542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903412" y="2711620"/>
            <a:ext cx="6019800" cy="3026960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414640" indent="-403433">
              <a:spcBef>
                <a:spcPts val="84"/>
              </a:spcBef>
              <a:buFont typeface="Arial MT"/>
              <a:buChar char="•"/>
              <a:tabLst>
                <a:tab pos="414640" algn="l"/>
              </a:tabLst>
            </a:pPr>
            <a:r>
              <a:rPr sz="2800" b="1" spc="-9" dirty="0">
                <a:latin typeface="Calibri"/>
                <a:cs typeface="Calibri"/>
              </a:rPr>
              <a:t>Dispatch:</a:t>
            </a:r>
            <a:r>
              <a:rPr sz="2800" b="1" spc="-7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Initiates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communication</a:t>
            </a:r>
            <a:endParaRPr sz="2800" dirty="0">
              <a:latin typeface="Calibri"/>
              <a:cs typeface="Calibri"/>
            </a:endParaRPr>
          </a:p>
          <a:p>
            <a:pPr marL="414640" indent="-403433">
              <a:buFont typeface="Arial MT"/>
              <a:buChar char="•"/>
              <a:tabLst>
                <a:tab pos="414640" algn="l"/>
              </a:tabLst>
            </a:pPr>
            <a:r>
              <a:rPr sz="2800" b="1" dirty="0">
                <a:latin typeface="Calibri"/>
                <a:cs typeface="Calibri"/>
              </a:rPr>
              <a:t>0,1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Identifier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Dispatch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Type</a:t>
            </a:r>
            <a:endParaRPr sz="2800" dirty="0">
              <a:latin typeface="Calibri"/>
              <a:cs typeface="Calibri"/>
            </a:endParaRPr>
          </a:p>
          <a:p>
            <a:pPr marL="414079" indent="-402873">
              <a:buFont typeface="Arial MT"/>
              <a:buChar char="•"/>
              <a:tabLst>
                <a:tab pos="414079" algn="l"/>
              </a:tabLst>
            </a:pPr>
            <a:r>
              <a:rPr sz="2800" b="1" spc="-9" dirty="0">
                <a:latin typeface="Calibri"/>
                <a:cs typeface="Calibri"/>
              </a:rPr>
              <a:t>Dispatch</a:t>
            </a:r>
            <a:r>
              <a:rPr sz="2800" spc="-9" dirty="0">
                <a:latin typeface="Calibri"/>
                <a:cs typeface="Calibri"/>
              </a:rPr>
              <a:t>:</a:t>
            </a:r>
            <a:endParaRPr sz="2800" dirty="0">
              <a:latin typeface="Calibri"/>
              <a:cs typeface="Calibri"/>
            </a:endParaRPr>
          </a:p>
          <a:p>
            <a:pPr marL="818073" lvl="1" indent="-403433">
              <a:buFont typeface="Arial MT"/>
              <a:buChar char="•"/>
              <a:tabLst>
                <a:tab pos="818073" algn="l"/>
              </a:tabLst>
            </a:pPr>
            <a:r>
              <a:rPr sz="2800" dirty="0">
                <a:latin typeface="Calibri"/>
                <a:cs typeface="Calibri"/>
              </a:rPr>
              <a:t>6</a:t>
            </a:r>
            <a:r>
              <a:rPr sz="2800" spc="-4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bits</a:t>
            </a:r>
            <a:endParaRPr sz="2800" dirty="0">
              <a:latin typeface="Calibri"/>
              <a:cs typeface="Calibri"/>
            </a:endParaRPr>
          </a:p>
          <a:p>
            <a:pPr marL="818073" lvl="1" indent="-403433">
              <a:buFont typeface="Arial MT"/>
              <a:buChar char="•"/>
              <a:tabLst>
                <a:tab pos="818073" algn="l"/>
              </a:tabLst>
            </a:pPr>
            <a:r>
              <a:rPr sz="2800" dirty="0">
                <a:latin typeface="Calibri"/>
                <a:cs typeface="Calibri"/>
              </a:rPr>
              <a:t>Identifies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header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type</a:t>
            </a:r>
            <a:endParaRPr sz="2800" dirty="0">
              <a:latin typeface="Calibri"/>
              <a:cs typeface="Calibri"/>
            </a:endParaRPr>
          </a:p>
          <a:p>
            <a:pPr marL="414640" indent="-403433">
              <a:buFont typeface="Arial MT"/>
              <a:buChar char="•"/>
              <a:tabLst>
                <a:tab pos="414640" algn="l"/>
              </a:tabLst>
            </a:pPr>
            <a:r>
              <a:rPr sz="2800" b="1" dirty="0">
                <a:latin typeface="Calibri"/>
                <a:cs typeface="Calibri"/>
              </a:rPr>
              <a:t>Type</a:t>
            </a:r>
            <a:r>
              <a:rPr sz="2800" b="1" spc="-93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Specific</a:t>
            </a:r>
            <a:r>
              <a:rPr sz="2800" b="1" spc="-71" dirty="0">
                <a:latin typeface="Calibri"/>
                <a:cs typeface="Calibri"/>
              </a:rPr>
              <a:t> </a:t>
            </a:r>
            <a:r>
              <a:rPr sz="2800" b="1" spc="-9" dirty="0">
                <a:latin typeface="Calibri"/>
                <a:cs typeface="Calibri"/>
              </a:rPr>
              <a:t>Header:</a:t>
            </a:r>
            <a:endParaRPr sz="2800" dirty="0">
              <a:latin typeface="Calibri"/>
              <a:cs typeface="Calibri"/>
            </a:endParaRPr>
          </a:p>
          <a:p>
            <a:pPr marL="818073" lvl="1" indent="-403433">
              <a:buFont typeface="Arial MT"/>
              <a:buChar char="•"/>
              <a:tabLst>
                <a:tab pos="818073" algn="l"/>
              </a:tabLst>
            </a:pPr>
            <a:r>
              <a:rPr sz="2800" spc="-9" dirty="0">
                <a:latin typeface="Calibri"/>
                <a:cs typeface="Calibri"/>
              </a:rPr>
              <a:t>Determined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Dispatch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header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1128" y="374818"/>
            <a:ext cx="10458725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71" dirty="0"/>
              <a:t>Header</a:t>
            </a:r>
            <a:r>
              <a:rPr spc="-66" dirty="0"/>
              <a:t> </a:t>
            </a:r>
            <a:r>
              <a:rPr spc="-31" dirty="0"/>
              <a:t>Type:</a:t>
            </a:r>
            <a:r>
              <a:rPr spc="-66" dirty="0"/>
              <a:t> </a:t>
            </a:r>
            <a:r>
              <a:rPr dirty="0"/>
              <a:t>Mesh</a:t>
            </a:r>
            <a:r>
              <a:rPr spc="-66" dirty="0"/>
              <a:t> </a:t>
            </a:r>
            <a:r>
              <a:rPr spc="-26" dirty="0"/>
              <a:t>Addressing</a:t>
            </a:r>
            <a:r>
              <a:rPr spc="-40" dirty="0"/>
              <a:t> </a:t>
            </a:r>
            <a:r>
              <a:rPr spc="62" dirty="0"/>
              <a:t>Header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03412" y="1344304"/>
          <a:ext cx="7763987" cy="605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135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10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68">
                <a:tc gridSpan="2"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300" b="1" spc="3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50" dirty="0">
                          <a:latin typeface="Calibri"/>
                          <a:cs typeface="Calibri"/>
                        </a:rPr>
                        <a:t>V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50" dirty="0">
                          <a:latin typeface="Calibri"/>
                          <a:cs typeface="Calibri"/>
                        </a:rPr>
                        <a:t>F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22288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dirty="0">
                          <a:latin typeface="Calibri"/>
                          <a:cs typeface="Calibri"/>
                        </a:rPr>
                        <a:t>Hops</a:t>
                      </a:r>
                      <a:r>
                        <a:rPr sz="13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latin typeface="Calibri"/>
                          <a:cs typeface="Calibri"/>
                        </a:rPr>
                        <a:t>Left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2">
                  <a:txBody>
                    <a:bodyPr/>
                    <a:lstStyle/>
                    <a:p>
                      <a:pPr marL="87185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dirty="0">
                          <a:latin typeface="Calibri"/>
                          <a:cs typeface="Calibri"/>
                        </a:rPr>
                        <a:t>Originator</a:t>
                      </a:r>
                      <a:r>
                        <a:rPr sz="13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latin typeface="Calibri"/>
                          <a:cs typeface="Calibri"/>
                        </a:rPr>
                        <a:t>Address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13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latin typeface="Calibri"/>
                          <a:cs typeface="Calibri"/>
                        </a:rPr>
                        <a:t>Address</a:t>
                      </a:r>
                      <a:endParaRPr sz="1300" dirty="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2229778" y="2486170"/>
            <a:ext cx="7111253" cy="302752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14640" indent="-403433">
              <a:spcBef>
                <a:spcPts val="88"/>
              </a:spcBef>
              <a:buFont typeface="Arial MT"/>
              <a:buChar char="•"/>
              <a:tabLst>
                <a:tab pos="414640" algn="l"/>
              </a:tabLst>
            </a:pPr>
            <a:r>
              <a:rPr sz="2800" b="1" dirty="0">
                <a:latin typeface="Calibri"/>
                <a:cs typeface="Calibri"/>
              </a:rPr>
              <a:t>1,0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Mesh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Addressing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Header</a:t>
            </a:r>
            <a:endParaRPr sz="2800" dirty="0">
              <a:latin typeface="Calibri"/>
              <a:cs typeface="Calibri"/>
            </a:endParaRPr>
          </a:p>
          <a:p>
            <a:pPr marL="414640" marR="547437" indent="-403433">
              <a:buFont typeface="Arial MT"/>
              <a:buChar char="•"/>
              <a:tabLst>
                <a:tab pos="414640" algn="l"/>
              </a:tabLst>
            </a:pPr>
            <a:r>
              <a:rPr sz="2800" b="1" dirty="0">
                <a:latin typeface="Calibri"/>
                <a:cs typeface="Calibri"/>
              </a:rPr>
              <a:t>V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‘0’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originator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64‐bit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extended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address,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‘1’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16‐bit address</a:t>
            </a:r>
            <a:endParaRPr sz="2800" dirty="0">
              <a:latin typeface="Calibri"/>
              <a:cs typeface="Calibri"/>
            </a:endParaRPr>
          </a:p>
          <a:p>
            <a:pPr marL="414640" indent="-403433">
              <a:buFont typeface="Arial MT"/>
              <a:buChar char="•"/>
              <a:tabLst>
                <a:tab pos="414640" algn="l"/>
              </a:tabLst>
            </a:pPr>
            <a:r>
              <a:rPr sz="2800" b="1" dirty="0">
                <a:latin typeface="Calibri"/>
                <a:cs typeface="Calibri"/>
              </a:rPr>
              <a:t>F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‘0’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destination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64‐bit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addr.,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‘1’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16‐bit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addr.</a:t>
            </a:r>
            <a:endParaRPr sz="2800" dirty="0">
              <a:latin typeface="Calibri"/>
              <a:cs typeface="Calibri"/>
            </a:endParaRPr>
          </a:p>
          <a:p>
            <a:pPr marL="414079" marR="4483" indent="-403433">
              <a:buFont typeface="Arial MT"/>
              <a:buChar char="•"/>
              <a:tabLst>
                <a:tab pos="415199" algn="l"/>
              </a:tabLst>
            </a:pPr>
            <a:r>
              <a:rPr sz="2800" b="1" dirty="0">
                <a:latin typeface="Calibri"/>
                <a:cs typeface="Calibri"/>
              </a:rPr>
              <a:t>Hops</a:t>
            </a:r>
            <a:r>
              <a:rPr sz="2800" b="1" spc="-62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Left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decremented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before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sending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next 	</a:t>
            </a:r>
            <a:r>
              <a:rPr sz="2800" spc="-22" dirty="0">
                <a:latin typeface="Calibri"/>
                <a:cs typeface="Calibri"/>
              </a:rPr>
              <a:t>hop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5212" y="333056"/>
            <a:ext cx="9641793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71" dirty="0"/>
              <a:t>Header</a:t>
            </a:r>
            <a:r>
              <a:rPr spc="-18" dirty="0"/>
              <a:t> </a:t>
            </a:r>
            <a:r>
              <a:rPr spc="-31" dirty="0"/>
              <a:t>Type:</a:t>
            </a:r>
            <a:r>
              <a:rPr spc="-18" dirty="0"/>
              <a:t> </a:t>
            </a:r>
            <a:r>
              <a:rPr dirty="0"/>
              <a:t>Fragmentation</a:t>
            </a:r>
            <a:r>
              <a:rPr spc="-18" dirty="0"/>
              <a:t> </a:t>
            </a:r>
            <a:r>
              <a:rPr spc="62" dirty="0"/>
              <a:t>Header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230848" y="2213162"/>
          <a:ext cx="7816653" cy="6051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79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876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8657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03654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368">
                <a:tc gridSpan="4"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300" b="1" spc="3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300" b="1" spc="3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300" b="1" spc="3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10" dirty="0">
                          <a:latin typeface="Calibri"/>
                          <a:cs typeface="Calibri"/>
                        </a:rPr>
                        <a:t>Datagram</a:t>
                      </a:r>
                      <a:r>
                        <a:rPr sz="13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latin typeface="Calibri"/>
                          <a:cs typeface="Calibri"/>
                        </a:rPr>
                        <a:t>Size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5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10" dirty="0">
                          <a:latin typeface="Calibri"/>
                          <a:cs typeface="Calibri"/>
                        </a:rPr>
                        <a:t>Datagram</a:t>
                      </a:r>
                      <a:r>
                        <a:rPr sz="13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5" dirty="0">
                          <a:latin typeface="Calibri"/>
                          <a:cs typeface="Calibri"/>
                        </a:rPr>
                        <a:t>Tag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160738" y="2903445"/>
            <a:ext cx="1987363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dirty="0">
                <a:latin typeface="Calibri"/>
                <a:cs typeface="Calibri"/>
              </a:rPr>
              <a:t>(a)</a:t>
            </a:r>
            <a:r>
              <a:rPr sz="2118" b="1" spc="-53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First</a:t>
            </a:r>
            <a:r>
              <a:rPr sz="2118" b="1" spc="-53" dirty="0">
                <a:latin typeface="Calibri"/>
                <a:cs typeface="Calibri"/>
              </a:rPr>
              <a:t> </a:t>
            </a:r>
            <a:r>
              <a:rPr sz="2118" b="1" spc="-9" dirty="0">
                <a:latin typeface="Calibri"/>
                <a:cs typeface="Calibri"/>
              </a:rPr>
              <a:t>Fragment</a:t>
            </a:r>
            <a:endParaRPr sz="2118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18074" y="3490633"/>
          <a:ext cx="7866517" cy="923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8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0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3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16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10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5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80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871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8743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86577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03654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37564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  <a:gridCol w="237565">
                  <a:extLst>
                    <a:ext uri="{9D8B030D-6E8A-4147-A177-3AD203B41FA5}">
                      <a16:colId xmlns:a16="http://schemas.microsoft.com/office/drawing/2014/main" val="20032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3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200" b="1" spc="-5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20171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07">
                <a:tc gridSpan="4">
                  <a:txBody>
                    <a:bodyPr/>
                    <a:lstStyle/>
                    <a:p>
                      <a:pPr marL="24892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300" b="1" spc="3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1300" b="1" spc="3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dirty="0">
                          <a:latin typeface="Calibri"/>
                          <a:cs typeface="Calibri"/>
                        </a:rPr>
                        <a:t>0</a:t>
                      </a:r>
                      <a:r>
                        <a:rPr sz="1300" b="1" spc="3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5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10" dirty="0">
                          <a:latin typeface="Calibri"/>
                          <a:cs typeface="Calibri"/>
                        </a:rPr>
                        <a:t>Datagram</a:t>
                      </a:r>
                      <a:r>
                        <a:rPr sz="13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0" dirty="0">
                          <a:latin typeface="Calibri"/>
                          <a:cs typeface="Calibri"/>
                        </a:rPr>
                        <a:t>Size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1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10" dirty="0">
                          <a:latin typeface="Calibri"/>
                          <a:cs typeface="Calibri"/>
                        </a:rPr>
                        <a:t>Datagram</a:t>
                      </a:r>
                      <a:r>
                        <a:rPr sz="13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25" dirty="0">
                          <a:latin typeface="Calibri"/>
                          <a:cs typeface="Calibri"/>
                        </a:rPr>
                        <a:t>Tag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368">
                <a:tc gridSpan="8">
                  <a:txBody>
                    <a:bodyPr/>
                    <a:lstStyle/>
                    <a:p>
                      <a:pPr marL="45593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300" b="1" spc="-10" dirty="0">
                          <a:latin typeface="Calibri"/>
                          <a:cs typeface="Calibri"/>
                        </a:rPr>
                        <a:t>Datagram</a:t>
                      </a:r>
                      <a:r>
                        <a:rPr sz="13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latin typeface="Calibri"/>
                          <a:cs typeface="Calibri"/>
                        </a:rPr>
                        <a:t>Offset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481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803047" y="4651562"/>
            <a:ext cx="2836769" cy="33723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dirty="0">
                <a:latin typeface="Calibri"/>
                <a:cs typeface="Calibri"/>
              </a:rPr>
              <a:t>(b)</a:t>
            </a:r>
            <a:r>
              <a:rPr sz="2118" b="1" spc="-44" dirty="0">
                <a:latin typeface="Calibri"/>
                <a:cs typeface="Calibri"/>
              </a:rPr>
              <a:t> </a:t>
            </a:r>
            <a:r>
              <a:rPr sz="2118" b="1" spc="-9" dirty="0">
                <a:latin typeface="Calibri"/>
                <a:cs typeface="Calibri"/>
              </a:rPr>
              <a:t>Subsequent</a:t>
            </a:r>
            <a:r>
              <a:rPr sz="2118" b="1" spc="-31" dirty="0">
                <a:latin typeface="Calibri"/>
                <a:cs typeface="Calibri"/>
              </a:rPr>
              <a:t> </a:t>
            </a:r>
            <a:r>
              <a:rPr sz="2118" b="1" spc="-9" dirty="0">
                <a:latin typeface="Calibri"/>
                <a:cs typeface="Calibri"/>
              </a:rPr>
              <a:t>Fragment</a:t>
            </a:r>
            <a:endParaRPr sz="2118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7" dirty="0"/>
              <a:t>6LoWPAN</a:t>
            </a:r>
            <a:r>
              <a:rPr spc="-57" dirty="0"/>
              <a:t> Routing</a:t>
            </a:r>
            <a:r>
              <a:rPr spc="-53" dirty="0"/>
              <a:t> </a:t>
            </a:r>
            <a:r>
              <a:rPr spc="-9" dirty="0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7755" y="1454920"/>
            <a:ext cx="4537878" cy="256416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12661" marR="186028" indent="-302015">
              <a:lnSpc>
                <a:spcPts val="2285"/>
              </a:lnSpc>
              <a:spcBef>
                <a:spcPts val="375"/>
              </a:spcBef>
              <a:buFont typeface="Wingdings"/>
              <a:buChar char=""/>
              <a:tabLst>
                <a:tab pos="313781" algn="l"/>
              </a:tabLst>
            </a:pPr>
            <a:r>
              <a:rPr sz="2800" dirty="0">
                <a:latin typeface="Calibri"/>
                <a:cs typeface="Calibri"/>
              </a:rPr>
              <a:t>Mesh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within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PAN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space.</a:t>
            </a:r>
            <a:endParaRPr sz="2800" dirty="0">
              <a:latin typeface="Calibri"/>
              <a:cs typeface="Calibri"/>
            </a:endParaRPr>
          </a:p>
          <a:p>
            <a:pPr marL="313781" marR="4483" indent="-302575">
              <a:lnSpc>
                <a:spcPts val="2285"/>
              </a:lnSpc>
              <a:spcBef>
                <a:spcPts val="512"/>
              </a:spcBef>
              <a:buFont typeface="Wingdings"/>
              <a:buChar char=""/>
              <a:tabLst>
                <a:tab pos="313781" algn="l"/>
              </a:tabLst>
            </a:pP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9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IPv6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spc="-40" dirty="0">
                <a:latin typeface="Calibri"/>
                <a:cs typeface="Calibri"/>
              </a:rPr>
              <a:t>PAN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domain</a:t>
            </a:r>
            <a:endParaRPr sz="2800" dirty="0">
              <a:latin typeface="Calibri"/>
              <a:cs typeface="Calibri"/>
            </a:endParaRPr>
          </a:p>
          <a:p>
            <a:pPr marL="314342" marR="210122" indent="-302575">
              <a:lnSpc>
                <a:spcPts val="2285"/>
              </a:lnSpc>
              <a:spcBef>
                <a:spcPts val="512"/>
              </a:spcBef>
              <a:buFont typeface="Wingdings"/>
              <a:buChar char=""/>
              <a:tabLst>
                <a:tab pos="314342" algn="l"/>
              </a:tabLst>
            </a:pP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protocols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in </a:t>
            </a:r>
            <a:r>
              <a:rPr sz="2800" spc="-18" dirty="0">
                <a:latin typeface="Calibri"/>
                <a:cs typeface="Calibri"/>
              </a:rPr>
              <a:t>use:</a:t>
            </a:r>
            <a:endParaRPr sz="2800" dirty="0">
              <a:latin typeface="Calibri"/>
              <a:cs typeface="Calibri"/>
            </a:endParaRPr>
          </a:p>
          <a:p>
            <a:pPr marL="666225" lvl="1" indent="-251585">
              <a:spcBef>
                <a:spcPts val="207"/>
              </a:spcBef>
              <a:buFont typeface="Wingdings"/>
              <a:buChar char=""/>
              <a:tabLst>
                <a:tab pos="666225" algn="l"/>
              </a:tabLst>
            </a:pPr>
            <a:r>
              <a:rPr sz="2800" b="1" spc="-9" dirty="0">
                <a:latin typeface="Calibri"/>
                <a:cs typeface="Calibri"/>
              </a:rPr>
              <a:t>LOADng</a:t>
            </a:r>
            <a:endParaRPr sz="2800" dirty="0">
              <a:latin typeface="Calibri"/>
              <a:cs typeface="Calibri"/>
            </a:endParaRPr>
          </a:p>
          <a:p>
            <a:pPr marL="666225" lvl="1" indent="-251585">
              <a:spcBef>
                <a:spcPts val="212"/>
              </a:spcBef>
              <a:buFont typeface="Wingdings"/>
              <a:buChar char=""/>
              <a:tabLst>
                <a:tab pos="666225" algn="l"/>
              </a:tabLst>
            </a:pPr>
            <a:r>
              <a:rPr sz="2800" b="1" spc="-22" dirty="0">
                <a:latin typeface="Calibri"/>
                <a:cs typeface="Calibri"/>
              </a:rPr>
              <a:t>RPL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23192" y="1972683"/>
            <a:ext cx="3178884" cy="30034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41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22" dirty="0"/>
              <a:t>LOADng</a:t>
            </a:r>
            <a:r>
              <a:rPr spc="-124" dirty="0"/>
              <a:t> </a:t>
            </a:r>
            <a:r>
              <a:rPr spc="-44" dirty="0"/>
              <a:t>Routing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42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989013" y="1219200"/>
            <a:ext cx="10363200" cy="4126733"/>
          </a:xfrm>
          <a:prstGeom prst="rect">
            <a:avLst/>
          </a:prstGeom>
        </p:spPr>
        <p:txBody>
          <a:bodyPr vert="horz" wrap="square" lIns="0" tIns="43143" rIns="0" bIns="0" rtlCol="0">
            <a:spAutoFit/>
          </a:bodyPr>
          <a:lstStyle/>
          <a:p>
            <a:pPr marL="313221" indent="-302015">
              <a:spcBef>
                <a:spcPts val="340"/>
              </a:spcBef>
              <a:buFont typeface="Wingdings"/>
              <a:buChar char=""/>
              <a:tabLst>
                <a:tab pos="313221" algn="l"/>
              </a:tabLst>
            </a:pP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AODV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extended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spc="-18" dirty="0">
                <a:latin typeface="Calibri"/>
                <a:cs typeface="Calibri"/>
              </a:rPr>
              <a:t>IoT.</a:t>
            </a:r>
            <a:endParaRPr sz="2800" dirty="0">
              <a:latin typeface="Calibri"/>
              <a:cs typeface="Calibri"/>
            </a:endParaRPr>
          </a:p>
          <a:p>
            <a:pPr marL="313221" indent="-302015">
              <a:spcBef>
                <a:spcPts val="256"/>
              </a:spcBef>
              <a:buFont typeface="Wingdings"/>
              <a:buChar char=""/>
              <a:tabLst>
                <a:tab pos="313221" algn="l"/>
              </a:tabLst>
            </a:pPr>
            <a:r>
              <a:rPr sz="2800" dirty="0">
                <a:latin typeface="Calibri"/>
                <a:cs typeface="Calibri"/>
              </a:rPr>
              <a:t>Basic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operations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LOADng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include:</a:t>
            </a:r>
            <a:endParaRPr sz="2800" dirty="0">
              <a:latin typeface="Calibri"/>
              <a:cs typeface="Calibri"/>
            </a:endParaRPr>
          </a:p>
          <a:p>
            <a:pPr marL="666225" marR="824237" lvl="1" indent="-252146">
              <a:spcBef>
                <a:spcPts val="476"/>
              </a:spcBef>
              <a:buFont typeface="Wingdings"/>
              <a:buChar char=""/>
              <a:tabLst>
                <a:tab pos="666225" algn="l"/>
              </a:tabLst>
            </a:pPr>
            <a:r>
              <a:rPr sz="2800" spc="-9" dirty="0">
                <a:latin typeface="Calibri"/>
                <a:cs typeface="Calibri"/>
              </a:rPr>
              <a:t>Generation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b="1" spc="-9" dirty="0">
                <a:latin typeface="Calibri"/>
                <a:cs typeface="Calibri"/>
              </a:rPr>
              <a:t>Route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9" dirty="0">
                <a:latin typeface="Calibri"/>
                <a:cs typeface="Calibri"/>
              </a:rPr>
              <a:t>Requests</a:t>
            </a:r>
            <a:r>
              <a:rPr sz="2800" b="1" spc="-26" dirty="0">
                <a:latin typeface="Calibri"/>
                <a:cs typeface="Calibri"/>
              </a:rPr>
              <a:t> </a:t>
            </a:r>
            <a:r>
              <a:rPr sz="2800" b="1" spc="-9" dirty="0">
                <a:latin typeface="Calibri"/>
                <a:cs typeface="Calibri"/>
              </a:rPr>
              <a:t>(RREQs)</a:t>
            </a:r>
            <a:r>
              <a:rPr sz="2800" b="1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LOADng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Router (originator)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discovering</a:t>
            </a:r>
            <a:r>
              <a:rPr sz="2800" spc="-1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route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destination,</a:t>
            </a:r>
            <a:endParaRPr sz="2800" dirty="0">
              <a:latin typeface="Calibri"/>
              <a:cs typeface="Calibri"/>
            </a:endParaRPr>
          </a:p>
          <a:p>
            <a:pPr marL="665665" marR="131116" lvl="1" indent="-252146">
              <a:spcBef>
                <a:spcPts val="424"/>
              </a:spcBef>
              <a:buFont typeface="Wingdings"/>
              <a:buChar char=""/>
              <a:tabLst>
                <a:tab pos="665665" algn="l"/>
              </a:tabLst>
            </a:pPr>
            <a:r>
              <a:rPr sz="2800" b="1" spc="-9" dirty="0">
                <a:latin typeface="Calibri"/>
                <a:cs typeface="Calibri"/>
              </a:rPr>
              <a:t>Forwarding</a:t>
            </a:r>
            <a:r>
              <a:rPr sz="2800" b="1" spc="-4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of</a:t>
            </a:r>
            <a:r>
              <a:rPr sz="2800" b="1" spc="-4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such</a:t>
            </a:r>
            <a:r>
              <a:rPr sz="2800" b="1" spc="-4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RREQs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until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reach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destination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LOADng Router,</a:t>
            </a:r>
            <a:endParaRPr sz="2800" dirty="0">
              <a:latin typeface="Calibri"/>
              <a:cs typeface="Calibri"/>
            </a:endParaRPr>
          </a:p>
          <a:p>
            <a:pPr marL="665665" marR="4483" lvl="1" indent="-252146">
              <a:spcBef>
                <a:spcPts val="424"/>
              </a:spcBef>
              <a:buFont typeface="Wingdings"/>
              <a:buChar char=""/>
              <a:tabLst>
                <a:tab pos="665665" algn="l"/>
              </a:tabLst>
            </a:pPr>
            <a:r>
              <a:rPr sz="2800" spc="-9" dirty="0">
                <a:latin typeface="Calibri"/>
                <a:cs typeface="Calibri"/>
              </a:rPr>
              <a:t>Generation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b="1" spc="-9" dirty="0">
                <a:latin typeface="Calibri"/>
                <a:cs typeface="Calibri"/>
              </a:rPr>
              <a:t>Route</a:t>
            </a:r>
            <a:r>
              <a:rPr sz="2800" b="1" spc="-4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Replies</a:t>
            </a:r>
            <a:r>
              <a:rPr sz="2800" b="1" spc="-44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(RREPs)</a:t>
            </a:r>
            <a:r>
              <a:rPr sz="2800" b="1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receipt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RREQ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spc="-22" dirty="0">
                <a:latin typeface="Calibri"/>
                <a:cs typeface="Calibri"/>
              </a:rPr>
              <a:t>the </a:t>
            </a:r>
            <a:r>
              <a:rPr sz="2800" spc="-9" dirty="0">
                <a:latin typeface="Calibri"/>
                <a:cs typeface="Calibri"/>
              </a:rPr>
              <a:t>indicated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destination,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unicast</a:t>
            </a:r>
            <a:r>
              <a:rPr sz="2800" spc="-2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hop‐by‐hop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forwarding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these </a:t>
            </a:r>
            <a:r>
              <a:rPr sz="2800" dirty="0">
                <a:latin typeface="Calibri"/>
                <a:cs typeface="Calibri"/>
              </a:rPr>
              <a:t>RREPs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towards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originator.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3618" y="5882173"/>
            <a:ext cx="7099486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Clausen,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31" dirty="0">
                <a:latin typeface="Calibri"/>
                <a:cs typeface="Calibri"/>
              </a:rPr>
              <a:t>T.;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Colin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de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Verdiere,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Yi,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J.;</a:t>
            </a:r>
            <a:r>
              <a:rPr sz="1059" spc="-9" dirty="0">
                <a:latin typeface="Calibri"/>
                <a:cs typeface="Calibri"/>
              </a:rPr>
              <a:t> Niktash, </a:t>
            </a:r>
            <a:r>
              <a:rPr sz="1059" dirty="0">
                <a:latin typeface="Calibri"/>
                <a:cs typeface="Calibri"/>
              </a:rPr>
              <a:t>A.;</a:t>
            </a:r>
            <a:r>
              <a:rPr sz="1059" spc="-9" dirty="0">
                <a:latin typeface="Calibri"/>
                <a:cs typeface="Calibri"/>
              </a:rPr>
              <a:t> Igarashi,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40" dirty="0">
                <a:latin typeface="Calibri"/>
                <a:cs typeface="Calibri"/>
              </a:rPr>
              <a:t>Y.;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Satoh,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Herberg,</a:t>
            </a:r>
            <a:r>
              <a:rPr sz="1059" spc="-35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U.;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Lavenu,</a:t>
            </a:r>
            <a:r>
              <a:rPr sz="1059" spc="-35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C.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et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al.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(January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2016).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i="1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i="1" spc="-22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i="1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On‐demand</a:t>
            </a:r>
            <a:r>
              <a:rPr sz="1059" i="1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Ad</a:t>
            </a:r>
            <a:r>
              <a:rPr sz="1059" i="1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hoc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Distance‐vector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Routing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</a:t>
            </a:r>
            <a:r>
              <a:rPr sz="1059" i="1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‐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Next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Generation</a:t>
            </a:r>
            <a:r>
              <a:rPr sz="1059" i="1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(LOADng)</a:t>
            </a:r>
            <a:r>
              <a:rPr sz="1059" spc="-9" dirty="0">
                <a:latin typeface="Calibri"/>
                <a:cs typeface="Calibri"/>
              </a:rPr>
              <a:t>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IETF</a:t>
            </a:r>
            <a:r>
              <a:rPr sz="1059" spc="-22" dirty="0">
                <a:latin typeface="Calibri"/>
                <a:cs typeface="Calibri"/>
              </a:rPr>
              <a:t>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I‐D</a:t>
            </a:r>
            <a:r>
              <a:rPr sz="1059" spc="-9" dirty="0">
                <a:latin typeface="Calibri"/>
                <a:cs typeface="Calibri"/>
              </a:rPr>
              <a:t> draft‐clausen‐lln‐loadng‐14</a:t>
            </a:r>
            <a:endParaRPr sz="1059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0328" y="1383715"/>
            <a:ext cx="9308167" cy="4278585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263352" marR="4483" indent="-252146">
              <a:spcBef>
                <a:spcPts val="84"/>
              </a:spcBef>
              <a:buFont typeface="Wingdings"/>
              <a:buChar char=""/>
              <a:tabLst>
                <a:tab pos="263352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route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detected</a:t>
            </a:r>
            <a:r>
              <a:rPr sz="2400" spc="-3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broken,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b="1" spc="-9" dirty="0">
                <a:latin typeface="Calibri"/>
                <a:cs typeface="Calibri"/>
              </a:rPr>
              <a:t>Route</a:t>
            </a:r>
            <a:r>
              <a:rPr sz="2400" b="1" spc="-49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Error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(RERR)</a:t>
            </a:r>
            <a:r>
              <a:rPr sz="2400" b="1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returned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originator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packet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inform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originator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route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breakage.</a:t>
            </a:r>
            <a:endParaRPr sz="2400" dirty="0">
              <a:latin typeface="Calibri"/>
              <a:cs typeface="Calibri"/>
            </a:endParaRPr>
          </a:p>
          <a:p>
            <a:pPr marL="263352" marR="118789" indent="-252146">
              <a:spcBef>
                <a:spcPts val="424"/>
              </a:spcBef>
              <a:buFont typeface="Wingdings"/>
              <a:buChar char=""/>
              <a:tabLst>
                <a:tab pos="263352" algn="l"/>
              </a:tabLst>
            </a:pPr>
            <a:r>
              <a:rPr sz="2400" b="1" dirty="0">
                <a:latin typeface="Calibri"/>
                <a:cs typeface="Calibri"/>
              </a:rPr>
              <a:t>Optimized</a:t>
            </a:r>
            <a:r>
              <a:rPr sz="2400" b="1" spc="-62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flooding</a:t>
            </a:r>
            <a:r>
              <a:rPr sz="2400" b="1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supported,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reducing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overhead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incurred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by </a:t>
            </a:r>
            <a:r>
              <a:rPr sz="2400" dirty="0">
                <a:latin typeface="Calibri"/>
                <a:cs typeface="Calibri"/>
              </a:rPr>
              <a:t>RREQ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generation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flooding.</a:t>
            </a:r>
            <a:endParaRPr sz="2400" dirty="0">
              <a:latin typeface="Calibri"/>
              <a:cs typeface="Calibri"/>
            </a:endParaRPr>
          </a:p>
          <a:p>
            <a:pPr marL="262792" indent="-251585">
              <a:spcBef>
                <a:spcPts val="424"/>
              </a:spcBef>
              <a:buFont typeface="Wingdings"/>
              <a:buChar char=""/>
              <a:tabLst>
                <a:tab pos="262792" algn="l"/>
              </a:tabLst>
            </a:pP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destination</a:t>
            </a:r>
            <a:r>
              <a:rPr sz="2400" spc="-2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permitted</a:t>
            </a:r>
            <a:r>
              <a:rPr sz="2400" spc="-18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RREQ.</a:t>
            </a:r>
            <a:endParaRPr sz="2400" dirty="0">
              <a:latin typeface="Calibri"/>
              <a:cs typeface="Calibri"/>
            </a:endParaRPr>
          </a:p>
          <a:p>
            <a:pPr marL="263352" marR="513817" indent="-252146">
              <a:spcBef>
                <a:spcPts val="424"/>
              </a:spcBef>
              <a:buFont typeface="Wingdings"/>
              <a:buChar char=""/>
              <a:tabLst>
                <a:tab pos="263352" algn="l"/>
              </a:tabLst>
            </a:pPr>
            <a:r>
              <a:rPr sz="2400" spc="-9" dirty="0">
                <a:latin typeface="Calibri"/>
                <a:cs typeface="Calibri"/>
              </a:rPr>
              <a:t>Intermediate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LOADng</a:t>
            </a:r>
            <a:r>
              <a:rPr sz="2400" spc="-7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Routers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1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explicitly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prohibited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18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responding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6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RREQs,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even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routes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22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sought</a:t>
            </a:r>
            <a:r>
              <a:rPr sz="2400" spc="-26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destination.</a:t>
            </a:r>
            <a:endParaRPr sz="2400" dirty="0">
              <a:latin typeface="Calibri"/>
              <a:cs typeface="Calibri"/>
            </a:endParaRPr>
          </a:p>
          <a:p>
            <a:pPr marL="262792" marR="235336" indent="-251585">
              <a:spcBef>
                <a:spcPts val="424"/>
              </a:spcBef>
              <a:buFont typeface="Wingdings"/>
              <a:buChar char=""/>
              <a:tabLst>
                <a:tab pos="262792" algn="l"/>
              </a:tabLst>
            </a:pPr>
            <a:r>
              <a:rPr sz="2400" dirty="0">
                <a:latin typeface="Calibri"/>
                <a:cs typeface="Calibri"/>
              </a:rPr>
              <a:t>RREQ/RREP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messages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generated</a:t>
            </a:r>
            <a:r>
              <a:rPr sz="2400" spc="-4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53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LOADng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Router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</a:t>
            </a:r>
            <a:r>
              <a:rPr sz="2400" spc="-44" dirty="0">
                <a:latin typeface="Calibri"/>
                <a:cs typeface="Calibri"/>
              </a:rPr>
              <a:t> a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unique,</a:t>
            </a:r>
            <a:r>
              <a:rPr sz="2400" spc="-62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monotonically</a:t>
            </a:r>
            <a:r>
              <a:rPr sz="2400" spc="-57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increasing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sequence</a:t>
            </a:r>
            <a:r>
              <a:rPr sz="2400" spc="-49" dirty="0">
                <a:latin typeface="Calibri"/>
                <a:cs typeface="Calibri"/>
              </a:rPr>
              <a:t> </a:t>
            </a:r>
            <a:r>
              <a:rPr sz="2400" spc="-9" dirty="0">
                <a:latin typeface="Calibri"/>
                <a:cs typeface="Calibri"/>
              </a:rPr>
              <a:t>number.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0012" y="5848273"/>
            <a:ext cx="7099486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Clausen,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31" dirty="0">
                <a:latin typeface="Calibri"/>
                <a:cs typeface="Calibri"/>
              </a:rPr>
              <a:t>T.;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Colin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de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Verdiere,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Yi,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J.;</a:t>
            </a:r>
            <a:r>
              <a:rPr sz="1059" spc="-9" dirty="0">
                <a:latin typeface="Calibri"/>
                <a:cs typeface="Calibri"/>
              </a:rPr>
              <a:t> Niktash, </a:t>
            </a:r>
            <a:r>
              <a:rPr sz="1059" dirty="0">
                <a:latin typeface="Calibri"/>
                <a:cs typeface="Calibri"/>
              </a:rPr>
              <a:t>A.;</a:t>
            </a:r>
            <a:r>
              <a:rPr sz="1059" spc="-9" dirty="0">
                <a:latin typeface="Calibri"/>
                <a:cs typeface="Calibri"/>
              </a:rPr>
              <a:t> Igarashi,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40" dirty="0">
                <a:latin typeface="Calibri"/>
                <a:cs typeface="Calibri"/>
              </a:rPr>
              <a:t>Y.;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Satoh,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H.;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Herberg,</a:t>
            </a:r>
            <a:r>
              <a:rPr sz="1059" spc="-35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U.;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Lavenu,</a:t>
            </a:r>
            <a:r>
              <a:rPr sz="1059" spc="-35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C.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et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al.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(January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2016).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i="1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i="1" spc="-22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i="1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On‐demand</a:t>
            </a:r>
            <a:r>
              <a:rPr sz="1059" i="1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Ad</a:t>
            </a:r>
            <a:r>
              <a:rPr sz="1059" i="1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hoc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Distance‐vector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Routing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</a:t>
            </a:r>
            <a:r>
              <a:rPr sz="1059" i="1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‐</a:t>
            </a:r>
            <a:r>
              <a:rPr sz="1059" i="1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Next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Generation</a:t>
            </a:r>
            <a:r>
              <a:rPr sz="1059" i="1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i="1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(LOADng)</a:t>
            </a:r>
            <a:r>
              <a:rPr sz="1059" spc="-9" dirty="0">
                <a:latin typeface="Calibri"/>
                <a:cs typeface="Calibri"/>
              </a:rPr>
              <a:t>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u="sng" spc="-22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IETF</a:t>
            </a:r>
            <a:r>
              <a:rPr sz="1059" spc="-22" dirty="0">
                <a:latin typeface="Calibri"/>
                <a:cs typeface="Calibri"/>
              </a:rPr>
              <a:t>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I‐D</a:t>
            </a:r>
            <a:r>
              <a:rPr sz="1059" spc="-9" dirty="0">
                <a:latin typeface="Calibri"/>
                <a:cs typeface="Calibri"/>
              </a:rPr>
              <a:t> draft‐clausen‐lln‐loadng‐14</a:t>
            </a:r>
            <a:endParaRPr sz="1059" dirty="0">
              <a:latin typeface="Calibri"/>
              <a:cs typeface="Calibri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8612308-0BDE-D2D7-79A5-8804CAFD603C}"/>
              </a:ext>
            </a:extLst>
          </p:cNvPr>
          <p:cNvSpPr txBox="1">
            <a:spLocks/>
          </p:cNvSpPr>
          <p:nvPr/>
        </p:nvSpPr>
        <p:spPr>
          <a:xfrm>
            <a:off x="1979612" y="228600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>
            <a:lvl1pPr algn="l" defTabSz="91412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799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lang="en-US" spc="-22"/>
              <a:t>LOADng</a:t>
            </a:r>
            <a:r>
              <a:rPr lang="en-US" spc="-124"/>
              <a:t> </a:t>
            </a:r>
            <a:r>
              <a:rPr lang="en-US" spc="-44"/>
              <a:t>Routing</a:t>
            </a:r>
            <a:endParaRPr lang="en-US" spc="-44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4CD656-2511-4024-49D2-698DABE61DC8}"/>
              </a:ext>
            </a:extLst>
          </p:cNvPr>
          <p:cNvCxnSpPr>
            <a:cxnSpLocks/>
          </p:cNvCxnSpPr>
          <p:nvPr/>
        </p:nvCxnSpPr>
        <p:spPr>
          <a:xfrm>
            <a:off x="531812" y="1197742"/>
            <a:ext cx="11277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-321760"/>
            <a:ext cx="12801600" cy="146171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lang="en-US" sz="4000" dirty="0"/>
              <a:t>Routing Protocol for Low Power and Lossy Networks </a:t>
            </a:r>
            <a:br>
              <a:rPr lang="en-US" sz="4000" dirty="0"/>
            </a:br>
            <a:r>
              <a:rPr lang="en-US" sz="4000" dirty="0"/>
              <a:t>(</a:t>
            </a:r>
            <a:r>
              <a:rPr sz="4000" spc="-357" dirty="0"/>
              <a:t>RPL</a:t>
            </a:r>
            <a:r>
              <a:rPr sz="4000" spc="9" dirty="0"/>
              <a:t> </a:t>
            </a:r>
            <a:r>
              <a:rPr sz="4000" spc="-53" dirty="0"/>
              <a:t>Routing</a:t>
            </a:r>
            <a:r>
              <a:rPr lang="en-US" sz="4000" spc="-53" dirty="0"/>
              <a:t>)</a:t>
            </a:r>
            <a:endParaRPr sz="4000" spc="-53" dirty="0"/>
          </a:p>
        </p:txBody>
      </p:sp>
      <p:sp>
        <p:nvSpPr>
          <p:cNvPr id="3" name="object 3"/>
          <p:cNvSpPr txBox="1"/>
          <p:nvPr/>
        </p:nvSpPr>
        <p:spPr>
          <a:xfrm>
            <a:off x="1035576" y="1371600"/>
            <a:ext cx="8553953" cy="4022617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716094" marR="4483" indent="-302015">
              <a:spcBef>
                <a:spcPts val="84"/>
              </a:spcBef>
              <a:buFont typeface="Wingdings"/>
              <a:buChar char=""/>
              <a:tabLst>
                <a:tab pos="717215" algn="l"/>
              </a:tabLst>
            </a:pP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Vector</a:t>
            </a:r>
            <a:r>
              <a:rPr sz="2800" spc="-4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IPv6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routing</a:t>
            </a:r>
            <a:r>
              <a:rPr sz="2800" b="1" spc="-53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protocol</a:t>
            </a:r>
            <a:r>
              <a:rPr sz="2800" b="1" spc="-49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for</a:t>
            </a:r>
            <a:r>
              <a:rPr sz="2800" b="1" spc="-62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lossy</a:t>
            </a:r>
            <a:r>
              <a:rPr sz="2800" b="1" spc="-66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49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low</a:t>
            </a:r>
            <a:r>
              <a:rPr sz="2800" b="1" spc="-57" dirty="0">
                <a:latin typeface="Calibri"/>
                <a:cs typeface="Calibri"/>
              </a:rPr>
              <a:t> </a:t>
            </a:r>
            <a:r>
              <a:rPr sz="2800" b="1" spc="-9" dirty="0">
                <a:latin typeface="Calibri"/>
                <a:cs typeface="Calibri"/>
              </a:rPr>
              <a:t>power networks.</a:t>
            </a:r>
            <a:endParaRPr sz="2800" dirty="0">
              <a:latin typeface="Calibri"/>
              <a:cs typeface="Calibri"/>
            </a:endParaRPr>
          </a:p>
          <a:p>
            <a:pPr marL="716654" indent="-302015">
              <a:spcBef>
                <a:spcPts val="490"/>
              </a:spcBef>
              <a:buFont typeface="Wingdings"/>
              <a:buChar char=""/>
              <a:tabLst>
                <a:tab pos="716654" algn="l"/>
              </a:tabLst>
            </a:pPr>
            <a:r>
              <a:rPr sz="2800" dirty="0">
                <a:latin typeface="Calibri"/>
                <a:cs typeface="Calibri"/>
              </a:rPr>
              <a:t>Maintains</a:t>
            </a:r>
            <a:r>
              <a:rPr sz="2800" spc="-62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topology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7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beaconing.</a:t>
            </a:r>
            <a:endParaRPr sz="2800" dirty="0">
              <a:latin typeface="Calibri"/>
              <a:cs typeface="Calibri"/>
            </a:endParaRPr>
          </a:p>
          <a:p>
            <a:pPr marL="716094" marR="417441" indent="-302015">
              <a:spcBef>
                <a:spcPts val="485"/>
              </a:spcBef>
              <a:buFont typeface="Wingdings"/>
              <a:buChar char=""/>
              <a:tabLst>
                <a:tab pos="717215" algn="l"/>
              </a:tabLst>
            </a:pPr>
            <a:r>
              <a:rPr sz="2800" dirty="0">
                <a:latin typeface="Calibri"/>
                <a:cs typeface="Calibri"/>
              </a:rPr>
              <a:t>Beaconing</a:t>
            </a:r>
            <a:r>
              <a:rPr sz="2800" spc="-7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increases</a:t>
            </a:r>
            <a:r>
              <a:rPr sz="2800" spc="-7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detecting</a:t>
            </a:r>
            <a:r>
              <a:rPr sz="2800" spc="-7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inconsistencies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(e.g. 	</a:t>
            </a:r>
            <a:r>
              <a:rPr sz="2800" dirty="0">
                <a:latin typeface="Calibri"/>
                <a:cs typeface="Calibri"/>
              </a:rPr>
              <a:t>node/link</a:t>
            </a:r>
            <a:r>
              <a:rPr sz="2800" spc="-2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route</a:t>
            </a:r>
            <a:r>
              <a:rPr sz="2800" spc="-18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down).</a:t>
            </a:r>
            <a:endParaRPr sz="2800" dirty="0">
              <a:latin typeface="Calibri"/>
              <a:cs typeface="Calibri"/>
            </a:endParaRPr>
          </a:p>
          <a:p>
            <a:pPr marL="716654" indent="-302015">
              <a:spcBef>
                <a:spcPts val="485"/>
              </a:spcBef>
              <a:buFont typeface="Wingdings"/>
              <a:buChar char=""/>
              <a:tabLst>
                <a:tab pos="716654" algn="l"/>
              </a:tabLst>
            </a:pP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information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included</a:t>
            </a:r>
            <a:r>
              <a:rPr sz="2800" spc="-53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6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datagram</a:t>
            </a:r>
            <a:r>
              <a:rPr sz="2800" spc="-57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itself.</a:t>
            </a:r>
            <a:endParaRPr sz="2800" dirty="0">
              <a:latin typeface="Calibri"/>
              <a:cs typeface="Calibri"/>
            </a:endParaRPr>
          </a:p>
          <a:p>
            <a:pPr marL="716654" indent="-302015">
              <a:spcBef>
                <a:spcPts val="485"/>
              </a:spcBef>
              <a:buFont typeface="Wingdings"/>
              <a:buChar char=""/>
              <a:tabLst>
                <a:tab pos="716654" algn="l"/>
              </a:tabLst>
            </a:pPr>
            <a:r>
              <a:rPr sz="2800" b="1" spc="-9" dirty="0">
                <a:latin typeface="Calibri"/>
                <a:cs typeface="Calibri"/>
              </a:rPr>
              <a:t>Proactive</a:t>
            </a:r>
            <a:r>
              <a:rPr sz="2800" spc="-9" dirty="0">
                <a:latin typeface="Calibri"/>
                <a:cs typeface="Calibri"/>
              </a:rPr>
              <a:t>:</a:t>
            </a:r>
            <a:r>
              <a:rPr sz="2800" spc="-7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Maintaining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71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topology.</a:t>
            </a:r>
            <a:endParaRPr sz="2800" dirty="0">
              <a:latin typeface="Calibri"/>
              <a:cs typeface="Calibri"/>
            </a:endParaRPr>
          </a:p>
          <a:p>
            <a:pPr marL="716654" indent="-302015">
              <a:lnSpc>
                <a:spcPts val="2347"/>
              </a:lnSpc>
              <a:spcBef>
                <a:spcPts val="490"/>
              </a:spcBef>
              <a:buFont typeface="Wingdings"/>
              <a:buChar char=""/>
              <a:tabLst>
                <a:tab pos="716654" algn="l"/>
              </a:tabLst>
            </a:pPr>
            <a:r>
              <a:rPr sz="2800" b="1" dirty="0">
                <a:latin typeface="Calibri"/>
                <a:cs typeface="Calibri"/>
              </a:rPr>
              <a:t>Reactive</a:t>
            </a:r>
            <a:r>
              <a:rPr sz="2800" dirty="0">
                <a:latin typeface="Calibri"/>
                <a:cs typeface="Calibri"/>
              </a:rPr>
              <a:t>:</a:t>
            </a:r>
            <a:r>
              <a:rPr sz="2800" spc="-97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Resolving</a:t>
            </a:r>
            <a:r>
              <a:rPr sz="2800" spc="-101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routing</a:t>
            </a:r>
            <a:r>
              <a:rPr sz="2800" spc="-93" dirty="0">
                <a:latin typeface="Calibri"/>
                <a:cs typeface="Calibri"/>
              </a:rPr>
              <a:t> </a:t>
            </a:r>
            <a:r>
              <a:rPr sz="2800" spc="-9" dirty="0">
                <a:latin typeface="Calibri"/>
                <a:cs typeface="Calibri"/>
              </a:rPr>
              <a:t>inconsistencies.</a:t>
            </a:r>
            <a:endParaRPr lang="en-US" sz="2800" spc="-9" dirty="0">
              <a:latin typeface="Calibri"/>
              <a:cs typeface="Calibri"/>
            </a:endParaRPr>
          </a:p>
          <a:p>
            <a:pPr marL="716654" indent="-302015">
              <a:lnSpc>
                <a:spcPts val="2347"/>
              </a:lnSpc>
              <a:spcBef>
                <a:spcPts val="490"/>
              </a:spcBef>
              <a:buFont typeface="Wingdings"/>
              <a:buChar char=""/>
              <a:tabLst>
                <a:tab pos="716654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2B069B69-4E1F-39C4-54D6-481A934B39C9}"/>
              </a:ext>
            </a:extLst>
          </p:cNvPr>
          <p:cNvSpPr txBox="1"/>
          <p:nvPr/>
        </p:nvSpPr>
        <p:spPr>
          <a:xfrm>
            <a:off x="2284412" y="5867400"/>
            <a:ext cx="7273177" cy="32763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1206">
              <a:lnSpc>
                <a:spcPts val="1182"/>
              </a:lnSpc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6" dirty="0">
                <a:latin typeface="Calibri"/>
                <a:cs typeface="Calibri"/>
              </a:rPr>
              <a:t> </a:t>
            </a:r>
            <a:r>
              <a:rPr sz="1059" spc="-49" dirty="0">
                <a:latin typeface="Calibri"/>
                <a:cs typeface="Calibri"/>
              </a:rPr>
              <a:t>T.</a:t>
            </a:r>
            <a:r>
              <a:rPr sz="105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Winter,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Thubert,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Brandt,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J.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Hui,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Kelsey,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Levis,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K.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Pister,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Struik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44" dirty="0">
                <a:latin typeface="Calibri"/>
                <a:cs typeface="Calibri"/>
              </a:rPr>
              <a:t>JP.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Vasseur,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Alexander,</a:t>
            </a:r>
            <a:endParaRPr sz="1059" dirty="0">
              <a:latin typeface="Calibri"/>
              <a:cs typeface="Calibri"/>
            </a:endParaRPr>
          </a:p>
          <a:p>
            <a:pPr marL="42024"/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RPL: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IPv6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Routing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for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Low‐Power</a:t>
            </a:r>
            <a:r>
              <a:rPr sz="1059" u="sng" spc="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and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Lossy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Networks</a:t>
            </a:r>
            <a:r>
              <a:rPr sz="1059" spc="-18" dirty="0">
                <a:latin typeface="Calibri"/>
                <a:cs typeface="Calibri"/>
              </a:rPr>
              <a:t>”,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IETF,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Standards</a:t>
            </a:r>
            <a:r>
              <a:rPr sz="1059" spc="-31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Track, </a:t>
            </a:r>
            <a:r>
              <a:rPr sz="1059" spc="-22" dirty="0">
                <a:latin typeface="Calibri"/>
                <a:cs typeface="Calibri"/>
              </a:rPr>
              <a:t>Mar.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2012</a:t>
            </a:r>
            <a:endParaRPr sz="1059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4211" y="1391984"/>
            <a:ext cx="10972801" cy="427120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4483" indent="-302575" algn="just">
              <a:spcBef>
                <a:spcPts val="88"/>
              </a:spcBef>
              <a:buFont typeface="Wingdings"/>
              <a:buChar char=""/>
              <a:tabLst>
                <a:tab pos="313781" algn="l"/>
              </a:tabLst>
            </a:pPr>
            <a:r>
              <a:rPr sz="2000" dirty="0">
                <a:cs typeface="Calibri"/>
              </a:rPr>
              <a:t>RPL</a:t>
            </a:r>
            <a:r>
              <a:rPr sz="2000" spc="-71" dirty="0">
                <a:cs typeface="Calibri"/>
              </a:rPr>
              <a:t> </a:t>
            </a:r>
            <a:r>
              <a:rPr sz="2000" spc="-9" dirty="0">
                <a:cs typeface="Calibri"/>
              </a:rPr>
              <a:t>separates</a:t>
            </a:r>
            <a:r>
              <a:rPr sz="2000" spc="-62" dirty="0">
                <a:cs typeface="Calibri"/>
              </a:rPr>
              <a:t> </a:t>
            </a:r>
            <a:r>
              <a:rPr sz="2000" dirty="0">
                <a:cs typeface="Calibri"/>
              </a:rPr>
              <a:t>packet</a:t>
            </a:r>
            <a:r>
              <a:rPr sz="2000" spc="-71" dirty="0">
                <a:cs typeface="Calibri"/>
              </a:rPr>
              <a:t> </a:t>
            </a:r>
            <a:r>
              <a:rPr sz="2000" dirty="0">
                <a:cs typeface="Calibri"/>
              </a:rPr>
              <a:t>processing</a:t>
            </a:r>
            <a:r>
              <a:rPr sz="2000" spc="-71" dirty="0">
                <a:cs typeface="Calibri"/>
              </a:rPr>
              <a:t> </a:t>
            </a:r>
            <a:r>
              <a:rPr sz="2000" dirty="0">
                <a:cs typeface="Calibri"/>
              </a:rPr>
              <a:t>and</a:t>
            </a:r>
            <a:r>
              <a:rPr sz="2000" spc="-66" dirty="0">
                <a:cs typeface="Calibri"/>
              </a:rPr>
              <a:t> </a:t>
            </a:r>
            <a:r>
              <a:rPr sz="2000" spc="-9" dirty="0">
                <a:cs typeface="Calibri"/>
              </a:rPr>
              <a:t>forwarding</a:t>
            </a:r>
            <a:r>
              <a:rPr sz="2000" spc="-66" dirty="0">
                <a:cs typeface="Calibri"/>
              </a:rPr>
              <a:t> </a:t>
            </a:r>
            <a:r>
              <a:rPr sz="2000" dirty="0">
                <a:cs typeface="Calibri"/>
              </a:rPr>
              <a:t>from</a:t>
            </a:r>
            <a:r>
              <a:rPr sz="2000" spc="-71" dirty="0">
                <a:cs typeface="Calibri"/>
              </a:rPr>
              <a:t> </a:t>
            </a:r>
            <a:r>
              <a:rPr sz="2000" spc="-22" dirty="0">
                <a:cs typeface="Calibri"/>
              </a:rPr>
              <a:t>the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cs typeface="Calibri"/>
              </a:rPr>
              <a:t>routing</a:t>
            </a:r>
            <a:r>
              <a:rPr sz="2000" u="heavy" spc="-44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000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optimization</a:t>
            </a:r>
            <a:r>
              <a:rPr sz="2000" u="heavy" spc="-44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000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objective</a:t>
            </a:r>
            <a:r>
              <a:rPr sz="2000" spc="-9" dirty="0">
                <a:cs typeface="Calibri"/>
              </a:rPr>
              <a:t>,</a:t>
            </a:r>
            <a:r>
              <a:rPr sz="2000" spc="-49" dirty="0">
                <a:cs typeface="Calibri"/>
              </a:rPr>
              <a:t> </a:t>
            </a:r>
            <a:r>
              <a:rPr sz="2000" dirty="0">
                <a:cs typeface="Calibri"/>
              </a:rPr>
              <a:t>which</a:t>
            </a:r>
            <a:r>
              <a:rPr sz="2000" spc="-31" dirty="0">
                <a:cs typeface="Calibri"/>
              </a:rPr>
              <a:t> </a:t>
            </a:r>
            <a:r>
              <a:rPr sz="2000" dirty="0">
                <a:cs typeface="Calibri"/>
              </a:rPr>
              <a:t>helps</a:t>
            </a:r>
            <a:r>
              <a:rPr sz="2000" spc="-35" dirty="0">
                <a:cs typeface="Calibri"/>
              </a:rPr>
              <a:t> </a:t>
            </a:r>
            <a:r>
              <a:rPr sz="2000" dirty="0">
                <a:cs typeface="Calibri"/>
              </a:rPr>
              <a:t>in</a:t>
            </a:r>
            <a:r>
              <a:rPr sz="2000" spc="-35" dirty="0">
                <a:cs typeface="Calibri"/>
              </a:rPr>
              <a:t> </a:t>
            </a:r>
            <a:r>
              <a:rPr sz="2000" dirty="0">
                <a:cs typeface="Calibri"/>
              </a:rPr>
              <a:t>Low</a:t>
            </a:r>
            <a:r>
              <a:rPr sz="2000" spc="-49" dirty="0">
                <a:cs typeface="Calibri"/>
              </a:rPr>
              <a:t> </a:t>
            </a:r>
            <a:r>
              <a:rPr sz="2000" spc="-9" dirty="0">
                <a:cs typeface="Calibri"/>
              </a:rPr>
              <a:t>power </a:t>
            </a:r>
            <a:r>
              <a:rPr sz="2000" dirty="0">
                <a:cs typeface="Calibri"/>
              </a:rPr>
              <a:t>Lossy</a:t>
            </a:r>
            <a:r>
              <a:rPr sz="2000" spc="-75" dirty="0">
                <a:cs typeface="Calibri"/>
              </a:rPr>
              <a:t> </a:t>
            </a:r>
            <a:r>
              <a:rPr sz="2000" dirty="0">
                <a:cs typeface="Calibri"/>
              </a:rPr>
              <a:t>Networks</a:t>
            </a:r>
            <a:r>
              <a:rPr sz="2000" spc="-79" dirty="0">
                <a:cs typeface="Calibri"/>
              </a:rPr>
              <a:t> </a:t>
            </a:r>
            <a:r>
              <a:rPr sz="2000" spc="-9" dirty="0">
                <a:cs typeface="Calibri"/>
              </a:rPr>
              <a:t>(LLN).</a:t>
            </a:r>
            <a:endParaRPr sz="2000" dirty="0">
              <a:cs typeface="Calibri"/>
            </a:endParaRPr>
          </a:p>
          <a:p>
            <a:pPr marL="313221" indent="-302015" algn="just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000" dirty="0">
                <a:cs typeface="Calibri"/>
              </a:rPr>
              <a:t>RPL</a:t>
            </a:r>
            <a:r>
              <a:rPr sz="2000" spc="-31" dirty="0">
                <a:cs typeface="Calibri"/>
              </a:rPr>
              <a:t> </a:t>
            </a:r>
            <a:r>
              <a:rPr sz="2000" dirty="0">
                <a:cs typeface="Calibri"/>
              </a:rPr>
              <a:t>supports</a:t>
            </a:r>
            <a:r>
              <a:rPr sz="2000" spc="-22" dirty="0">
                <a:cs typeface="Calibri"/>
              </a:rPr>
              <a:t> </a:t>
            </a:r>
            <a:r>
              <a:rPr sz="2000" dirty="0">
                <a:cs typeface="Calibri"/>
              </a:rPr>
              <a:t>message</a:t>
            </a:r>
            <a:r>
              <a:rPr sz="2000" spc="-26" dirty="0">
                <a:cs typeface="Calibri"/>
              </a:rPr>
              <a:t> </a:t>
            </a:r>
            <a:r>
              <a:rPr sz="2000" spc="-9" dirty="0">
                <a:cs typeface="Calibri"/>
              </a:rPr>
              <a:t>confidentiality</a:t>
            </a:r>
            <a:r>
              <a:rPr sz="2000" spc="-35" dirty="0">
                <a:cs typeface="Calibri"/>
              </a:rPr>
              <a:t> </a:t>
            </a:r>
            <a:r>
              <a:rPr sz="2000" dirty="0">
                <a:cs typeface="Calibri"/>
              </a:rPr>
              <a:t>and</a:t>
            </a:r>
            <a:r>
              <a:rPr sz="2000" spc="-22" dirty="0">
                <a:cs typeface="Calibri"/>
              </a:rPr>
              <a:t> </a:t>
            </a:r>
            <a:r>
              <a:rPr sz="2000" spc="-9" dirty="0">
                <a:cs typeface="Calibri"/>
              </a:rPr>
              <a:t>integrity.</a:t>
            </a:r>
            <a:endParaRPr sz="2000" dirty="0">
              <a:cs typeface="Calibri"/>
            </a:endParaRPr>
          </a:p>
          <a:p>
            <a:pPr marL="313221" indent="-302015" algn="just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000" dirty="0">
                <a:cs typeface="Calibri"/>
              </a:rPr>
              <a:t>Supports</a:t>
            </a:r>
            <a:r>
              <a:rPr sz="2000" spc="-49" dirty="0">
                <a:cs typeface="Calibri"/>
              </a:rPr>
              <a:t> </a:t>
            </a:r>
            <a:r>
              <a:rPr sz="2000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Data‐Path</a:t>
            </a:r>
            <a:r>
              <a:rPr sz="2000" u="heavy" spc="-62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000" u="heavy" spc="-18" dirty="0">
                <a:uFill>
                  <a:solidFill>
                    <a:srgbClr val="000000"/>
                  </a:solidFill>
                </a:uFill>
                <a:cs typeface="Calibri"/>
              </a:rPr>
              <a:t>Validation</a:t>
            </a:r>
            <a:r>
              <a:rPr sz="2000" u="heavy" spc="-62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000" dirty="0">
                <a:cs typeface="Calibri"/>
              </a:rPr>
              <a:t>and</a:t>
            </a:r>
            <a:r>
              <a:rPr sz="2000" spc="-44" dirty="0">
                <a:cs typeface="Calibri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cs typeface="Calibri"/>
              </a:rPr>
              <a:t>Loop</a:t>
            </a:r>
            <a:r>
              <a:rPr sz="2000" u="heavy" spc="-49" dirty="0">
                <a:uFill>
                  <a:solidFill>
                    <a:srgbClr val="000000"/>
                  </a:solidFill>
                </a:uFill>
                <a:cs typeface="Calibri"/>
              </a:rPr>
              <a:t> </a:t>
            </a:r>
            <a:r>
              <a:rPr sz="2000" u="heavy" spc="-9" dirty="0">
                <a:uFill>
                  <a:solidFill>
                    <a:srgbClr val="000000"/>
                  </a:solidFill>
                </a:uFill>
                <a:cs typeface="Calibri"/>
              </a:rPr>
              <a:t>Detection</a:t>
            </a:r>
            <a:endParaRPr sz="2000" dirty="0">
              <a:cs typeface="Calibri"/>
            </a:endParaRPr>
          </a:p>
          <a:p>
            <a:pPr marL="313221" indent="-302015" algn="just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000" dirty="0">
                <a:cs typeface="Calibri"/>
              </a:rPr>
              <a:t>Routing</a:t>
            </a:r>
            <a:r>
              <a:rPr sz="2000" spc="-84" dirty="0">
                <a:cs typeface="Calibri"/>
              </a:rPr>
              <a:t> </a:t>
            </a:r>
            <a:r>
              <a:rPr sz="2000" spc="-9" dirty="0">
                <a:cs typeface="Calibri"/>
              </a:rPr>
              <a:t>optimization</a:t>
            </a:r>
            <a:r>
              <a:rPr sz="2000" spc="-79" dirty="0">
                <a:cs typeface="Calibri"/>
              </a:rPr>
              <a:t> </a:t>
            </a:r>
            <a:r>
              <a:rPr sz="2000" dirty="0">
                <a:cs typeface="Calibri"/>
              </a:rPr>
              <a:t>objectives</a:t>
            </a:r>
            <a:r>
              <a:rPr sz="2000" spc="-79" dirty="0">
                <a:cs typeface="Calibri"/>
              </a:rPr>
              <a:t> </a:t>
            </a:r>
            <a:r>
              <a:rPr sz="2000" spc="-9" dirty="0">
                <a:cs typeface="Calibri"/>
              </a:rPr>
              <a:t>include</a:t>
            </a:r>
            <a:endParaRPr sz="2000" dirty="0">
              <a:cs typeface="Calibri"/>
            </a:endParaRPr>
          </a:p>
          <a:p>
            <a:pPr marL="666225" lvl="1" indent="-251585">
              <a:spcBef>
                <a:spcPts val="449"/>
              </a:spcBef>
              <a:buFont typeface="Wingdings"/>
              <a:buChar char=""/>
              <a:tabLst>
                <a:tab pos="666225" algn="l"/>
              </a:tabLst>
            </a:pPr>
            <a:r>
              <a:rPr sz="2000" spc="-9" dirty="0">
                <a:cs typeface="Calibri"/>
              </a:rPr>
              <a:t>minimizing</a:t>
            </a:r>
            <a:r>
              <a:rPr sz="2000" spc="-18" dirty="0">
                <a:cs typeface="Calibri"/>
              </a:rPr>
              <a:t> </a:t>
            </a:r>
            <a:r>
              <a:rPr sz="2000" spc="-9" dirty="0">
                <a:cs typeface="Calibri"/>
              </a:rPr>
              <a:t>energy</a:t>
            </a:r>
            <a:endParaRPr sz="2000" dirty="0">
              <a:cs typeface="Calibri"/>
            </a:endParaRPr>
          </a:p>
          <a:p>
            <a:pPr marL="666225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r>
              <a:rPr sz="2000" spc="-9" dirty="0">
                <a:cs typeface="Calibri"/>
              </a:rPr>
              <a:t>minimizing</a:t>
            </a:r>
            <a:r>
              <a:rPr sz="2000" spc="-18" dirty="0">
                <a:cs typeface="Calibri"/>
              </a:rPr>
              <a:t> </a:t>
            </a:r>
            <a:r>
              <a:rPr sz="2000" spc="-9" dirty="0">
                <a:cs typeface="Calibri"/>
              </a:rPr>
              <a:t>latency</a:t>
            </a:r>
            <a:endParaRPr sz="2000" dirty="0">
              <a:cs typeface="Calibri"/>
            </a:endParaRPr>
          </a:p>
          <a:p>
            <a:pPr marL="666225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r>
              <a:rPr sz="2000" dirty="0">
                <a:cs typeface="Calibri"/>
              </a:rPr>
              <a:t>satisfying</a:t>
            </a:r>
            <a:r>
              <a:rPr sz="2000" spc="-62" dirty="0">
                <a:cs typeface="Calibri"/>
              </a:rPr>
              <a:t> </a:t>
            </a:r>
            <a:r>
              <a:rPr sz="2000" spc="-9" dirty="0">
                <a:cs typeface="Calibri"/>
              </a:rPr>
              <a:t>constraints</a:t>
            </a:r>
            <a:r>
              <a:rPr sz="2000" spc="-44" dirty="0">
                <a:cs typeface="Calibri"/>
              </a:rPr>
              <a:t> </a:t>
            </a:r>
            <a:r>
              <a:rPr sz="2000" spc="-57" dirty="0">
                <a:cs typeface="Calibri"/>
              </a:rPr>
              <a:t>(w.r.t</a:t>
            </a:r>
            <a:r>
              <a:rPr sz="2000" spc="-40" dirty="0">
                <a:cs typeface="Calibri"/>
              </a:rPr>
              <a:t> </a:t>
            </a:r>
            <a:r>
              <a:rPr sz="2000" dirty="0">
                <a:cs typeface="Calibri"/>
              </a:rPr>
              <a:t>node</a:t>
            </a:r>
            <a:r>
              <a:rPr sz="2000" spc="-71" dirty="0">
                <a:cs typeface="Calibri"/>
              </a:rPr>
              <a:t> </a:t>
            </a:r>
            <a:r>
              <a:rPr sz="2000" spc="-22" dirty="0">
                <a:cs typeface="Calibri"/>
              </a:rPr>
              <a:t>power,</a:t>
            </a:r>
            <a:r>
              <a:rPr sz="2000" spc="-62" dirty="0">
                <a:cs typeface="Calibri"/>
              </a:rPr>
              <a:t> </a:t>
            </a:r>
            <a:r>
              <a:rPr sz="2000" dirty="0">
                <a:cs typeface="Calibri"/>
              </a:rPr>
              <a:t>bandwidth,</a:t>
            </a:r>
            <a:r>
              <a:rPr sz="2000" spc="-62" dirty="0">
                <a:cs typeface="Calibri"/>
              </a:rPr>
              <a:t> </a:t>
            </a:r>
            <a:r>
              <a:rPr sz="2000" spc="-9" dirty="0">
                <a:cs typeface="Calibri"/>
              </a:rPr>
              <a:t>etc.)</a:t>
            </a:r>
            <a:endParaRPr lang="en-US" sz="2000" spc="-9" dirty="0">
              <a:cs typeface="Calibri"/>
            </a:endParaRPr>
          </a:p>
          <a:p>
            <a:pPr marL="313221" indent="-302015">
              <a:spcBef>
                <a:spcPts val="596"/>
              </a:spcBef>
              <a:buFont typeface="Wingdings"/>
              <a:buChar char=""/>
              <a:tabLst>
                <a:tab pos="313221" algn="l"/>
              </a:tabLst>
            </a:pPr>
            <a:r>
              <a:rPr lang="en-US" sz="2000" dirty="0">
                <a:cs typeface="Calibri"/>
              </a:rPr>
              <a:t>RPL</a:t>
            </a:r>
            <a:r>
              <a:rPr lang="en-US" sz="2000" spc="-79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operations</a:t>
            </a:r>
            <a:r>
              <a:rPr lang="en-US" sz="2000" spc="-79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require</a:t>
            </a:r>
            <a:r>
              <a:rPr lang="en-US" sz="2000" spc="-62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bidirectional</a:t>
            </a:r>
            <a:r>
              <a:rPr lang="en-US" sz="2000" spc="-79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links.</a:t>
            </a:r>
            <a:endParaRPr lang="en-US" sz="2000" dirty="0">
              <a:cs typeface="Calibri"/>
            </a:endParaRPr>
          </a:p>
          <a:p>
            <a:pPr marL="313781" marR="4483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lang="en-US" sz="2000" dirty="0">
                <a:cs typeface="Calibri"/>
              </a:rPr>
              <a:t>In</a:t>
            </a:r>
            <a:r>
              <a:rPr lang="en-US" sz="2000" spc="-44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some</a:t>
            </a:r>
            <a:r>
              <a:rPr lang="en-US" sz="2000" spc="-49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LLN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scenarios,</a:t>
            </a:r>
            <a:r>
              <a:rPr lang="en-US" sz="2000" spc="-3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those</a:t>
            </a:r>
            <a:r>
              <a:rPr lang="en-US" sz="2000" spc="-4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links</a:t>
            </a:r>
            <a:r>
              <a:rPr lang="en-US" sz="2000" spc="-4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may</a:t>
            </a:r>
            <a:r>
              <a:rPr lang="en-US" sz="2000" spc="-44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exhibit</a:t>
            </a:r>
            <a:r>
              <a:rPr lang="en-US" sz="2000" spc="-35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asymmetric properties.</a:t>
            </a:r>
            <a:endParaRPr lang="en-US" sz="2000" dirty="0">
              <a:cs typeface="Calibri"/>
            </a:endParaRPr>
          </a:p>
          <a:p>
            <a:pPr marL="313221" marR="268395" indent="-30257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lang="en-US" sz="2000" dirty="0">
                <a:cs typeface="Calibri"/>
              </a:rPr>
              <a:t>It</a:t>
            </a:r>
            <a:r>
              <a:rPr lang="en-US" sz="2000" spc="-49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is</a:t>
            </a:r>
            <a:r>
              <a:rPr lang="en-US" sz="2000" spc="-44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required</a:t>
            </a:r>
            <a:r>
              <a:rPr lang="en-US" sz="2000" spc="-18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that</a:t>
            </a:r>
            <a:r>
              <a:rPr lang="en-US" sz="2000" spc="-44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the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reachability</a:t>
            </a:r>
            <a:r>
              <a:rPr lang="en-US" sz="2000" spc="-49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of</a:t>
            </a:r>
            <a:r>
              <a:rPr lang="en-US" sz="2000" spc="-3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</a:t>
            </a:r>
            <a:r>
              <a:rPr lang="en-US" sz="2000" spc="-40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router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be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verified before</a:t>
            </a:r>
            <a:r>
              <a:rPr lang="en-US" sz="2000" spc="-35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the</a:t>
            </a:r>
            <a:r>
              <a:rPr lang="en-US" sz="2000" spc="-49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router</a:t>
            </a:r>
            <a:r>
              <a:rPr lang="en-US" sz="2000" spc="-44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can</a:t>
            </a:r>
            <a:r>
              <a:rPr lang="en-US" sz="2000" spc="-53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be</a:t>
            </a:r>
            <a:r>
              <a:rPr lang="en-US" sz="2000" spc="-44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used</a:t>
            </a:r>
            <a:r>
              <a:rPr lang="en-US" sz="2000" spc="-31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as</a:t>
            </a:r>
            <a:r>
              <a:rPr lang="en-US" sz="2000" spc="-49" dirty="0">
                <a:cs typeface="Calibri"/>
              </a:rPr>
              <a:t> </a:t>
            </a:r>
            <a:r>
              <a:rPr lang="en-US" sz="2000" dirty="0">
                <a:cs typeface="Calibri"/>
              </a:rPr>
              <a:t>a</a:t>
            </a:r>
            <a:r>
              <a:rPr lang="en-US" sz="2000" spc="-49" dirty="0">
                <a:cs typeface="Calibri"/>
              </a:rPr>
              <a:t> </a:t>
            </a:r>
            <a:r>
              <a:rPr lang="en-US" sz="2000" spc="-9" dirty="0">
                <a:cs typeface="Calibri"/>
              </a:rPr>
              <a:t>parent.</a:t>
            </a:r>
            <a:endParaRPr lang="en-US" sz="2000" dirty="0">
              <a:cs typeface="Calibri"/>
            </a:endParaRPr>
          </a:p>
          <a:p>
            <a:pPr marL="666225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endParaRPr sz="1765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36812" y="5857425"/>
            <a:ext cx="5937997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2024" marR="4483" indent="-31378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6" dirty="0">
                <a:latin typeface="Calibri"/>
                <a:cs typeface="Calibri"/>
              </a:rPr>
              <a:t> </a:t>
            </a:r>
            <a:r>
              <a:rPr sz="1059" spc="-49" dirty="0">
                <a:latin typeface="Calibri"/>
                <a:cs typeface="Calibri"/>
              </a:rPr>
              <a:t>T.</a:t>
            </a:r>
            <a:r>
              <a:rPr sz="105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Winter,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Thubert,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Brandt,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J.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Hui,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Kelsey,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79" dirty="0">
                <a:latin typeface="Calibri"/>
                <a:cs typeface="Calibri"/>
              </a:rPr>
              <a:t>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Levis,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K.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Pister,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Struik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spc="-44" dirty="0">
                <a:latin typeface="Calibri"/>
                <a:cs typeface="Calibri"/>
              </a:rPr>
              <a:t>JP.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Vasseur,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Alexander, </a:t>
            </a:r>
            <a:r>
              <a:rPr sz="1059" dirty="0"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RPL: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IPv6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Routing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for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Low‐Power</a:t>
            </a:r>
            <a:r>
              <a:rPr sz="1059" u="sng" spc="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and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Lossy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Networks</a:t>
            </a:r>
            <a:r>
              <a:rPr sz="1059" spc="-18" dirty="0">
                <a:latin typeface="Calibri"/>
                <a:cs typeface="Calibri"/>
              </a:rPr>
              <a:t>”,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IETF,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Standards</a:t>
            </a:r>
            <a:r>
              <a:rPr sz="1059" spc="-31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Track, </a:t>
            </a:r>
            <a:r>
              <a:rPr sz="1059" spc="-22" dirty="0">
                <a:latin typeface="Calibri"/>
                <a:cs typeface="Calibri"/>
              </a:rPr>
              <a:t>Mar.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2012</a:t>
            </a:r>
            <a:endParaRPr sz="1059" dirty="0">
              <a:latin typeface="Calibri"/>
              <a:cs typeface="Calibri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E985D0E-E724-2B16-81D8-3CE197C32718}"/>
              </a:ext>
            </a:extLst>
          </p:cNvPr>
          <p:cNvCxnSpPr>
            <a:cxnSpLocks/>
          </p:cNvCxnSpPr>
          <p:nvPr/>
        </p:nvCxnSpPr>
        <p:spPr>
          <a:xfrm>
            <a:off x="531812" y="1197742"/>
            <a:ext cx="112776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object 2">
            <a:extLst>
              <a:ext uri="{FF2B5EF4-FFF2-40B4-BE49-F238E27FC236}">
                <a16:creationId xmlns:a16="http://schemas.microsoft.com/office/drawing/2014/main" id="{83108A42-89BC-BF3D-253B-FDE1372CCB0E}"/>
              </a:ext>
            </a:extLst>
          </p:cNvPr>
          <p:cNvSpPr txBox="1">
            <a:spLocks/>
          </p:cNvSpPr>
          <p:nvPr/>
        </p:nvSpPr>
        <p:spPr>
          <a:xfrm>
            <a:off x="684211" y="225674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>
            <a:lvl1pPr algn="l" defTabSz="914126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799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lang="en-US" spc="-357" dirty="0"/>
              <a:t>RPL</a:t>
            </a:r>
            <a:r>
              <a:rPr lang="en-US" spc="9" dirty="0"/>
              <a:t> </a:t>
            </a:r>
            <a:r>
              <a:rPr lang="en-US" spc="-53" dirty="0"/>
              <a:t>Routing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63166" y="2813284"/>
            <a:ext cx="1779045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76" dirty="0"/>
              <a:t>RFID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46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020" y="170737"/>
            <a:ext cx="11316675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22" dirty="0"/>
              <a:t>Functionality-</a:t>
            </a:r>
            <a:r>
              <a:rPr spc="66" dirty="0"/>
              <a:t>based</a:t>
            </a:r>
            <a:r>
              <a:rPr spc="-9" dirty="0"/>
              <a:t> </a:t>
            </a:r>
            <a:r>
              <a:rPr spc="-137" dirty="0"/>
              <a:t>IoT</a:t>
            </a:r>
            <a:r>
              <a:rPr spc="4" dirty="0"/>
              <a:t> </a:t>
            </a:r>
            <a:r>
              <a:rPr spc="-22" dirty="0"/>
              <a:t>Protocol</a:t>
            </a:r>
            <a:r>
              <a:rPr spc="-4" dirty="0"/>
              <a:t> </a:t>
            </a:r>
            <a:r>
              <a:rPr spc="-9" dirty="0"/>
              <a:t>Organization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47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2" y="2106253"/>
            <a:ext cx="6664138" cy="2862970"/>
          </a:xfrm>
          <a:prstGeom prst="rect">
            <a:avLst/>
          </a:prstGeom>
        </p:spPr>
        <p:txBody>
          <a:bodyPr vert="horz" wrap="square" lIns="0" tIns="40901" rIns="0" bIns="0" rtlCol="0">
            <a:spAutoFit/>
          </a:bodyPr>
          <a:lstStyle/>
          <a:p>
            <a:pPr marL="716654" indent="-302015">
              <a:spcBef>
                <a:spcPts val="322"/>
              </a:spcBef>
              <a:buFont typeface="Wingdings"/>
              <a:buChar char=""/>
              <a:tabLst>
                <a:tab pos="716654" algn="l"/>
              </a:tabLst>
            </a:pPr>
            <a:r>
              <a:rPr sz="1941" b="1" dirty="0">
                <a:solidFill>
                  <a:srgbClr val="FF0000"/>
                </a:solidFill>
                <a:latin typeface="Calibri"/>
                <a:cs typeface="Calibri"/>
              </a:rPr>
              <a:t>Connectivity</a:t>
            </a:r>
            <a:r>
              <a:rPr sz="1941" b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(6LowPAN,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RPL)</a:t>
            </a:r>
            <a:endParaRPr sz="1941" dirty="0">
              <a:latin typeface="Calibri"/>
              <a:cs typeface="Calibri"/>
            </a:endParaRPr>
          </a:p>
          <a:p>
            <a:pPr marL="716654" indent="-302015">
              <a:spcBef>
                <a:spcPts val="229"/>
              </a:spcBef>
              <a:buFont typeface="Wingdings"/>
              <a:buChar char=""/>
              <a:tabLst>
                <a:tab pos="716654" algn="l"/>
              </a:tabLst>
            </a:pPr>
            <a:r>
              <a:rPr sz="1941" b="1" dirty="0">
                <a:latin typeface="Calibri"/>
                <a:cs typeface="Calibri"/>
              </a:rPr>
              <a:t>Identification</a:t>
            </a:r>
            <a:r>
              <a:rPr sz="1941" b="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(EPC,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uCode,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IPv6,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URIs)</a:t>
            </a:r>
            <a:endParaRPr sz="1941" dirty="0">
              <a:latin typeface="Calibri"/>
              <a:cs typeface="Calibri"/>
            </a:endParaRPr>
          </a:p>
          <a:p>
            <a:pPr marL="716094" indent="-302015">
              <a:spcBef>
                <a:spcPts val="234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b="1" dirty="0">
                <a:solidFill>
                  <a:srgbClr val="FF0000"/>
                </a:solidFill>
                <a:latin typeface="Calibri"/>
                <a:cs typeface="Calibri"/>
              </a:rPr>
              <a:t>Communication</a:t>
            </a:r>
            <a:r>
              <a:rPr sz="1941" b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b="1" dirty="0">
                <a:solidFill>
                  <a:srgbClr val="FF0000"/>
                </a:solidFill>
                <a:latin typeface="Calibri"/>
                <a:cs typeface="Calibri"/>
              </a:rPr>
              <a:t>/</a:t>
            </a:r>
            <a:r>
              <a:rPr sz="1941" b="1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b="1" spc="-18" dirty="0">
                <a:solidFill>
                  <a:srgbClr val="FF0000"/>
                </a:solidFill>
                <a:latin typeface="Calibri"/>
                <a:cs typeface="Calibri"/>
              </a:rPr>
              <a:t>Transport</a:t>
            </a:r>
            <a:r>
              <a:rPr sz="1941" b="1" spc="-3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(WiFi,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Bluetooth,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LPWAN)</a:t>
            </a:r>
            <a:endParaRPr sz="1941" dirty="0">
              <a:latin typeface="Calibri"/>
              <a:cs typeface="Calibri"/>
            </a:endParaRPr>
          </a:p>
          <a:p>
            <a:pPr marL="716094" indent="-302015">
              <a:spcBef>
                <a:spcPts val="234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b="1" dirty="0">
                <a:latin typeface="Calibri"/>
                <a:cs typeface="Calibri"/>
              </a:rPr>
              <a:t>Discovery</a:t>
            </a:r>
            <a:r>
              <a:rPr sz="1941" b="1" spc="-57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(Physical</a:t>
            </a:r>
            <a:r>
              <a:rPr sz="1941" spc="-7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Web,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mDNS,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DNS‐SD)</a:t>
            </a:r>
            <a:endParaRPr sz="1941" dirty="0">
              <a:latin typeface="Calibri"/>
              <a:cs typeface="Calibri"/>
            </a:endParaRPr>
          </a:p>
          <a:p>
            <a:pPr marL="716094" indent="-302015">
              <a:spcBef>
                <a:spcPts val="234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b="1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sz="1941" b="1" spc="-4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b="1" spc="-9" dirty="0">
                <a:solidFill>
                  <a:srgbClr val="FF0000"/>
                </a:solidFill>
                <a:latin typeface="Calibri"/>
                <a:cs typeface="Calibri"/>
              </a:rPr>
              <a:t>Protocols</a:t>
            </a:r>
            <a:r>
              <a:rPr sz="1941" b="1" spc="-2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spc="-31" dirty="0">
                <a:latin typeface="Calibri"/>
                <a:cs typeface="Calibri"/>
              </a:rPr>
              <a:t>(MQTT,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spc="-49" dirty="0">
                <a:latin typeface="Calibri"/>
                <a:cs typeface="Calibri"/>
              </a:rPr>
              <a:t>CoAP,</a:t>
            </a:r>
            <a:r>
              <a:rPr sz="1941" spc="-44" dirty="0">
                <a:latin typeface="Calibri"/>
                <a:cs typeface="Calibri"/>
              </a:rPr>
              <a:t> AMQP,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Websocket,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Node)</a:t>
            </a:r>
            <a:endParaRPr sz="1941" dirty="0">
              <a:latin typeface="Calibri"/>
              <a:cs typeface="Calibri"/>
            </a:endParaRPr>
          </a:p>
          <a:p>
            <a:pPr marL="716094" indent="-302015">
              <a:spcBef>
                <a:spcPts val="234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b="1" dirty="0">
                <a:latin typeface="Calibri"/>
                <a:cs typeface="Calibri"/>
              </a:rPr>
              <a:t>Device</a:t>
            </a:r>
            <a:r>
              <a:rPr sz="1941" b="1" spc="-57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Management</a:t>
            </a:r>
            <a:r>
              <a:rPr sz="1941" b="1" spc="-7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(TR‐069,</a:t>
            </a:r>
            <a:r>
              <a:rPr sz="1941" spc="-66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OMA‐DM)</a:t>
            </a:r>
            <a:endParaRPr sz="1941" dirty="0">
              <a:latin typeface="Calibri"/>
              <a:cs typeface="Calibri"/>
            </a:endParaRPr>
          </a:p>
          <a:p>
            <a:pPr marL="715534" indent="-302015">
              <a:spcBef>
                <a:spcPts val="234"/>
              </a:spcBef>
              <a:buFont typeface="Wingdings"/>
              <a:buChar char=""/>
              <a:tabLst>
                <a:tab pos="715534" algn="l"/>
              </a:tabLst>
            </a:pPr>
            <a:r>
              <a:rPr sz="1941" b="1" dirty="0">
                <a:latin typeface="Calibri"/>
                <a:cs typeface="Calibri"/>
              </a:rPr>
              <a:t>Semantic</a:t>
            </a:r>
            <a:r>
              <a:rPr sz="1941" b="1" spc="-57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(JSON‐LD,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Web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Thing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Model)</a:t>
            </a:r>
            <a:endParaRPr sz="1941" dirty="0">
              <a:latin typeface="Calibri"/>
              <a:cs typeface="Calibri"/>
            </a:endParaRPr>
          </a:p>
          <a:p>
            <a:pPr marL="715534" indent="-302015">
              <a:spcBef>
                <a:spcPts val="234"/>
              </a:spcBef>
              <a:buFont typeface="Wingdings"/>
              <a:buChar char=""/>
              <a:tabLst>
                <a:tab pos="715534" algn="l"/>
              </a:tabLst>
            </a:pPr>
            <a:r>
              <a:rPr sz="1941" b="1" dirty="0">
                <a:latin typeface="Calibri"/>
                <a:cs typeface="Calibri"/>
              </a:rPr>
              <a:t>Multi‐layer</a:t>
            </a:r>
            <a:r>
              <a:rPr sz="1941" b="1" spc="-75" dirty="0">
                <a:latin typeface="Calibri"/>
                <a:cs typeface="Calibri"/>
              </a:rPr>
              <a:t> </a:t>
            </a:r>
            <a:r>
              <a:rPr sz="1941" b="1" spc="-9" dirty="0">
                <a:latin typeface="Calibri"/>
                <a:cs typeface="Calibri"/>
              </a:rPr>
              <a:t>Frameworks</a:t>
            </a:r>
            <a:r>
              <a:rPr sz="1941" b="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(Alljoyn,</a:t>
            </a:r>
            <a:r>
              <a:rPr sz="1941" spc="-79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IoTivity,</a:t>
            </a:r>
            <a:r>
              <a:rPr sz="1941" spc="-79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Weave,</a:t>
            </a:r>
            <a:r>
              <a:rPr sz="1941" spc="-79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Homekit)</a:t>
            </a:r>
            <a:endParaRPr sz="1941" dirty="0">
              <a:latin typeface="Calibri"/>
              <a:cs typeface="Calibri"/>
            </a:endParaRPr>
          </a:p>
          <a:p>
            <a:pPr marL="11206">
              <a:spcBef>
                <a:spcPts val="745"/>
              </a:spcBef>
            </a:pPr>
            <a:r>
              <a:rPr sz="1059" b="1" dirty="0">
                <a:latin typeface="Calibri"/>
                <a:cs typeface="Calibri"/>
              </a:rPr>
              <a:t>Source</a:t>
            </a:r>
            <a:r>
              <a:rPr sz="1059" dirty="0">
                <a:latin typeface="Calibri"/>
                <a:cs typeface="Calibri"/>
              </a:rPr>
              <a:t>: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Internet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of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Things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Protocols</a:t>
            </a:r>
            <a:r>
              <a:rPr sz="1059" u="sng" spc="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79122" y="2611578"/>
            <a:ext cx="3180651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50" dirty="0"/>
              <a:t>MQTT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48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Introduction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49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97678" y="2039018"/>
            <a:ext cx="7371790" cy="2994545"/>
          </a:xfrm>
          <a:prstGeom prst="rect">
            <a:avLst/>
          </a:prstGeom>
        </p:spPr>
        <p:txBody>
          <a:bodyPr vert="horz" wrap="square" lIns="0" tIns="40901" rIns="0" bIns="0" rtlCol="0">
            <a:spAutoFit/>
          </a:bodyPr>
          <a:lstStyle/>
          <a:p>
            <a:pPr marL="649416" indent="-302015">
              <a:spcBef>
                <a:spcPts val="322"/>
              </a:spcBef>
              <a:buFont typeface="Wingdings"/>
              <a:buChar char=""/>
              <a:tabLst>
                <a:tab pos="649416" algn="l"/>
              </a:tabLst>
            </a:pPr>
            <a:r>
              <a:rPr sz="1941" b="1" dirty="0">
                <a:latin typeface="Calibri"/>
                <a:cs typeface="Calibri"/>
              </a:rPr>
              <a:t>Message</a:t>
            </a:r>
            <a:r>
              <a:rPr sz="1941" b="1" spc="-31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Queue</a:t>
            </a:r>
            <a:r>
              <a:rPr sz="1941" b="1" spc="-31" dirty="0">
                <a:latin typeface="Calibri"/>
                <a:cs typeface="Calibri"/>
              </a:rPr>
              <a:t> </a:t>
            </a:r>
            <a:r>
              <a:rPr sz="1941" b="1" spc="-22" dirty="0">
                <a:latin typeface="Calibri"/>
                <a:cs typeface="Calibri"/>
              </a:rPr>
              <a:t>Telemetry</a:t>
            </a:r>
            <a:r>
              <a:rPr sz="1941" b="1" spc="-26" dirty="0">
                <a:latin typeface="Calibri"/>
                <a:cs typeface="Calibri"/>
              </a:rPr>
              <a:t> </a:t>
            </a:r>
            <a:r>
              <a:rPr sz="1941" b="1" spc="-9" dirty="0">
                <a:latin typeface="Calibri"/>
                <a:cs typeface="Calibri"/>
              </a:rPr>
              <a:t>Transport.</a:t>
            </a:r>
            <a:endParaRPr sz="1941">
              <a:latin typeface="Calibri"/>
              <a:cs typeface="Calibri"/>
            </a:endParaRPr>
          </a:p>
          <a:p>
            <a:pPr marL="648855" indent="-302015">
              <a:spcBef>
                <a:spcPts val="229"/>
              </a:spcBef>
              <a:buFont typeface="Wingdings"/>
              <a:buChar char=""/>
              <a:tabLst>
                <a:tab pos="648855" algn="l"/>
              </a:tabLst>
            </a:pPr>
            <a:r>
              <a:rPr sz="1941" dirty="0">
                <a:latin typeface="Calibri"/>
                <a:cs typeface="Calibri"/>
              </a:rPr>
              <a:t>ISO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standard</a:t>
            </a:r>
            <a:r>
              <a:rPr sz="1941" spc="-6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(ISO/IEC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PRF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20922).</a:t>
            </a:r>
            <a:endParaRPr sz="1941">
              <a:latin typeface="Calibri"/>
              <a:cs typeface="Calibri"/>
            </a:endParaRPr>
          </a:p>
          <a:p>
            <a:pPr marL="648855" marR="198915" indent="-302015">
              <a:lnSpc>
                <a:spcPts val="2100"/>
              </a:lnSpc>
              <a:spcBef>
                <a:spcPts val="494"/>
              </a:spcBef>
              <a:buFont typeface="Wingdings"/>
              <a:buChar char=""/>
              <a:tabLst>
                <a:tab pos="649976" algn="l"/>
              </a:tabLst>
            </a:pPr>
            <a:r>
              <a:rPr sz="1941" dirty="0">
                <a:latin typeface="Calibri"/>
                <a:cs typeface="Calibri"/>
              </a:rPr>
              <a:t>It</a:t>
            </a:r>
            <a:r>
              <a:rPr sz="1941" spc="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9" dirty="0">
                <a:latin typeface="Calibri"/>
                <a:cs typeface="Calibri"/>
              </a:rPr>
              <a:t> </a:t>
            </a:r>
            <a:r>
              <a:rPr sz="1941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publish‐subscribe</a:t>
            </a:r>
            <a:r>
              <a:rPr sz="1941" spc="-9" dirty="0">
                <a:latin typeface="Calibri"/>
                <a:cs typeface="Calibri"/>
              </a:rPr>
              <a:t>‐based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lightweight </a:t>
            </a:r>
            <a:r>
              <a:rPr sz="1941" dirty="0">
                <a:latin typeface="Calibri"/>
                <a:cs typeface="Calibri"/>
              </a:rPr>
              <a:t>messaging</a:t>
            </a:r>
            <a:r>
              <a:rPr sz="1941" spc="-4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protocol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for 	</a:t>
            </a:r>
            <a:r>
              <a:rPr sz="1941" dirty="0">
                <a:latin typeface="Calibri"/>
                <a:cs typeface="Calibri"/>
              </a:rPr>
              <a:t>use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in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conjunction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with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TCP/IP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protocol.</a:t>
            </a:r>
            <a:endParaRPr sz="1941">
              <a:latin typeface="Calibri"/>
              <a:cs typeface="Calibri"/>
            </a:endParaRPr>
          </a:p>
          <a:p>
            <a:pPr marL="648855" marR="4483" indent="-302015">
              <a:lnSpc>
                <a:spcPts val="2100"/>
              </a:lnSpc>
              <a:spcBef>
                <a:spcPts val="459"/>
              </a:spcBef>
              <a:buFont typeface="Wingdings"/>
              <a:buChar char=""/>
              <a:tabLst>
                <a:tab pos="649976" algn="l"/>
              </a:tabLst>
            </a:pPr>
            <a:r>
              <a:rPr sz="1941" dirty="0">
                <a:latin typeface="Calibri"/>
                <a:cs typeface="Calibri"/>
              </a:rPr>
              <a:t>MQTT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was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introduced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by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IBM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in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1999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standardized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by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OASIS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in 	</a:t>
            </a:r>
            <a:r>
              <a:rPr sz="1941" spc="-9" dirty="0">
                <a:latin typeface="Calibri"/>
                <a:cs typeface="Calibri"/>
              </a:rPr>
              <a:t>2013.</a:t>
            </a:r>
            <a:endParaRPr sz="1941">
              <a:latin typeface="Calibri"/>
              <a:cs typeface="Calibri"/>
            </a:endParaRPr>
          </a:p>
          <a:p>
            <a:pPr marL="649976" marR="479637" indent="-302575">
              <a:lnSpc>
                <a:spcPts val="2100"/>
              </a:lnSpc>
              <a:spcBef>
                <a:spcPts val="459"/>
              </a:spcBef>
              <a:buFont typeface="Wingdings"/>
              <a:buChar char=""/>
              <a:tabLst>
                <a:tab pos="649976" algn="l"/>
              </a:tabLst>
            </a:pPr>
            <a:r>
              <a:rPr sz="1941" dirty="0">
                <a:latin typeface="Calibri"/>
                <a:cs typeface="Calibri"/>
              </a:rPr>
              <a:t>Designed</a:t>
            </a:r>
            <a:r>
              <a:rPr sz="1941" spc="-6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provide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connectivity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(mostly</a:t>
            </a:r>
            <a:r>
              <a:rPr sz="1941" spc="-6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embedded)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between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applications</a:t>
            </a:r>
            <a:r>
              <a:rPr sz="1941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941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middle‐wares</a:t>
            </a:r>
            <a:r>
              <a:rPr sz="1941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one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side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networks</a:t>
            </a:r>
            <a:r>
              <a:rPr sz="1941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spc="-2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communications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other</a:t>
            </a:r>
            <a:r>
              <a:rPr sz="1941" spc="-9" dirty="0">
                <a:latin typeface="Calibri"/>
                <a:cs typeface="Calibri"/>
              </a:rPr>
              <a:t> side.</a:t>
            </a:r>
            <a:endParaRPr sz="1941">
              <a:latin typeface="Calibri"/>
              <a:cs typeface="Calibri"/>
            </a:endParaRPr>
          </a:p>
          <a:p>
            <a:pPr marL="11206">
              <a:spcBef>
                <a:spcPts val="653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2" dirty="0"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“MQTT”,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Wikipedia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3855" y="1625974"/>
            <a:ext cx="6875929" cy="273789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75083" indent="-302575">
              <a:spcBef>
                <a:spcPts val="88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A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message</a:t>
            </a:r>
            <a:r>
              <a:rPr sz="2118" u="heavy" spc="-62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broker</a:t>
            </a:r>
            <a:r>
              <a:rPr sz="2118" u="heavy" spc="-66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controls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publish‐subscribe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messaging pattern.</a:t>
            </a:r>
            <a:endParaRPr sz="2118">
              <a:latin typeface="Calibri"/>
              <a:cs typeface="Calibri"/>
            </a:endParaRPr>
          </a:p>
          <a:p>
            <a:pPr marL="313781" marR="4483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A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topic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client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subscribed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updated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form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messages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distributed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by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message</a:t>
            </a:r>
            <a:r>
              <a:rPr sz="2118" u="heavy" spc="-53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broker</a:t>
            </a:r>
            <a:r>
              <a:rPr sz="2118" spc="-9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507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Designed</a:t>
            </a:r>
            <a:r>
              <a:rPr sz="2118" spc="-101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for:</a:t>
            </a:r>
            <a:endParaRPr sz="2118">
              <a:latin typeface="Calibri"/>
              <a:cs typeface="Calibri"/>
            </a:endParaRPr>
          </a:p>
          <a:p>
            <a:pPr marL="666225" lvl="1" indent="-251585">
              <a:spcBef>
                <a:spcPts val="449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Remote</a:t>
            </a:r>
            <a:r>
              <a:rPr sz="1765" spc="-97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connections</a:t>
            </a:r>
            <a:endParaRPr sz="1765">
              <a:latin typeface="Calibri"/>
              <a:cs typeface="Calibri"/>
            </a:endParaRPr>
          </a:p>
          <a:p>
            <a:pPr marL="666225" lvl="1" indent="-252146">
              <a:spcBef>
                <a:spcPts val="424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Limited</a:t>
            </a:r>
            <a:r>
              <a:rPr sz="1765" spc="-79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bandwidth</a:t>
            </a:r>
            <a:endParaRPr sz="1765">
              <a:latin typeface="Calibri"/>
              <a:cs typeface="Calibri"/>
            </a:endParaRPr>
          </a:p>
          <a:p>
            <a:pPr marL="666225" lvl="1" indent="-252146">
              <a:spcBef>
                <a:spcPts val="419"/>
              </a:spcBef>
              <a:buFont typeface="Wingdings"/>
              <a:buChar char=""/>
              <a:tabLst>
                <a:tab pos="666225" algn="l"/>
              </a:tabLst>
            </a:pPr>
            <a:r>
              <a:rPr sz="1765" dirty="0">
                <a:latin typeface="Calibri"/>
                <a:cs typeface="Calibri"/>
              </a:rPr>
              <a:t>Small‐code</a:t>
            </a:r>
            <a:r>
              <a:rPr sz="1765" spc="-97" dirty="0">
                <a:latin typeface="Calibri"/>
                <a:cs typeface="Calibri"/>
              </a:rPr>
              <a:t> </a:t>
            </a:r>
            <a:r>
              <a:rPr sz="1765" spc="-9" dirty="0">
                <a:latin typeface="Calibri"/>
                <a:cs typeface="Calibri"/>
              </a:rPr>
              <a:t>footprint</a:t>
            </a:r>
            <a:endParaRPr sz="1765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50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97678" y="4818976"/>
            <a:ext cx="1987363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2" dirty="0"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“MQTT”,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Wikipedia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172" dirty="0"/>
              <a:t>MQTT</a:t>
            </a:r>
            <a:r>
              <a:rPr spc="9" dirty="0"/>
              <a:t> </a:t>
            </a:r>
            <a:r>
              <a:rPr spc="-9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89345" y="2524517"/>
            <a:ext cx="1676960" cy="18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4"/>
              </a:lnSpc>
            </a:pPr>
            <a:r>
              <a:rPr sz="1500" dirty="0">
                <a:latin typeface="Calibri"/>
                <a:cs typeface="Calibri"/>
              </a:rPr>
              <a:t>•</a:t>
            </a:r>
            <a:r>
              <a:rPr sz="1500" spc="93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Lightweight</a:t>
            </a:r>
            <a:r>
              <a:rPr sz="1500" spc="9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sensors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75225" y="2410386"/>
            <a:ext cx="3721474" cy="65083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78139" y="2465742"/>
            <a:ext cx="1699372" cy="24158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1934" indent="-150727">
              <a:spcBef>
                <a:spcPts val="84"/>
              </a:spcBef>
              <a:buChar char="•"/>
              <a:tabLst>
                <a:tab pos="161934" algn="l"/>
              </a:tabLst>
            </a:pPr>
            <a:r>
              <a:rPr sz="1500" spc="-9" dirty="0">
                <a:latin typeface="Calibri"/>
                <a:cs typeface="Calibri"/>
              </a:rPr>
              <a:t>Lightweight</a:t>
            </a:r>
            <a:r>
              <a:rPr sz="1500" spc="4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sensors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9344" y="3217713"/>
            <a:ext cx="3055283" cy="185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4"/>
              </a:lnSpc>
            </a:pPr>
            <a:r>
              <a:rPr sz="1500" dirty="0">
                <a:latin typeface="Calibri"/>
                <a:cs typeface="Calibri"/>
              </a:rPr>
              <a:t>•</a:t>
            </a:r>
            <a:r>
              <a:rPr sz="1500" spc="6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Applications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interested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sensor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8" dirty="0">
                <a:latin typeface="Calibri"/>
                <a:cs typeface="Calibri"/>
              </a:rPr>
              <a:t>data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398276" y="2413747"/>
            <a:ext cx="6198534" cy="1340784"/>
            <a:chOff x="1973579" y="2735579"/>
            <a:chExt cx="7025005" cy="15195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3579" y="2735579"/>
              <a:ext cx="2819400" cy="72770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0787" y="3518153"/>
              <a:ext cx="4217670" cy="73685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878138" y="3158938"/>
            <a:ext cx="3077695" cy="241582"/>
          </a:xfrm>
          <a:prstGeom prst="rect">
            <a:avLst/>
          </a:prstGeom>
        </p:spPr>
        <p:txBody>
          <a:bodyPr vert="horz" wrap="square" lIns="0" tIns="10646" rIns="0" bIns="0" rtlCol="0">
            <a:spAutoFit/>
          </a:bodyPr>
          <a:lstStyle/>
          <a:p>
            <a:pPr marL="161934" indent="-150727">
              <a:spcBef>
                <a:spcPts val="84"/>
              </a:spcBef>
              <a:buChar char="•"/>
              <a:tabLst>
                <a:tab pos="161934" algn="l"/>
              </a:tabLst>
            </a:pPr>
            <a:r>
              <a:rPr sz="1500" dirty="0">
                <a:latin typeface="Calibri"/>
                <a:cs typeface="Calibri"/>
              </a:rPr>
              <a:t>Applications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interested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sensor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8" dirty="0">
                <a:latin typeface="Calibri"/>
                <a:cs typeface="Calibri"/>
              </a:rPr>
              <a:t>data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398276" y="3106943"/>
            <a:ext cx="2487706" cy="64209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889344" y="3910909"/>
            <a:ext cx="2881592" cy="423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24"/>
              </a:lnSpc>
            </a:pPr>
            <a:r>
              <a:rPr sz="1500" dirty="0">
                <a:latin typeface="Calibri"/>
                <a:cs typeface="Calibri"/>
              </a:rPr>
              <a:t>•</a:t>
            </a:r>
            <a:r>
              <a:rPr sz="1500" spc="7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Connect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publishers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2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subscribers</a:t>
            </a:r>
            <a:endParaRPr sz="1500">
              <a:latin typeface="Calibri"/>
              <a:cs typeface="Calibri"/>
            </a:endParaRPr>
          </a:p>
          <a:p>
            <a:pPr>
              <a:spcBef>
                <a:spcPts val="119"/>
              </a:spcBef>
            </a:pPr>
            <a:r>
              <a:rPr sz="1500" dirty="0">
                <a:latin typeface="Calibri"/>
                <a:cs typeface="Calibri"/>
              </a:rPr>
              <a:t>•</a:t>
            </a:r>
            <a:r>
              <a:rPr sz="1500" spc="62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Classify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sensor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1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topics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75225" y="3797450"/>
            <a:ext cx="3721474" cy="65083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878138" y="3836342"/>
            <a:ext cx="2904004" cy="501080"/>
          </a:xfrm>
          <a:prstGeom prst="rect">
            <a:avLst/>
          </a:prstGeom>
        </p:spPr>
        <p:txBody>
          <a:bodyPr vert="horz" wrap="square" lIns="0" tIns="26334" rIns="0" bIns="0" rtlCol="0">
            <a:spAutoFit/>
          </a:bodyPr>
          <a:lstStyle/>
          <a:p>
            <a:pPr marL="161934" indent="-150727">
              <a:spcBef>
                <a:spcPts val="207"/>
              </a:spcBef>
              <a:buChar char="•"/>
              <a:tabLst>
                <a:tab pos="161934" algn="l"/>
              </a:tabLst>
            </a:pPr>
            <a:r>
              <a:rPr sz="1500" dirty="0">
                <a:latin typeface="Calibri"/>
                <a:cs typeface="Calibri"/>
              </a:rPr>
              <a:t>Connect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publishers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6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subscribers</a:t>
            </a:r>
            <a:endParaRPr sz="1500">
              <a:latin typeface="Calibri"/>
              <a:cs typeface="Calibri"/>
            </a:endParaRPr>
          </a:p>
          <a:p>
            <a:pPr marL="161934" indent="-150727">
              <a:spcBef>
                <a:spcPts val="124"/>
              </a:spcBef>
              <a:buChar char="•"/>
              <a:tabLst>
                <a:tab pos="161934" algn="l"/>
              </a:tabLst>
            </a:pPr>
            <a:r>
              <a:rPr sz="1500" dirty="0">
                <a:latin typeface="Calibri"/>
                <a:cs typeface="Calibri"/>
              </a:rPr>
              <a:t>Classify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sensor</a:t>
            </a:r>
            <a:r>
              <a:rPr sz="1500" spc="-44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into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9" dirty="0">
                <a:latin typeface="Calibri"/>
                <a:cs typeface="Calibri"/>
              </a:rPr>
              <a:t>topics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98276" y="3800138"/>
            <a:ext cx="2487706" cy="64209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3695008" y="2225711"/>
            <a:ext cx="1897156" cy="204155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560" algn="ctr">
              <a:lnSpc>
                <a:spcPct val="143200"/>
              </a:lnSpc>
              <a:spcBef>
                <a:spcPts val="88"/>
              </a:spcBef>
            </a:pPr>
            <a:r>
              <a:rPr sz="3177" spc="-9" dirty="0">
                <a:solidFill>
                  <a:srgbClr val="FFFFFF"/>
                </a:solidFill>
                <a:latin typeface="Calibri"/>
                <a:cs typeface="Calibri"/>
              </a:rPr>
              <a:t>Publishers Subscribers Brokers</a:t>
            </a:r>
            <a:endParaRPr sz="3177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51</a:t>
            </a:fld>
            <a:endParaRPr spc="-22" dirty="0"/>
          </a:p>
        </p:txBody>
      </p:sp>
      <p:sp>
        <p:nvSpPr>
          <p:cNvPr id="17" name="object 17"/>
          <p:cNvSpPr txBox="1"/>
          <p:nvPr/>
        </p:nvSpPr>
        <p:spPr>
          <a:xfrm>
            <a:off x="2197678" y="4818976"/>
            <a:ext cx="1987363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2" dirty="0"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“MQTT”,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Wikipedia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172" dirty="0"/>
              <a:t>MQTT</a:t>
            </a:r>
            <a:r>
              <a:rPr spc="9" dirty="0"/>
              <a:t> </a:t>
            </a:r>
            <a:r>
              <a:rPr spc="-9" dirty="0"/>
              <a:t>Methods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95848" y="2257088"/>
            <a:ext cx="6127376" cy="298076"/>
            <a:chOff x="1290827" y="2558033"/>
            <a:chExt cx="6944359" cy="3378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5399" y="2563367"/>
              <a:ext cx="6934200" cy="3276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0827" y="2558033"/>
              <a:ext cx="6944106" cy="33756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90827" y="2558033"/>
              <a:ext cx="6944359" cy="337820"/>
            </a:xfrm>
            <a:custGeom>
              <a:avLst/>
              <a:gdLst/>
              <a:ahLst/>
              <a:cxnLst/>
              <a:rect l="l" t="t" r="r" b="b"/>
              <a:pathLst>
                <a:path w="6944359" h="337819">
                  <a:moveTo>
                    <a:pt x="6944106" y="335279"/>
                  </a:moveTo>
                  <a:lnTo>
                    <a:pt x="6944106" y="2285"/>
                  </a:lnTo>
                  <a:lnTo>
                    <a:pt x="69418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335280"/>
                  </a:lnTo>
                  <a:lnTo>
                    <a:pt x="2286" y="337566"/>
                  </a:lnTo>
                  <a:lnTo>
                    <a:pt x="4572" y="337566"/>
                  </a:lnTo>
                  <a:lnTo>
                    <a:pt x="4572" y="9906"/>
                  </a:lnTo>
                  <a:lnTo>
                    <a:pt x="9905" y="5334"/>
                  </a:lnTo>
                  <a:lnTo>
                    <a:pt x="9905" y="9906"/>
                  </a:lnTo>
                  <a:lnTo>
                    <a:pt x="6934200" y="9905"/>
                  </a:lnTo>
                  <a:lnTo>
                    <a:pt x="6934200" y="5333"/>
                  </a:lnTo>
                  <a:lnTo>
                    <a:pt x="6938772" y="9905"/>
                  </a:lnTo>
                  <a:lnTo>
                    <a:pt x="6938772" y="337565"/>
                  </a:lnTo>
                  <a:lnTo>
                    <a:pt x="6941820" y="337565"/>
                  </a:lnTo>
                  <a:lnTo>
                    <a:pt x="6944106" y="335279"/>
                  </a:lnTo>
                  <a:close/>
                </a:path>
                <a:path w="6944359" h="337819">
                  <a:moveTo>
                    <a:pt x="9905" y="9906"/>
                  </a:moveTo>
                  <a:lnTo>
                    <a:pt x="9905" y="5334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6944359" h="337819">
                  <a:moveTo>
                    <a:pt x="9905" y="32766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327660"/>
                  </a:lnTo>
                  <a:lnTo>
                    <a:pt x="9905" y="327660"/>
                  </a:lnTo>
                  <a:close/>
                </a:path>
                <a:path w="6944359" h="337819">
                  <a:moveTo>
                    <a:pt x="6938772" y="327659"/>
                  </a:moveTo>
                  <a:lnTo>
                    <a:pt x="4572" y="327660"/>
                  </a:lnTo>
                  <a:lnTo>
                    <a:pt x="9905" y="332993"/>
                  </a:lnTo>
                  <a:lnTo>
                    <a:pt x="9905" y="337566"/>
                  </a:lnTo>
                  <a:lnTo>
                    <a:pt x="6934200" y="337565"/>
                  </a:lnTo>
                  <a:lnTo>
                    <a:pt x="6934200" y="332993"/>
                  </a:lnTo>
                  <a:lnTo>
                    <a:pt x="6938772" y="327659"/>
                  </a:lnTo>
                  <a:close/>
                </a:path>
                <a:path w="6944359" h="337819">
                  <a:moveTo>
                    <a:pt x="9905" y="337566"/>
                  </a:moveTo>
                  <a:lnTo>
                    <a:pt x="9905" y="332993"/>
                  </a:lnTo>
                  <a:lnTo>
                    <a:pt x="4572" y="327660"/>
                  </a:lnTo>
                  <a:lnTo>
                    <a:pt x="4572" y="337566"/>
                  </a:lnTo>
                  <a:lnTo>
                    <a:pt x="9905" y="337566"/>
                  </a:lnTo>
                  <a:close/>
                </a:path>
                <a:path w="6944359" h="337819">
                  <a:moveTo>
                    <a:pt x="6938772" y="9905"/>
                  </a:moveTo>
                  <a:lnTo>
                    <a:pt x="6934200" y="5333"/>
                  </a:lnTo>
                  <a:lnTo>
                    <a:pt x="6934200" y="9905"/>
                  </a:lnTo>
                  <a:lnTo>
                    <a:pt x="6938772" y="9905"/>
                  </a:lnTo>
                  <a:close/>
                </a:path>
                <a:path w="6944359" h="337819">
                  <a:moveTo>
                    <a:pt x="6938772" y="327659"/>
                  </a:moveTo>
                  <a:lnTo>
                    <a:pt x="6938772" y="9905"/>
                  </a:lnTo>
                  <a:lnTo>
                    <a:pt x="6934200" y="9905"/>
                  </a:lnTo>
                  <a:lnTo>
                    <a:pt x="6934200" y="327659"/>
                  </a:lnTo>
                  <a:lnTo>
                    <a:pt x="6938772" y="327659"/>
                  </a:lnTo>
                  <a:close/>
                </a:path>
                <a:path w="6944359" h="337819">
                  <a:moveTo>
                    <a:pt x="6938772" y="337565"/>
                  </a:moveTo>
                  <a:lnTo>
                    <a:pt x="6938772" y="327659"/>
                  </a:lnTo>
                  <a:lnTo>
                    <a:pt x="6934200" y="332993"/>
                  </a:lnTo>
                  <a:lnTo>
                    <a:pt x="6934200" y="337565"/>
                  </a:lnTo>
                  <a:lnTo>
                    <a:pt x="6938772" y="337565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01769" y="2087656"/>
            <a:ext cx="4290956" cy="34895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2795848" y="2608057"/>
            <a:ext cx="6127376" cy="467285"/>
            <a:chOff x="1290827" y="2955798"/>
            <a:chExt cx="6944359" cy="52959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5399" y="3153156"/>
              <a:ext cx="6934200" cy="3268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0827" y="3147822"/>
              <a:ext cx="6944106" cy="33756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90827" y="3147822"/>
              <a:ext cx="6944359" cy="337820"/>
            </a:xfrm>
            <a:custGeom>
              <a:avLst/>
              <a:gdLst/>
              <a:ahLst/>
              <a:cxnLst/>
              <a:rect l="l" t="t" r="r" b="b"/>
              <a:pathLst>
                <a:path w="6944359" h="337820">
                  <a:moveTo>
                    <a:pt x="6944106" y="335279"/>
                  </a:moveTo>
                  <a:lnTo>
                    <a:pt x="6944106" y="2285"/>
                  </a:lnTo>
                  <a:lnTo>
                    <a:pt x="69418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335280"/>
                  </a:lnTo>
                  <a:lnTo>
                    <a:pt x="2286" y="337566"/>
                  </a:lnTo>
                  <a:lnTo>
                    <a:pt x="4572" y="337566"/>
                  </a:lnTo>
                  <a:lnTo>
                    <a:pt x="4572" y="9906"/>
                  </a:lnTo>
                  <a:lnTo>
                    <a:pt x="9905" y="5334"/>
                  </a:lnTo>
                  <a:lnTo>
                    <a:pt x="9905" y="9906"/>
                  </a:lnTo>
                  <a:lnTo>
                    <a:pt x="6934200" y="9905"/>
                  </a:lnTo>
                  <a:lnTo>
                    <a:pt x="6934200" y="5333"/>
                  </a:lnTo>
                  <a:lnTo>
                    <a:pt x="6938772" y="9905"/>
                  </a:lnTo>
                  <a:lnTo>
                    <a:pt x="6938772" y="337565"/>
                  </a:lnTo>
                  <a:lnTo>
                    <a:pt x="6941820" y="337565"/>
                  </a:lnTo>
                  <a:lnTo>
                    <a:pt x="6944106" y="335279"/>
                  </a:lnTo>
                  <a:close/>
                </a:path>
                <a:path w="6944359" h="337820">
                  <a:moveTo>
                    <a:pt x="9905" y="9906"/>
                  </a:moveTo>
                  <a:lnTo>
                    <a:pt x="9905" y="5334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6944359" h="337820">
                  <a:moveTo>
                    <a:pt x="9905" y="32766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327660"/>
                  </a:lnTo>
                  <a:lnTo>
                    <a:pt x="9905" y="327660"/>
                  </a:lnTo>
                  <a:close/>
                </a:path>
                <a:path w="6944359" h="337820">
                  <a:moveTo>
                    <a:pt x="6938772" y="327659"/>
                  </a:moveTo>
                  <a:lnTo>
                    <a:pt x="4572" y="327660"/>
                  </a:lnTo>
                  <a:lnTo>
                    <a:pt x="9905" y="332231"/>
                  </a:lnTo>
                  <a:lnTo>
                    <a:pt x="9905" y="337566"/>
                  </a:lnTo>
                  <a:lnTo>
                    <a:pt x="6934200" y="337565"/>
                  </a:lnTo>
                  <a:lnTo>
                    <a:pt x="6934200" y="332231"/>
                  </a:lnTo>
                  <a:lnTo>
                    <a:pt x="6938772" y="327659"/>
                  </a:lnTo>
                  <a:close/>
                </a:path>
                <a:path w="6944359" h="337820">
                  <a:moveTo>
                    <a:pt x="9905" y="337566"/>
                  </a:moveTo>
                  <a:lnTo>
                    <a:pt x="9905" y="332231"/>
                  </a:lnTo>
                  <a:lnTo>
                    <a:pt x="4572" y="327660"/>
                  </a:lnTo>
                  <a:lnTo>
                    <a:pt x="4572" y="337566"/>
                  </a:lnTo>
                  <a:lnTo>
                    <a:pt x="9905" y="337566"/>
                  </a:lnTo>
                  <a:close/>
                </a:path>
                <a:path w="6944359" h="337820">
                  <a:moveTo>
                    <a:pt x="6938772" y="9905"/>
                  </a:moveTo>
                  <a:lnTo>
                    <a:pt x="6934200" y="5333"/>
                  </a:lnTo>
                  <a:lnTo>
                    <a:pt x="6934200" y="9905"/>
                  </a:lnTo>
                  <a:lnTo>
                    <a:pt x="6938772" y="9905"/>
                  </a:lnTo>
                  <a:close/>
                </a:path>
                <a:path w="6944359" h="337820">
                  <a:moveTo>
                    <a:pt x="6938772" y="327659"/>
                  </a:moveTo>
                  <a:lnTo>
                    <a:pt x="6938772" y="9905"/>
                  </a:lnTo>
                  <a:lnTo>
                    <a:pt x="6934200" y="9905"/>
                  </a:lnTo>
                  <a:lnTo>
                    <a:pt x="6934200" y="327659"/>
                  </a:lnTo>
                  <a:lnTo>
                    <a:pt x="6938772" y="327659"/>
                  </a:lnTo>
                  <a:close/>
                </a:path>
                <a:path w="6944359" h="337820">
                  <a:moveTo>
                    <a:pt x="6938772" y="337565"/>
                  </a:moveTo>
                  <a:lnTo>
                    <a:pt x="6938772" y="327659"/>
                  </a:lnTo>
                  <a:lnTo>
                    <a:pt x="6934200" y="332231"/>
                  </a:lnTo>
                  <a:lnTo>
                    <a:pt x="6934200" y="337565"/>
                  </a:lnTo>
                  <a:lnTo>
                    <a:pt x="6938772" y="337565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7537" y="2955798"/>
              <a:ext cx="4863084" cy="39547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795848" y="3129130"/>
            <a:ext cx="6127376" cy="466725"/>
            <a:chOff x="1290827" y="3546347"/>
            <a:chExt cx="6944359" cy="52895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95399" y="3742181"/>
              <a:ext cx="6934200" cy="3276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90827" y="3737609"/>
              <a:ext cx="6944106" cy="33756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90827" y="3737609"/>
              <a:ext cx="6944359" cy="337820"/>
            </a:xfrm>
            <a:custGeom>
              <a:avLst/>
              <a:gdLst/>
              <a:ahLst/>
              <a:cxnLst/>
              <a:rect l="l" t="t" r="r" b="b"/>
              <a:pathLst>
                <a:path w="6944359" h="337820">
                  <a:moveTo>
                    <a:pt x="6944106" y="335279"/>
                  </a:moveTo>
                  <a:lnTo>
                    <a:pt x="6944106" y="2285"/>
                  </a:lnTo>
                  <a:lnTo>
                    <a:pt x="69418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335280"/>
                  </a:lnTo>
                  <a:lnTo>
                    <a:pt x="2286" y="337566"/>
                  </a:lnTo>
                  <a:lnTo>
                    <a:pt x="4572" y="337566"/>
                  </a:lnTo>
                  <a:lnTo>
                    <a:pt x="4572" y="9906"/>
                  </a:lnTo>
                  <a:lnTo>
                    <a:pt x="9905" y="4572"/>
                  </a:lnTo>
                  <a:lnTo>
                    <a:pt x="9905" y="9906"/>
                  </a:lnTo>
                  <a:lnTo>
                    <a:pt x="6934200" y="9905"/>
                  </a:lnTo>
                  <a:lnTo>
                    <a:pt x="6934200" y="4571"/>
                  </a:lnTo>
                  <a:lnTo>
                    <a:pt x="6938772" y="9905"/>
                  </a:lnTo>
                  <a:lnTo>
                    <a:pt x="6938772" y="337565"/>
                  </a:lnTo>
                  <a:lnTo>
                    <a:pt x="6941820" y="337565"/>
                  </a:lnTo>
                  <a:lnTo>
                    <a:pt x="6944106" y="335279"/>
                  </a:lnTo>
                  <a:close/>
                </a:path>
                <a:path w="6944359" h="337820">
                  <a:moveTo>
                    <a:pt x="9905" y="9906"/>
                  </a:moveTo>
                  <a:lnTo>
                    <a:pt x="9905" y="4572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6944359" h="337820">
                  <a:moveTo>
                    <a:pt x="9905" y="32766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327660"/>
                  </a:lnTo>
                  <a:lnTo>
                    <a:pt x="9905" y="327660"/>
                  </a:lnTo>
                  <a:close/>
                </a:path>
                <a:path w="6944359" h="337820">
                  <a:moveTo>
                    <a:pt x="6938772" y="327659"/>
                  </a:moveTo>
                  <a:lnTo>
                    <a:pt x="4572" y="327660"/>
                  </a:lnTo>
                  <a:lnTo>
                    <a:pt x="9905" y="332231"/>
                  </a:lnTo>
                  <a:lnTo>
                    <a:pt x="9905" y="337566"/>
                  </a:lnTo>
                  <a:lnTo>
                    <a:pt x="6934200" y="337565"/>
                  </a:lnTo>
                  <a:lnTo>
                    <a:pt x="6934200" y="332231"/>
                  </a:lnTo>
                  <a:lnTo>
                    <a:pt x="6938772" y="327659"/>
                  </a:lnTo>
                  <a:close/>
                </a:path>
                <a:path w="6944359" h="337820">
                  <a:moveTo>
                    <a:pt x="9905" y="337566"/>
                  </a:moveTo>
                  <a:lnTo>
                    <a:pt x="9905" y="332231"/>
                  </a:lnTo>
                  <a:lnTo>
                    <a:pt x="4572" y="327660"/>
                  </a:lnTo>
                  <a:lnTo>
                    <a:pt x="4572" y="337566"/>
                  </a:lnTo>
                  <a:lnTo>
                    <a:pt x="9905" y="337566"/>
                  </a:lnTo>
                  <a:close/>
                </a:path>
                <a:path w="6944359" h="337820">
                  <a:moveTo>
                    <a:pt x="6938772" y="9905"/>
                  </a:moveTo>
                  <a:lnTo>
                    <a:pt x="6934200" y="4571"/>
                  </a:lnTo>
                  <a:lnTo>
                    <a:pt x="6934200" y="9905"/>
                  </a:lnTo>
                  <a:lnTo>
                    <a:pt x="6938772" y="9905"/>
                  </a:lnTo>
                  <a:close/>
                </a:path>
                <a:path w="6944359" h="337820">
                  <a:moveTo>
                    <a:pt x="6938772" y="327659"/>
                  </a:moveTo>
                  <a:lnTo>
                    <a:pt x="6938772" y="9905"/>
                  </a:lnTo>
                  <a:lnTo>
                    <a:pt x="6934200" y="9905"/>
                  </a:lnTo>
                  <a:lnTo>
                    <a:pt x="6934200" y="327659"/>
                  </a:lnTo>
                  <a:lnTo>
                    <a:pt x="6938772" y="327659"/>
                  </a:lnTo>
                  <a:close/>
                </a:path>
                <a:path w="6944359" h="337820">
                  <a:moveTo>
                    <a:pt x="6938772" y="337565"/>
                  </a:moveTo>
                  <a:lnTo>
                    <a:pt x="6938772" y="327659"/>
                  </a:lnTo>
                  <a:lnTo>
                    <a:pt x="6934200" y="332231"/>
                  </a:lnTo>
                  <a:lnTo>
                    <a:pt x="6934200" y="337565"/>
                  </a:lnTo>
                  <a:lnTo>
                    <a:pt x="6938772" y="337565"/>
                  </a:lnTo>
                  <a:close/>
                </a:path>
              </a:pathLst>
            </a:custGeom>
            <a:solidFill>
              <a:srgbClr val="8064A2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37537" y="3546347"/>
              <a:ext cx="4863084" cy="39547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2795848" y="3646170"/>
            <a:ext cx="6127376" cy="469526"/>
            <a:chOff x="1290827" y="4132326"/>
            <a:chExt cx="6944359" cy="532130"/>
          </a:xfrm>
        </p:grpSpPr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95399" y="4331970"/>
              <a:ext cx="6934200" cy="32766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90827" y="4327398"/>
              <a:ext cx="6944106" cy="3368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90827" y="4327398"/>
              <a:ext cx="6944359" cy="337185"/>
            </a:xfrm>
            <a:custGeom>
              <a:avLst/>
              <a:gdLst/>
              <a:ahLst/>
              <a:cxnLst/>
              <a:rect l="l" t="t" r="r" b="b"/>
              <a:pathLst>
                <a:path w="6944359" h="337185">
                  <a:moveTo>
                    <a:pt x="6944106" y="335279"/>
                  </a:moveTo>
                  <a:lnTo>
                    <a:pt x="6944106" y="2285"/>
                  </a:lnTo>
                  <a:lnTo>
                    <a:pt x="69418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335280"/>
                  </a:lnTo>
                  <a:lnTo>
                    <a:pt x="2286" y="336804"/>
                  </a:lnTo>
                  <a:lnTo>
                    <a:pt x="4572" y="336804"/>
                  </a:lnTo>
                  <a:lnTo>
                    <a:pt x="4572" y="9906"/>
                  </a:lnTo>
                  <a:lnTo>
                    <a:pt x="9905" y="4572"/>
                  </a:lnTo>
                  <a:lnTo>
                    <a:pt x="9905" y="9906"/>
                  </a:lnTo>
                  <a:lnTo>
                    <a:pt x="6934200" y="9905"/>
                  </a:lnTo>
                  <a:lnTo>
                    <a:pt x="6934200" y="4571"/>
                  </a:lnTo>
                  <a:lnTo>
                    <a:pt x="6938772" y="9905"/>
                  </a:lnTo>
                  <a:lnTo>
                    <a:pt x="6938772" y="336803"/>
                  </a:lnTo>
                  <a:lnTo>
                    <a:pt x="6941820" y="336803"/>
                  </a:lnTo>
                  <a:lnTo>
                    <a:pt x="6944106" y="335279"/>
                  </a:lnTo>
                  <a:close/>
                </a:path>
                <a:path w="6944359" h="337185">
                  <a:moveTo>
                    <a:pt x="9905" y="9906"/>
                  </a:moveTo>
                  <a:lnTo>
                    <a:pt x="9905" y="4572"/>
                  </a:lnTo>
                  <a:lnTo>
                    <a:pt x="4572" y="9906"/>
                  </a:lnTo>
                  <a:lnTo>
                    <a:pt x="9905" y="9906"/>
                  </a:lnTo>
                  <a:close/>
                </a:path>
                <a:path w="6944359" h="337185">
                  <a:moveTo>
                    <a:pt x="9905" y="327660"/>
                  </a:moveTo>
                  <a:lnTo>
                    <a:pt x="9905" y="9906"/>
                  </a:lnTo>
                  <a:lnTo>
                    <a:pt x="4572" y="9906"/>
                  </a:lnTo>
                  <a:lnTo>
                    <a:pt x="4572" y="327660"/>
                  </a:lnTo>
                  <a:lnTo>
                    <a:pt x="9905" y="327660"/>
                  </a:lnTo>
                  <a:close/>
                </a:path>
                <a:path w="6944359" h="337185">
                  <a:moveTo>
                    <a:pt x="6938772" y="327659"/>
                  </a:moveTo>
                  <a:lnTo>
                    <a:pt x="4572" y="327660"/>
                  </a:lnTo>
                  <a:lnTo>
                    <a:pt x="9905" y="332231"/>
                  </a:lnTo>
                  <a:lnTo>
                    <a:pt x="9905" y="336804"/>
                  </a:lnTo>
                  <a:lnTo>
                    <a:pt x="6934200" y="336803"/>
                  </a:lnTo>
                  <a:lnTo>
                    <a:pt x="6934200" y="332231"/>
                  </a:lnTo>
                  <a:lnTo>
                    <a:pt x="6938772" y="327659"/>
                  </a:lnTo>
                  <a:close/>
                </a:path>
                <a:path w="6944359" h="337185">
                  <a:moveTo>
                    <a:pt x="9905" y="336804"/>
                  </a:moveTo>
                  <a:lnTo>
                    <a:pt x="9905" y="332231"/>
                  </a:lnTo>
                  <a:lnTo>
                    <a:pt x="4572" y="327660"/>
                  </a:lnTo>
                  <a:lnTo>
                    <a:pt x="4572" y="336804"/>
                  </a:lnTo>
                  <a:lnTo>
                    <a:pt x="9905" y="336804"/>
                  </a:lnTo>
                  <a:close/>
                </a:path>
                <a:path w="6944359" h="337185">
                  <a:moveTo>
                    <a:pt x="6938772" y="9905"/>
                  </a:moveTo>
                  <a:lnTo>
                    <a:pt x="6934200" y="4571"/>
                  </a:lnTo>
                  <a:lnTo>
                    <a:pt x="6934200" y="9905"/>
                  </a:lnTo>
                  <a:lnTo>
                    <a:pt x="6938772" y="9905"/>
                  </a:lnTo>
                  <a:close/>
                </a:path>
                <a:path w="6944359" h="337185">
                  <a:moveTo>
                    <a:pt x="6938772" y="327659"/>
                  </a:moveTo>
                  <a:lnTo>
                    <a:pt x="6938772" y="9905"/>
                  </a:lnTo>
                  <a:lnTo>
                    <a:pt x="6934200" y="9905"/>
                  </a:lnTo>
                  <a:lnTo>
                    <a:pt x="6934200" y="327659"/>
                  </a:lnTo>
                  <a:lnTo>
                    <a:pt x="6938772" y="327659"/>
                  </a:lnTo>
                  <a:close/>
                </a:path>
                <a:path w="6944359" h="337185">
                  <a:moveTo>
                    <a:pt x="6938772" y="336803"/>
                  </a:moveTo>
                  <a:lnTo>
                    <a:pt x="6938772" y="327659"/>
                  </a:lnTo>
                  <a:lnTo>
                    <a:pt x="6934200" y="332231"/>
                  </a:lnTo>
                  <a:lnTo>
                    <a:pt x="6934200" y="336803"/>
                  </a:lnTo>
                  <a:lnTo>
                    <a:pt x="6938772" y="336803"/>
                  </a:lnTo>
                  <a:close/>
                </a:path>
              </a:pathLst>
            </a:custGeom>
            <a:solidFill>
              <a:srgbClr val="4BACC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37537" y="4132326"/>
              <a:ext cx="4863084" cy="399288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2795848" y="4166571"/>
            <a:ext cx="6127376" cy="469526"/>
            <a:chOff x="1290827" y="4722114"/>
            <a:chExt cx="6944359" cy="532130"/>
          </a:xfrm>
        </p:grpSpPr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95399" y="4921758"/>
              <a:ext cx="6934200" cy="32766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90827" y="4917186"/>
              <a:ext cx="6944106" cy="33680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290827" y="4917186"/>
              <a:ext cx="6944359" cy="337185"/>
            </a:xfrm>
            <a:custGeom>
              <a:avLst/>
              <a:gdLst/>
              <a:ahLst/>
              <a:cxnLst/>
              <a:rect l="l" t="t" r="r" b="b"/>
              <a:pathLst>
                <a:path w="6944359" h="337185">
                  <a:moveTo>
                    <a:pt x="6944106" y="335280"/>
                  </a:moveTo>
                  <a:lnTo>
                    <a:pt x="6944106" y="2286"/>
                  </a:lnTo>
                  <a:lnTo>
                    <a:pt x="6941820" y="0"/>
                  </a:lnTo>
                  <a:lnTo>
                    <a:pt x="2285" y="0"/>
                  </a:lnTo>
                  <a:lnTo>
                    <a:pt x="0" y="2286"/>
                  </a:lnTo>
                  <a:lnTo>
                    <a:pt x="0" y="335280"/>
                  </a:lnTo>
                  <a:lnTo>
                    <a:pt x="2286" y="336804"/>
                  </a:lnTo>
                  <a:lnTo>
                    <a:pt x="4572" y="336804"/>
                  </a:lnTo>
                  <a:lnTo>
                    <a:pt x="4572" y="9144"/>
                  </a:lnTo>
                  <a:lnTo>
                    <a:pt x="9905" y="4572"/>
                  </a:lnTo>
                  <a:lnTo>
                    <a:pt x="9905" y="9144"/>
                  </a:lnTo>
                  <a:lnTo>
                    <a:pt x="6934200" y="9144"/>
                  </a:lnTo>
                  <a:lnTo>
                    <a:pt x="6934200" y="4572"/>
                  </a:lnTo>
                  <a:lnTo>
                    <a:pt x="6938772" y="9144"/>
                  </a:lnTo>
                  <a:lnTo>
                    <a:pt x="6938772" y="336804"/>
                  </a:lnTo>
                  <a:lnTo>
                    <a:pt x="6941820" y="336804"/>
                  </a:lnTo>
                  <a:lnTo>
                    <a:pt x="6944106" y="335280"/>
                  </a:lnTo>
                  <a:close/>
                </a:path>
                <a:path w="6944359" h="337185">
                  <a:moveTo>
                    <a:pt x="9905" y="9144"/>
                  </a:moveTo>
                  <a:lnTo>
                    <a:pt x="9905" y="4572"/>
                  </a:lnTo>
                  <a:lnTo>
                    <a:pt x="4572" y="9144"/>
                  </a:lnTo>
                  <a:lnTo>
                    <a:pt x="9905" y="9144"/>
                  </a:lnTo>
                  <a:close/>
                </a:path>
                <a:path w="6944359" h="337185">
                  <a:moveTo>
                    <a:pt x="9905" y="327660"/>
                  </a:moveTo>
                  <a:lnTo>
                    <a:pt x="9905" y="9144"/>
                  </a:lnTo>
                  <a:lnTo>
                    <a:pt x="4572" y="9144"/>
                  </a:lnTo>
                  <a:lnTo>
                    <a:pt x="4572" y="327660"/>
                  </a:lnTo>
                  <a:lnTo>
                    <a:pt x="9905" y="327660"/>
                  </a:lnTo>
                  <a:close/>
                </a:path>
                <a:path w="6944359" h="337185">
                  <a:moveTo>
                    <a:pt x="6938772" y="327660"/>
                  </a:moveTo>
                  <a:lnTo>
                    <a:pt x="4572" y="327660"/>
                  </a:lnTo>
                  <a:lnTo>
                    <a:pt x="9905" y="332232"/>
                  </a:lnTo>
                  <a:lnTo>
                    <a:pt x="9905" y="336804"/>
                  </a:lnTo>
                  <a:lnTo>
                    <a:pt x="6934200" y="336804"/>
                  </a:lnTo>
                  <a:lnTo>
                    <a:pt x="6934200" y="332232"/>
                  </a:lnTo>
                  <a:lnTo>
                    <a:pt x="6938772" y="327660"/>
                  </a:lnTo>
                  <a:close/>
                </a:path>
                <a:path w="6944359" h="337185">
                  <a:moveTo>
                    <a:pt x="9905" y="336804"/>
                  </a:moveTo>
                  <a:lnTo>
                    <a:pt x="9905" y="332232"/>
                  </a:lnTo>
                  <a:lnTo>
                    <a:pt x="4572" y="327660"/>
                  </a:lnTo>
                  <a:lnTo>
                    <a:pt x="4572" y="336804"/>
                  </a:lnTo>
                  <a:lnTo>
                    <a:pt x="9905" y="336804"/>
                  </a:lnTo>
                  <a:close/>
                </a:path>
                <a:path w="6944359" h="337185">
                  <a:moveTo>
                    <a:pt x="6938772" y="9144"/>
                  </a:moveTo>
                  <a:lnTo>
                    <a:pt x="6934200" y="4572"/>
                  </a:lnTo>
                  <a:lnTo>
                    <a:pt x="6934200" y="9144"/>
                  </a:lnTo>
                  <a:lnTo>
                    <a:pt x="6938772" y="9144"/>
                  </a:lnTo>
                  <a:close/>
                </a:path>
                <a:path w="6944359" h="337185">
                  <a:moveTo>
                    <a:pt x="6938772" y="327660"/>
                  </a:moveTo>
                  <a:lnTo>
                    <a:pt x="6938772" y="9144"/>
                  </a:lnTo>
                  <a:lnTo>
                    <a:pt x="6934200" y="9144"/>
                  </a:lnTo>
                  <a:lnTo>
                    <a:pt x="6934200" y="327660"/>
                  </a:lnTo>
                  <a:lnTo>
                    <a:pt x="6938772" y="327660"/>
                  </a:lnTo>
                  <a:close/>
                </a:path>
                <a:path w="6944359" h="337185">
                  <a:moveTo>
                    <a:pt x="6938772" y="336804"/>
                  </a:moveTo>
                  <a:lnTo>
                    <a:pt x="6938772" y="327660"/>
                  </a:lnTo>
                  <a:lnTo>
                    <a:pt x="6934200" y="332232"/>
                  </a:lnTo>
                  <a:lnTo>
                    <a:pt x="6934200" y="336804"/>
                  </a:lnTo>
                  <a:lnTo>
                    <a:pt x="6938772" y="336804"/>
                  </a:lnTo>
                  <a:close/>
                </a:path>
              </a:pathLst>
            </a:custGeom>
            <a:solidFill>
              <a:srgbClr val="F79646"/>
            </a:solidFill>
          </p:spPr>
          <p:txBody>
            <a:bodyPr wrap="square" lIns="0" tIns="0" rIns="0" bIns="0" rtlCol="0"/>
            <a:lstStyle/>
            <a:p>
              <a:endParaRPr sz="1588"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37537" y="4722114"/>
              <a:ext cx="4863084" cy="39547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3273443" y="2056951"/>
            <a:ext cx="1397934" cy="2406330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118" b="1" spc="-9" dirty="0">
                <a:solidFill>
                  <a:srgbClr val="FFFFFF"/>
                </a:solidFill>
                <a:latin typeface="Calibri"/>
                <a:cs typeface="Calibri"/>
              </a:rPr>
              <a:t>Connect</a:t>
            </a:r>
            <a:endParaRPr sz="2118">
              <a:latin typeface="Calibri"/>
              <a:cs typeface="Calibri"/>
            </a:endParaRPr>
          </a:p>
          <a:p>
            <a:pPr marL="11206" marR="4483">
              <a:lnSpc>
                <a:spcPts val="4094"/>
              </a:lnSpc>
              <a:spcBef>
                <a:spcPts val="221"/>
              </a:spcBef>
            </a:pPr>
            <a:r>
              <a:rPr sz="2118" b="1" spc="-9" dirty="0">
                <a:solidFill>
                  <a:srgbClr val="FFFFFF"/>
                </a:solidFill>
                <a:latin typeface="Calibri"/>
                <a:cs typeface="Calibri"/>
              </a:rPr>
              <a:t>Disconnect Subscribe Unsubscribe Publish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52</a:t>
            </a:fld>
            <a:endParaRPr spc="-22" dirty="0"/>
          </a:p>
        </p:txBody>
      </p:sp>
      <p:sp>
        <p:nvSpPr>
          <p:cNvPr id="29" name="object 29"/>
          <p:cNvSpPr txBox="1"/>
          <p:nvPr/>
        </p:nvSpPr>
        <p:spPr>
          <a:xfrm>
            <a:off x="2197678" y="4818976"/>
            <a:ext cx="1987363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22" dirty="0"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“MQTT”,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Wikipedia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60295" y="1159809"/>
            <a:ext cx="8068235" cy="4538382"/>
            <a:chOff x="457200" y="131445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2992" y="1773936"/>
              <a:ext cx="4943855" cy="27371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1488" y="4492751"/>
              <a:ext cx="957072" cy="12801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52927" y="4602479"/>
              <a:ext cx="4779264" cy="676655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90309" y="4641924"/>
            <a:ext cx="645458" cy="1237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130443" y="4777964"/>
            <a:ext cx="515414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MQTT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101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–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to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Started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with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IoT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Protocol”,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HiveMQ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53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Communication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54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2" y="2112084"/>
            <a:ext cx="7391400" cy="2879876"/>
          </a:xfrm>
          <a:prstGeom prst="rect">
            <a:avLst/>
          </a:prstGeom>
        </p:spPr>
        <p:txBody>
          <a:bodyPr vert="horz" wrap="square" lIns="0" tIns="70597" rIns="0" bIns="0" rtlCol="0">
            <a:spAutoFit/>
          </a:bodyPr>
          <a:lstStyle/>
          <a:p>
            <a:pPr marL="716654" marR="257189" indent="-302575">
              <a:lnSpc>
                <a:spcPct val="80000"/>
              </a:lnSpc>
              <a:spcBef>
                <a:spcPts val="556"/>
              </a:spcBef>
              <a:buFont typeface="Wingdings"/>
              <a:buChar char=""/>
              <a:tabLst>
                <a:tab pos="716654" algn="l"/>
              </a:tabLst>
            </a:pPr>
            <a:r>
              <a:rPr sz="1941" dirty="0">
                <a:latin typeface="Calibri"/>
                <a:cs typeface="Calibri"/>
              </a:rPr>
              <a:t>The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protocol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uses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b="1" spc="-9" dirty="0">
                <a:latin typeface="Calibri"/>
                <a:cs typeface="Calibri"/>
              </a:rPr>
              <a:t>publish/subscribe</a:t>
            </a:r>
            <a:r>
              <a:rPr sz="1941" b="1" spc="-26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architecture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(HTTP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uses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spc="-44" dirty="0">
                <a:latin typeface="Calibri"/>
                <a:cs typeface="Calibri"/>
              </a:rPr>
              <a:t>a </a:t>
            </a:r>
            <a:r>
              <a:rPr sz="1941" spc="-9" dirty="0">
                <a:latin typeface="Calibri"/>
                <a:cs typeface="Calibri"/>
              </a:rPr>
              <a:t>request/response</a:t>
            </a:r>
            <a:r>
              <a:rPr sz="1941" spc="2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paradigm).</a:t>
            </a:r>
            <a:endParaRPr sz="1941">
              <a:latin typeface="Calibri"/>
              <a:cs typeface="Calibri"/>
            </a:endParaRPr>
          </a:p>
          <a:p>
            <a:pPr marL="716094" marR="479637" indent="-302575">
              <a:lnSpc>
                <a:spcPct val="80000"/>
              </a:lnSpc>
              <a:spcBef>
                <a:spcPts val="463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spc="-9" dirty="0">
                <a:latin typeface="Calibri"/>
                <a:cs typeface="Calibri"/>
              </a:rPr>
              <a:t>Publish/subscribe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b="1" spc="-9" dirty="0">
                <a:latin typeface="Calibri"/>
                <a:cs typeface="Calibri"/>
              </a:rPr>
              <a:t>event‐driven</a:t>
            </a:r>
            <a:r>
              <a:rPr sz="1941" b="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enables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messages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be </a:t>
            </a:r>
            <a:r>
              <a:rPr sz="1941" dirty="0">
                <a:latin typeface="Calibri"/>
                <a:cs typeface="Calibri"/>
              </a:rPr>
              <a:t>pushed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clients.</a:t>
            </a:r>
            <a:endParaRPr sz="1941">
              <a:latin typeface="Calibri"/>
              <a:cs typeface="Calibri"/>
            </a:endParaRPr>
          </a:p>
          <a:p>
            <a:pPr marL="716094" marR="118228" indent="-302575">
              <a:lnSpc>
                <a:spcPct val="80000"/>
              </a:lnSpc>
              <a:spcBef>
                <a:spcPts val="468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dirty="0">
                <a:latin typeface="Calibri"/>
                <a:cs typeface="Calibri"/>
              </a:rPr>
              <a:t>The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central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communication</a:t>
            </a:r>
            <a:r>
              <a:rPr sz="1941" b="1" spc="-57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point</a:t>
            </a:r>
            <a:r>
              <a:rPr sz="1941" b="1" spc="-53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is</a:t>
            </a:r>
            <a:r>
              <a:rPr sz="1941" b="1" spc="-44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the</a:t>
            </a:r>
            <a:r>
              <a:rPr sz="1941" b="1" spc="-44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MQTT</a:t>
            </a:r>
            <a:r>
              <a:rPr sz="1941" b="1" spc="-40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broker</a:t>
            </a:r>
            <a:r>
              <a:rPr sz="1941" dirty="0">
                <a:latin typeface="Calibri"/>
                <a:cs typeface="Calibri"/>
              </a:rPr>
              <a:t>,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which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in </a:t>
            </a:r>
            <a:r>
              <a:rPr sz="1941" dirty="0">
                <a:latin typeface="Calibri"/>
                <a:cs typeface="Calibri"/>
              </a:rPr>
              <a:t>charge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dispatching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all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messages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between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senders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the </a:t>
            </a:r>
            <a:r>
              <a:rPr sz="1941" dirty="0">
                <a:latin typeface="Calibri"/>
                <a:cs typeface="Calibri"/>
              </a:rPr>
              <a:t>rightful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receivers.</a:t>
            </a:r>
            <a:endParaRPr sz="1941">
              <a:latin typeface="Calibri"/>
              <a:cs typeface="Calibri"/>
            </a:endParaRPr>
          </a:p>
          <a:p>
            <a:pPr marL="714973" marR="4483" indent="-302015">
              <a:lnSpc>
                <a:spcPct val="80000"/>
              </a:lnSpc>
              <a:spcBef>
                <a:spcPts val="468"/>
              </a:spcBef>
              <a:buFont typeface="Wingdings"/>
              <a:buChar char=""/>
              <a:tabLst>
                <a:tab pos="716654" algn="l"/>
              </a:tabLst>
            </a:pPr>
            <a:r>
              <a:rPr sz="1941" dirty="0">
                <a:latin typeface="Calibri"/>
                <a:cs typeface="Calibri"/>
              </a:rPr>
              <a:t>Each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client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that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publishes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message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broker,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includes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b="1" spc="-9" dirty="0">
                <a:latin typeface="Calibri"/>
                <a:cs typeface="Calibri"/>
              </a:rPr>
              <a:t>topic 	</a:t>
            </a:r>
            <a:r>
              <a:rPr sz="1941" dirty="0">
                <a:latin typeface="Calibri"/>
                <a:cs typeface="Calibri"/>
              </a:rPr>
              <a:t>into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message.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topic</a:t>
            </a:r>
            <a:r>
              <a:rPr sz="1941" b="1" spc="-35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is</a:t>
            </a:r>
            <a:r>
              <a:rPr sz="1941" b="1" spc="-40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the</a:t>
            </a:r>
            <a:r>
              <a:rPr sz="1941" b="1" spc="-40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routing</a:t>
            </a:r>
            <a:r>
              <a:rPr sz="1941" b="1" spc="-44" dirty="0">
                <a:latin typeface="Calibri"/>
                <a:cs typeface="Calibri"/>
              </a:rPr>
              <a:t> </a:t>
            </a:r>
            <a:r>
              <a:rPr sz="1941" b="1" spc="-9" dirty="0">
                <a:latin typeface="Calibri"/>
                <a:cs typeface="Calibri"/>
              </a:rPr>
              <a:t>information</a:t>
            </a:r>
            <a:r>
              <a:rPr sz="1941" b="1" spc="-40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for</a:t>
            </a:r>
            <a:r>
              <a:rPr sz="1941" b="1" spc="-22" dirty="0">
                <a:latin typeface="Calibri"/>
                <a:cs typeface="Calibri"/>
              </a:rPr>
              <a:t> the 	</a:t>
            </a:r>
            <a:r>
              <a:rPr sz="1941" b="1" spc="-9" dirty="0">
                <a:latin typeface="Calibri"/>
                <a:cs typeface="Calibri"/>
              </a:rPr>
              <a:t>broker.</a:t>
            </a:r>
            <a:endParaRPr sz="1941">
              <a:latin typeface="Calibri"/>
              <a:cs typeface="Calibri"/>
            </a:endParaRPr>
          </a:p>
          <a:p>
            <a:pPr marL="11206">
              <a:spcBef>
                <a:spcPts val="490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MQTT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101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–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to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Started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with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IoT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Protocol”,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HiveMQ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3855" y="1625974"/>
            <a:ext cx="6675344" cy="274693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221" marR="15129" indent="-302575" algn="just">
              <a:spcBef>
                <a:spcPts val="88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dirty="0">
                <a:latin typeface="Calibri"/>
                <a:cs typeface="Calibri"/>
              </a:rPr>
              <a:t>Each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client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that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wants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receive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messages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subscribes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44" dirty="0">
                <a:latin typeface="Calibri"/>
                <a:cs typeface="Calibri"/>
              </a:rPr>
              <a:t>a </a:t>
            </a:r>
            <a:r>
              <a:rPr sz="2118" dirty="0">
                <a:latin typeface="Calibri"/>
                <a:cs typeface="Calibri"/>
              </a:rPr>
              <a:t>certain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topic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broker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delivers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all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messages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with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the </a:t>
            </a:r>
            <a:r>
              <a:rPr sz="2118" dirty="0">
                <a:latin typeface="Calibri"/>
                <a:cs typeface="Calibri"/>
              </a:rPr>
              <a:t>matching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topic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client.</a:t>
            </a:r>
            <a:endParaRPr sz="2118">
              <a:latin typeface="Calibri"/>
              <a:cs typeface="Calibri"/>
            </a:endParaRPr>
          </a:p>
          <a:p>
            <a:pPr marL="313781" marR="57713" indent="-302575" algn="just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spc="-9" dirty="0">
                <a:latin typeface="Calibri"/>
                <a:cs typeface="Calibri"/>
              </a:rPr>
              <a:t>Therefore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clients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don’t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have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know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each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26" dirty="0">
                <a:latin typeface="Calibri"/>
                <a:cs typeface="Calibri"/>
              </a:rPr>
              <a:t>other.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They </a:t>
            </a:r>
            <a:r>
              <a:rPr sz="2118" dirty="0">
                <a:latin typeface="Calibri"/>
                <a:cs typeface="Calibri"/>
              </a:rPr>
              <a:t>only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communicate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over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topic.</a:t>
            </a:r>
            <a:endParaRPr sz="2118">
              <a:latin typeface="Calibri"/>
              <a:cs typeface="Calibri"/>
            </a:endParaRPr>
          </a:p>
          <a:p>
            <a:pPr marL="313781" marR="4483" indent="-302575">
              <a:spcBef>
                <a:spcPts val="507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This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architecture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enables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highly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scalable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solutions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without dependencies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between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data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producers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and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18" dirty="0">
                <a:latin typeface="Calibri"/>
                <a:cs typeface="Calibri"/>
              </a:rPr>
              <a:t>data </a:t>
            </a:r>
            <a:r>
              <a:rPr sz="2118" spc="-9" dirty="0">
                <a:latin typeface="Calibri"/>
                <a:cs typeface="Calibri"/>
              </a:rPr>
              <a:t>consumers.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55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3" y="4777963"/>
            <a:ext cx="515414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MQTT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101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–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to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Started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with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IoT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Protocol”,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HiveMQ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172" dirty="0"/>
              <a:t>MQTT</a:t>
            </a:r>
            <a:r>
              <a:rPr spc="9" dirty="0"/>
              <a:t> </a:t>
            </a:r>
            <a:r>
              <a:rPr spc="-66" dirty="0"/>
              <a:t>Topics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56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533586" y="2231091"/>
            <a:ext cx="6980704" cy="209509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4483" indent="-302575">
              <a:spcBef>
                <a:spcPts val="88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A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topic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simple</a:t>
            </a:r>
            <a:r>
              <a:rPr sz="2118" b="1" spc="-44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string</a:t>
            </a:r>
            <a:r>
              <a:rPr sz="2118" b="1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that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have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more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hierarchy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levels,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are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separated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by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slash.</a:t>
            </a:r>
            <a:endParaRPr sz="2118">
              <a:latin typeface="Calibri"/>
              <a:cs typeface="Calibri"/>
            </a:endParaRPr>
          </a:p>
          <a:p>
            <a:pPr marL="312661" marR="436492" indent="-302015">
              <a:spcBef>
                <a:spcPts val="507"/>
              </a:spcBef>
              <a:buFont typeface="Wingdings"/>
              <a:buChar char=""/>
              <a:tabLst>
                <a:tab pos="314342" algn="l"/>
              </a:tabLst>
            </a:pPr>
            <a:r>
              <a:rPr sz="2118" dirty="0">
                <a:latin typeface="Calibri"/>
                <a:cs typeface="Calibri"/>
              </a:rPr>
              <a:t>A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sample</a:t>
            </a:r>
            <a:r>
              <a:rPr sz="2118" spc="-6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topic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sending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temperature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data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living 	</a:t>
            </a:r>
            <a:r>
              <a:rPr sz="2118" dirty="0">
                <a:latin typeface="Calibri"/>
                <a:cs typeface="Calibri"/>
              </a:rPr>
              <a:t>room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could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i="1" spc="-9" dirty="0">
                <a:solidFill>
                  <a:srgbClr val="FF0000"/>
                </a:solidFill>
                <a:latin typeface="Calibri"/>
                <a:cs typeface="Calibri"/>
              </a:rPr>
              <a:t>house/living‐room/temperature</a:t>
            </a:r>
            <a:r>
              <a:rPr sz="2118" spc="-9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314342" marR="134478" indent="-302015">
              <a:spcBef>
                <a:spcPts val="507"/>
              </a:spcBef>
              <a:buFont typeface="Wingdings"/>
              <a:buChar char=""/>
              <a:tabLst>
                <a:tab pos="315462" algn="l"/>
              </a:tabLst>
            </a:pPr>
            <a:r>
              <a:rPr sz="2118" dirty="0">
                <a:latin typeface="Calibri"/>
                <a:cs typeface="Calibri"/>
              </a:rPr>
              <a:t>On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one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hand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client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(e.g.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mobile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device)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subscribe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to 	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exact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topic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or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on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other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hand,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it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can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use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b="1" spc="-9" dirty="0">
                <a:latin typeface="Calibri"/>
                <a:cs typeface="Calibri"/>
              </a:rPr>
              <a:t>wildcard</a:t>
            </a:r>
            <a:r>
              <a:rPr sz="2118" spc="-9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0443" y="4777963"/>
            <a:ext cx="5154146" cy="174309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MQTT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101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–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to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Started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with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IoT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Protocol”,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HiveMQ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30443" y="1530500"/>
            <a:ext cx="7242922" cy="3455885"/>
          </a:xfrm>
          <a:prstGeom prst="rect">
            <a:avLst/>
          </a:prstGeom>
        </p:spPr>
        <p:txBody>
          <a:bodyPr vert="horz" wrap="square" lIns="0" tIns="44263" rIns="0" bIns="0" rtlCol="0">
            <a:spAutoFit/>
          </a:bodyPr>
          <a:lstStyle/>
          <a:p>
            <a:pPr marL="716654" marR="45946" indent="-302575">
              <a:lnSpc>
                <a:spcPts val="2100"/>
              </a:lnSpc>
              <a:spcBef>
                <a:spcPts val="349"/>
              </a:spcBef>
              <a:buFont typeface="Wingdings"/>
              <a:buChar char=""/>
              <a:tabLst>
                <a:tab pos="716654" algn="l"/>
              </a:tabLst>
            </a:pPr>
            <a:r>
              <a:rPr sz="1941" dirty="0">
                <a:latin typeface="Calibri"/>
                <a:cs typeface="Calibri"/>
              </a:rPr>
              <a:t>The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subscription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9" dirty="0">
                <a:latin typeface="Calibri"/>
                <a:cs typeface="Calibri"/>
              </a:rPr>
              <a:t> </a:t>
            </a:r>
            <a:r>
              <a:rPr sz="1941" i="1" spc="-9" dirty="0">
                <a:solidFill>
                  <a:srgbClr val="FF0000"/>
                </a:solidFill>
                <a:latin typeface="Calibri"/>
                <a:cs typeface="Calibri"/>
              </a:rPr>
              <a:t>house/+/temperature</a:t>
            </a:r>
            <a:r>
              <a:rPr sz="1941" i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would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result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in</a:t>
            </a:r>
            <a:r>
              <a:rPr sz="1941" spc="-22" dirty="0">
                <a:latin typeface="Calibri"/>
                <a:cs typeface="Calibri"/>
              </a:rPr>
              <a:t> all </a:t>
            </a:r>
            <a:r>
              <a:rPr sz="1941" dirty="0">
                <a:latin typeface="Calibri"/>
                <a:cs typeface="Calibri"/>
              </a:rPr>
              <a:t>messages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sent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previously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mentioned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topic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i="1" spc="-9" dirty="0">
                <a:solidFill>
                  <a:srgbClr val="FF0000"/>
                </a:solidFill>
                <a:latin typeface="Calibri"/>
                <a:cs typeface="Calibri"/>
              </a:rPr>
              <a:t>house/living‐ room/temperature,</a:t>
            </a:r>
            <a:r>
              <a:rPr sz="1941" i="1" spc="-44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well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any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topic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with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arbitrary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value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in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place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living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room,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such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i="1" spc="-9" dirty="0">
                <a:solidFill>
                  <a:srgbClr val="FF0000"/>
                </a:solidFill>
                <a:latin typeface="Calibri"/>
                <a:cs typeface="Calibri"/>
              </a:rPr>
              <a:t>house/kitchen/temperature</a:t>
            </a:r>
            <a:r>
              <a:rPr sz="1941" spc="-9" dirty="0">
                <a:latin typeface="Calibri"/>
                <a:cs typeface="Calibri"/>
              </a:rPr>
              <a:t>.</a:t>
            </a:r>
            <a:endParaRPr sz="1941">
              <a:latin typeface="Calibri"/>
              <a:cs typeface="Calibri"/>
            </a:endParaRPr>
          </a:p>
          <a:p>
            <a:pPr marL="716654" marR="142322" indent="-302575">
              <a:lnSpc>
                <a:spcPts val="2100"/>
              </a:lnSpc>
              <a:spcBef>
                <a:spcPts val="454"/>
              </a:spcBef>
              <a:buFont typeface="Wingdings"/>
              <a:buChar char=""/>
              <a:tabLst>
                <a:tab pos="716654" algn="l"/>
              </a:tabLst>
            </a:pPr>
            <a:r>
              <a:rPr sz="1941" dirty="0">
                <a:latin typeface="Calibri"/>
                <a:cs typeface="Calibri"/>
              </a:rPr>
              <a:t>The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plus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sign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single</a:t>
            </a:r>
            <a:r>
              <a:rPr sz="1941" b="1" spc="-22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level</a:t>
            </a:r>
            <a:r>
              <a:rPr sz="1941" b="1" spc="-31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wild</a:t>
            </a:r>
            <a:r>
              <a:rPr sz="1941" b="1" spc="-31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card</a:t>
            </a:r>
            <a:r>
              <a:rPr sz="1941" b="1" spc="-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only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allows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arbitrary </a:t>
            </a:r>
            <a:r>
              <a:rPr sz="1941" dirty="0">
                <a:latin typeface="Calibri"/>
                <a:cs typeface="Calibri"/>
              </a:rPr>
              <a:t>values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for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one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hierarchy.</a:t>
            </a:r>
            <a:endParaRPr sz="1941">
              <a:latin typeface="Calibri"/>
              <a:cs typeface="Calibri"/>
            </a:endParaRPr>
          </a:p>
          <a:p>
            <a:pPr marL="716094" marR="4483" indent="-302015">
              <a:lnSpc>
                <a:spcPts val="2100"/>
              </a:lnSpc>
              <a:spcBef>
                <a:spcPts val="459"/>
              </a:spcBef>
              <a:buFont typeface="Wingdings"/>
              <a:buChar char=""/>
              <a:tabLst>
                <a:tab pos="717215" algn="l"/>
              </a:tabLst>
            </a:pPr>
            <a:r>
              <a:rPr sz="1941" dirty="0">
                <a:latin typeface="Calibri"/>
                <a:cs typeface="Calibri"/>
              </a:rPr>
              <a:t>If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more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than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level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needs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subscribed,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such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as,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entire 	</a:t>
            </a:r>
            <a:r>
              <a:rPr sz="1941" dirty="0">
                <a:latin typeface="Calibri"/>
                <a:cs typeface="Calibri"/>
              </a:rPr>
              <a:t>sub‐tree,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there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also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multilevel</a:t>
            </a:r>
            <a:r>
              <a:rPr sz="1941" b="1" spc="-49" dirty="0">
                <a:latin typeface="Calibri"/>
                <a:cs typeface="Calibri"/>
              </a:rPr>
              <a:t> </a:t>
            </a:r>
            <a:r>
              <a:rPr sz="1941" b="1" dirty="0">
                <a:latin typeface="Calibri"/>
                <a:cs typeface="Calibri"/>
              </a:rPr>
              <a:t>wildcard</a:t>
            </a:r>
            <a:r>
              <a:rPr sz="1941" b="1" spc="-35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(</a:t>
            </a:r>
            <a:r>
              <a:rPr sz="1941" i="1" spc="-18" dirty="0">
                <a:latin typeface="Calibri"/>
                <a:cs typeface="Calibri"/>
              </a:rPr>
              <a:t>#</a:t>
            </a:r>
            <a:r>
              <a:rPr sz="1941" spc="-18" dirty="0">
                <a:latin typeface="Calibri"/>
                <a:cs typeface="Calibri"/>
              </a:rPr>
              <a:t>).</a:t>
            </a:r>
            <a:endParaRPr sz="1941">
              <a:latin typeface="Calibri"/>
              <a:cs typeface="Calibri"/>
            </a:endParaRPr>
          </a:p>
          <a:p>
            <a:pPr marL="772126" indent="-358047">
              <a:spcBef>
                <a:spcPts val="199"/>
              </a:spcBef>
              <a:buFont typeface="Wingdings"/>
              <a:buChar char=""/>
              <a:tabLst>
                <a:tab pos="772126" algn="l"/>
              </a:tabLst>
            </a:pPr>
            <a:r>
              <a:rPr sz="1941" dirty="0">
                <a:latin typeface="Calibri"/>
                <a:cs typeface="Calibri"/>
              </a:rPr>
              <a:t>It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allows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subscribe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all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underlying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hierarchy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levels.</a:t>
            </a:r>
            <a:endParaRPr sz="1941">
              <a:latin typeface="Calibri"/>
              <a:cs typeface="Calibri"/>
            </a:endParaRPr>
          </a:p>
          <a:p>
            <a:pPr marL="716094" indent="-302015">
              <a:lnSpc>
                <a:spcPts val="2215"/>
              </a:lnSpc>
              <a:spcBef>
                <a:spcPts val="234"/>
              </a:spcBef>
              <a:buFont typeface="Wingdings"/>
              <a:buChar char=""/>
              <a:tabLst>
                <a:tab pos="716094" algn="l"/>
              </a:tabLst>
            </a:pPr>
            <a:r>
              <a:rPr sz="1941" dirty="0">
                <a:latin typeface="Calibri"/>
                <a:cs typeface="Calibri"/>
              </a:rPr>
              <a:t>For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example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i="1" dirty="0">
                <a:solidFill>
                  <a:srgbClr val="FF0000"/>
                </a:solidFill>
                <a:latin typeface="Calibri"/>
                <a:cs typeface="Calibri"/>
              </a:rPr>
              <a:t>house/#</a:t>
            </a:r>
            <a:r>
              <a:rPr sz="1941" i="1" spc="-5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subscribing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all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topics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beginning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with</a:t>
            </a:r>
            <a:endParaRPr sz="1941">
              <a:latin typeface="Calibri"/>
              <a:cs typeface="Calibri"/>
            </a:endParaRPr>
          </a:p>
          <a:p>
            <a:pPr marL="716654">
              <a:lnSpc>
                <a:spcPts val="2215"/>
              </a:lnSpc>
            </a:pPr>
            <a:r>
              <a:rPr sz="1941" i="1" spc="-9" dirty="0">
                <a:latin typeface="Calibri"/>
                <a:cs typeface="Calibri"/>
              </a:rPr>
              <a:t>house</a:t>
            </a:r>
            <a:r>
              <a:rPr sz="1941" spc="-9" dirty="0">
                <a:latin typeface="Calibri"/>
                <a:cs typeface="Calibri"/>
              </a:rPr>
              <a:t>.</a:t>
            </a:r>
            <a:endParaRPr sz="1941">
              <a:latin typeface="Calibri"/>
              <a:cs typeface="Calibri"/>
            </a:endParaRPr>
          </a:p>
          <a:p>
            <a:pPr marL="11206">
              <a:spcBef>
                <a:spcPts val="409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202" dirty="0">
                <a:latin typeface="Calibri"/>
                <a:cs typeface="Calibri"/>
              </a:rPr>
              <a:t> </a:t>
            </a:r>
            <a:r>
              <a:rPr sz="1059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“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MQTT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101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–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How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to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Get</a:t>
            </a:r>
            <a:r>
              <a:rPr sz="1059" u="sng" spc="-13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Started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with</a:t>
            </a:r>
            <a:r>
              <a:rPr sz="1059" u="sng" spc="-31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the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lightweight</a:t>
            </a:r>
            <a:r>
              <a:rPr sz="1059" u="sng" spc="-26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IoT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Protocol”,</a:t>
            </a:r>
            <a:r>
              <a:rPr sz="1059" u="sng" spc="-4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HiveMQ</a:t>
            </a:r>
            <a:r>
              <a:rPr sz="1059" u="sng" spc="-18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 </a:t>
            </a:r>
            <a:r>
              <a:rPr sz="1059" u="sng" spc="-9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(Online)</a:t>
            </a:r>
            <a:endParaRPr sz="1059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57</a:t>
            </a:fld>
            <a:endParaRPr spc="-22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819" y="10192"/>
            <a:ext cx="8872748" cy="969142"/>
          </a:xfrm>
          <a:prstGeom prst="rect">
            <a:avLst/>
          </a:prstGeom>
        </p:spPr>
        <p:txBody>
          <a:bodyPr vert="horz" wrap="square" lIns="0" tIns="228376" rIns="0" bIns="0" rtlCol="0" anchor="b">
            <a:spAutoFit/>
          </a:bodyPr>
          <a:lstStyle/>
          <a:p>
            <a:pPr marL="78445">
              <a:lnSpc>
                <a:spcPct val="100000"/>
              </a:lnSpc>
              <a:spcBef>
                <a:spcPts val="88"/>
              </a:spcBef>
            </a:pPr>
            <a:r>
              <a:rPr spc="-9" dirty="0"/>
              <a:t>Applications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58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533855" y="2166546"/>
            <a:ext cx="6999194" cy="2695957"/>
          </a:xfrm>
          <a:prstGeom prst="rect">
            <a:avLst/>
          </a:prstGeom>
        </p:spPr>
        <p:txBody>
          <a:bodyPr vert="horz" wrap="square" lIns="0" tIns="43143" rIns="0" bIns="0" rtlCol="0">
            <a:spAutoFit/>
          </a:bodyPr>
          <a:lstStyle/>
          <a:p>
            <a:pPr marL="313221" indent="-302015">
              <a:spcBef>
                <a:spcPts val="340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b="1" dirty="0">
                <a:latin typeface="Calibri"/>
                <a:cs typeface="Calibri"/>
              </a:rPr>
              <a:t>Facebook</a:t>
            </a:r>
            <a:r>
              <a:rPr sz="2118" b="1" spc="-84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Messenger</a:t>
            </a:r>
            <a:r>
              <a:rPr sz="2118" b="1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uses</a:t>
            </a:r>
            <a:r>
              <a:rPr sz="2118" spc="-7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MQTT</a:t>
            </a:r>
            <a:r>
              <a:rPr sz="2118" spc="-7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online</a:t>
            </a:r>
            <a:r>
              <a:rPr sz="2118" spc="-7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chat.</a:t>
            </a:r>
            <a:endParaRPr sz="2118">
              <a:latin typeface="Calibri"/>
              <a:cs typeface="Calibri"/>
            </a:endParaRPr>
          </a:p>
          <a:p>
            <a:pPr marL="313221" indent="-302015">
              <a:spcBef>
                <a:spcPts val="256"/>
              </a:spcBef>
              <a:buFont typeface="Wingdings"/>
              <a:buChar char=""/>
              <a:tabLst>
                <a:tab pos="313221" algn="l"/>
              </a:tabLst>
            </a:pPr>
            <a:r>
              <a:rPr sz="2118" b="1" dirty="0">
                <a:latin typeface="Calibri"/>
                <a:cs typeface="Calibri"/>
              </a:rPr>
              <a:t>Amazon</a:t>
            </a:r>
            <a:r>
              <a:rPr sz="2118" b="1" spc="-57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Web</a:t>
            </a:r>
            <a:r>
              <a:rPr sz="2118" b="1" spc="-53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Services</a:t>
            </a:r>
            <a:r>
              <a:rPr sz="2118" b="1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Amazon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with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MQTT.</a:t>
            </a:r>
            <a:endParaRPr sz="2118">
              <a:latin typeface="Calibri"/>
              <a:cs typeface="Calibri"/>
            </a:endParaRPr>
          </a:p>
          <a:p>
            <a:pPr marL="312661" marR="141762" indent="-302015">
              <a:lnSpc>
                <a:spcPts val="2285"/>
              </a:lnSpc>
              <a:spcBef>
                <a:spcPts val="543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b="1" dirty="0">
                <a:latin typeface="Calibri"/>
                <a:cs typeface="Calibri"/>
              </a:rPr>
              <a:t>Microsoft</a:t>
            </a:r>
            <a:r>
              <a:rPr sz="2118" b="1" spc="-40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Azure</a:t>
            </a:r>
            <a:r>
              <a:rPr sz="2118" b="1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Hub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uses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MQTT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as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its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main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protocol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for 	</a:t>
            </a:r>
            <a:r>
              <a:rPr sz="2118" dirty="0">
                <a:latin typeface="Calibri"/>
                <a:cs typeface="Calibri"/>
              </a:rPr>
              <a:t>telemetry</a:t>
            </a:r>
            <a:r>
              <a:rPr sz="2118" spc="-101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messages.</a:t>
            </a:r>
            <a:endParaRPr sz="2118">
              <a:latin typeface="Calibri"/>
              <a:cs typeface="Calibri"/>
            </a:endParaRPr>
          </a:p>
          <a:p>
            <a:pPr marL="313781" marR="4483" indent="-302575">
              <a:lnSpc>
                <a:spcPts val="2285"/>
              </a:lnSpc>
              <a:spcBef>
                <a:spcPts val="512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dirty="0">
                <a:latin typeface="Calibri"/>
                <a:cs typeface="Calibri"/>
              </a:rPr>
              <a:t>The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EVRYTHNG</a:t>
            </a:r>
            <a:r>
              <a:rPr sz="2118" b="1" spc="-44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IoT</a:t>
            </a:r>
            <a:r>
              <a:rPr sz="2118" b="1" spc="-49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platform</a:t>
            </a:r>
            <a:r>
              <a:rPr sz="2118" b="1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uses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MQTT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as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M2M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protocol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millions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connected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products.</a:t>
            </a:r>
            <a:endParaRPr sz="2118">
              <a:latin typeface="Calibri"/>
              <a:cs typeface="Calibri"/>
            </a:endParaRPr>
          </a:p>
          <a:p>
            <a:pPr marL="313781" marR="1006902" indent="-302575">
              <a:lnSpc>
                <a:spcPts val="2285"/>
              </a:lnSpc>
              <a:spcBef>
                <a:spcPts val="512"/>
              </a:spcBef>
              <a:buFont typeface="Wingdings"/>
              <a:buChar char=""/>
              <a:tabLst>
                <a:tab pos="313781" algn="l"/>
              </a:tabLst>
            </a:pPr>
            <a:r>
              <a:rPr sz="2118" b="1" dirty="0">
                <a:latin typeface="Calibri"/>
                <a:cs typeface="Calibri"/>
              </a:rPr>
              <a:t>Adafruit</a:t>
            </a:r>
            <a:r>
              <a:rPr sz="2118" b="1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launched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free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MQTT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cloud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service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for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IoT </a:t>
            </a:r>
            <a:r>
              <a:rPr sz="2118" spc="-9" dirty="0">
                <a:latin typeface="Calibri"/>
                <a:cs typeface="Calibri"/>
              </a:rPr>
              <a:t>experimenters</a:t>
            </a:r>
            <a:r>
              <a:rPr sz="2118" spc="-8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called</a:t>
            </a:r>
            <a:r>
              <a:rPr sz="2118" spc="-97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Adafruit</a:t>
            </a:r>
            <a:r>
              <a:rPr sz="2118" spc="-93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IO.</a:t>
            </a:r>
            <a:endParaRPr sz="2118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7212" y="381000"/>
            <a:ext cx="2417557" cy="749851"/>
          </a:xfrm>
          <a:prstGeom prst="rect">
            <a:avLst/>
          </a:prstGeom>
        </p:spPr>
        <p:txBody>
          <a:bodyPr vert="horz" wrap="square" lIns="0" tIns="11206" rIns="0" bIns="0" rtlCol="0" anchor="b">
            <a:spAutoFit/>
          </a:bodyPr>
          <a:lstStyle/>
          <a:p>
            <a:pPr marL="11206">
              <a:lnSpc>
                <a:spcPct val="100000"/>
              </a:lnSpc>
              <a:spcBef>
                <a:spcPts val="88"/>
              </a:spcBef>
            </a:pPr>
            <a:r>
              <a:rPr spc="-194" dirty="0"/>
              <a:t>SMQTT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59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3" y="2064348"/>
            <a:ext cx="7658660" cy="296452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717215" marR="252706" indent="-302575">
              <a:lnSpc>
                <a:spcPts val="2285"/>
              </a:lnSpc>
              <a:spcBef>
                <a:spcPts val="375"/>
              </a:spcBef>
              <a:buFont typeface="Wingdings"/>
              <a:buChar char=""/>
              <a:tabLst>
                <a:tab pos="717215" algn="l"/>
              </a:tabLst>
            </a:pPr>
            <a:r>
              <a:rPr sz="2118" b="1" dirty="0">
                <a:latin typeface="Calibri"/>
                <a:cs typeface="Calibri"/>
              </a:rPr>
              <a:t>Secure</a:t>
            </a:r>
            <a:r>
              <a:rPr sz="2118" b="1" spc="-26" dirty="0">
                <a:latin typeface="Calibri"/>
                <a:cs typeface="Calibri"/>
              </a:rPr>
              <a:t> </a:t>
            </a:r>
            <a:r>
              <a:rPr sz="2118" b="1" dirty="0">
                <a:latin typeface="Calibri"/>
                <a:cs typeface="Calibri"/>
              </a:rPr>
              <a:t>MQTT</a:t>
            </a:r>
            <a:r>
              <a:rPr sz="2118" b="1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an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extension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MQTT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uses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encryption</a:t>
            </a:r>
            <a:r>
              <a:rPr sz="2118" spc="-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based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lightweight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attribute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based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encryption.</a:t>
            </a:r>
            <a:endParaRPr sz="2118">
              <a:latin typeface="Calibri"/>
              <a:cs typeface="Calibri"/>
            </a:endParaRPr>
          </a:p>
          <a:p>
            <a:pPr marL="716654" marR="219087" indent="-302575">
              <a:lnSpc>
                <a:spcPts val="2285"/>
              </a:lnSpc>
              <a:spcBef>
                <a:spcPts val="512"/>
              </a:spcBef>
              <a:buFont typeface="Wingdings"/>
              <a:buChar char=""/>
              <a:tabLst>
                <a:tab pos="716654" algn="l"/>
              </a:tabLst>
            </a:pPr>
            <a:r>
              <a:rPr sz="2118" dirty="0">
                <a:latin typeface="Calibri"/>
                <a:cs typeface="Calibri"/>
              </a:rPr>
              <a:t>The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main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advantage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using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such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encryption</a:t>
            </a:r>
            <a:r>
              <a:rPr sz="2118" spc="-2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broadcast encryption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feature,</a:t>
            </a:r>
            <a:r>
              <a:rPr sz="2118" spc="-31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in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one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message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encrypted</a:t>
            </a:r>
            <a:r>
              <a:rPr sz="2118" spc="-26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and </a:t>
            </a:r>
            <a:r>
              <a:rPr sz="2118" spc="-9" dirty="0">
                <a:latin typeface="Calibri"/>
                <a:cs typeface="Calibri"/>
              </a:rPr>
              <a:t>delivered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to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multiple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other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nodes,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which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is</a:t>
            </a:r>
            <a:r>
              <a:rPr sz="2118" spc="-40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quite</a:t>
            </a:r>
            <a:r>
              <a:rPr sz="2118" spc="-35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common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spc="-22" dirty="0">
                <a:latin typeface="Calibri"/>
                <a:cs typeface="Calibri"/>
              </a:rPr>
              <a:t>in </a:t>
            </a:r>
            <a:r>
              <a:rPr sz="2118" dirty="0">
                <a:latin typeface="Calibri"/>
                <a:cs typeface="Calibri"/>
              </a:rPr>
              <a:t>IoT</a:t>
            </a:r>
            <a:r>
              <a:rPr sz="2118" spc="-18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applications.</a:t>
            </a:r>
            <a:endParaRPr sz="2118">
              <a:latin typeface="Calibri"/>
              <a:cs typeface="Calibri"/>
            </a:endParaRPr>
          </a:p>
          <a:p>
            <a:pPr marL="717215" marR="367572" indent="-302015">
              <a:lnSpc>
                <a:spcPts val="2285"/>
              </a:lnSpc>
              <a:spcBef>
                <a:spcPts val="516"/>
              </a:spcBef>
              <a:buFont typeface="Wingdings"/>
              <a:buChar char=""/>
              <a:tabLst>
                <a:tab pos="717215" algn="l"/>
              </a:tabLst>
            </a:pPr>
            <a:r>
              <a:rPr sz="2118" dirty="0">
                <a:latin typeface="Calibri"/>
                <a:cs typeface="Calibri"/>
              </a:rPr>
              <a:t>In</a:t>
            </a:r>
            <a:r>
              <a:rPr sz="2118" spc="-57" dirty="0">
                <a:latin typeface="Calibri"/>
                <a:cs typeface="Calibri"/>
              </a:rPr>
              <a:t> </a:t>
            </a:r>
            <a:r>
              <a:rPr sz="2118" spc="-9" dirty="0">
                <a:latin typeface="Calibri"/>
                <a:cs typeface="Calibri"/>
              </a:rPr>
              <a:t>general,</a:t>
            </a:r>
            <a:r>
              <a:rPr sz="2118" spc="-44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the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algorithm</a:t>
            </a:r>
            <a:r>
              <a:rPr sz="2118" spc="-62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consists</a:t>
            </a:r>
            <a:r>
              <a:rPr sz="2118" spc="-53" dirty="0">
                <a:latin typeface="Calibri"/>
                <a:cs typeface="Calibri"/>
              </a:rPr>
              <a:t> </a:t>
            </a:r>
            <a:r>
              <a:rPr sz="2118" dirty="0">
                <a:latin typeface="Calibri"/>
                <a:cs typeface="Calibri"/>
              </a:rPr>
              <a:t>of</a:t>
            </a:r>
            <a:r>
              <a:rPr sz="2118" spc="-49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four</a:t>
            </a:r>
            <a:r>
              <a:rPr sz="2118" u="heavy" spc="-4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main</a:t>
            </a:r>
            <a:r>
              <a:rPr sz="2118" u="heavy" spc="-57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stages:</a:t>
            </a:r>
            <a:r>
              <a:rPr sz="2118" u="heavy" spc="-4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setup,</a:t>
            </a:r>
            <a:r>
              <a:rPr sz="2118" spc="-9" dirty="0"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encryption,</a:t>
            </a:r>
            <a:r>
              <a:rPr sz="2118" u="heavy" spc="-8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publish</a:t>
            </a:r>
            <a:r>
              <a:rPr sz="2118" u="heavy" spc="-7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118" u="heavy" spc="-7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118" u="heavy" spc="-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decryption</a:t>
            </a:r>
            <a:r>
              <a:rPr sz="2118" spc="-9" dirty="0">
                <a:latin typeface="Calibri"/>
                <a:cs typeface="Calibri"/>
              </a:rPr>
              <a:t>.</a:t>
            </a:r>
            <a:endParaRPr sz="2118">
              <a:latin typeface="Calibri"/>
              <a:cs typeface="Calibri"/>
            </a:endParaRPr>
          </a:p>
          <a:p>
            <a:pPr marL="11206" marR="4483">
              <a:spcBef>
                <a:spcPts val="843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M.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Singh,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M.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Rajan,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53" dirty="0">
                <a:latin typeface="Calibri"/>
                <a:cs typeface="Calibri"/>
              </a:rPr>
              <a:t>V.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Shivraj,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and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75" dirty="0">
                <a:latin typeface="Calibri"/>
                <a:cs typeface="Calibri"/>
              </a:rPr>
              <a:t>P.</a:t>
            </a:r>
            <a:r>
              <a:rPr sz="1059" spc="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Balamuralidhar, </a:t>
            </a:r>
            <a:r>
              <a:rPr sz="1059" dirty="0">
                <a:latin typeface="Calibri"/>
                <a:cs typeface="Calibri"/>
              </a:rPr>
              <a:t>"Secure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MQTT</a:t>
            </a:r>
            <a:r>
              <a:rPr sz="1059" spc="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for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Internet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of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Things (IoT),"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in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Fifth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International Conference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on </a:t>
            </a:r>
            <a:r>
              <a:rPr sz="1059" spc="-9" dirty="0">
                <a:latin typeface="Calibri"/>
                <a:cs typeface="Calibri"/>
              </a:rPr>
              <a:t>Communication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Systems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and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Network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Technologies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(CSNT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2015), April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2015,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pp.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746‐751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3647" y="1560082"/>
            <a:ext cx="7095004" cy="25930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313781" marR="192190" indent="-302575">
              <a:spcBef>
                <a:spcPts val="88"/>
              </a:spcBef>
              <a:buFont typeface="Wingdings"/>
              <a:buChar char=""/>
              <a:tabLst>
                <a:tab pos="313781" algn="l"/>
              </a:tabLst>
            </a:pPr>
            <a:r>
              <a:rPr sz="1941" dirty="0">
                <a:latin typeface="Calibri"/>
                <a:cs typeface="Calibri"/>
              </a:rPr>
              <a:t>In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setup</a:t>
            </a:r>
            <a:r>
              <a:rPr sz="1941" u="heavy" spc="-31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phase</a:t>
            </a:r>
            <a:r>
              <a:rPr sz="1941" dirty="0">
                <a:latin typeface="Calibri"/>
                <a:cs typeface="Calibri"/>
              </a:rPr>
              <a:t>,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subscribers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publishers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register </a:t>
            </a:r>
            <a:r>
              <a:rPr sz="1941" dirty="0">
                <a:latin typeface="Calibri"/>
                <a:cs typeface="Calibri"/>
              </a:rPr>
              <a:t>themselves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broker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6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get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master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secret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key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according</a:t>
            </a:r>
            <a:r>
              <a:rPr sz="1941" spc="-57" dirty="0">
                <a:latin typeface="Calibri"/>
                <a:cs typeface="Calibri"/>
              </a:rPr>
              <a:t> </a:t>
            </a:r>
            <a:r>
              <a:rPr sz="1941" spc="-22" dirty="0">
                <a:latin typeface="Calibri"/>
                <a:cs typeface="Calibri"/>
              </a:rPr>
              <a:t>to </a:t>
            </a:r>
            <a:r>
              <a:rPr sz="1941" dirty="0">
                <a:latin typeface="Calibri"/>
                <a:cs typeface="Calibri"/>
              </a:rPr>
              <a:t>their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developer’s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choice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of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key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generation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algorithm.</a:t>
            </a:r>
            <a:endParaRPr sz="1941" dirty="0">
              <a:latin typeface="Calibri"/>
              <a:cs typeface="Calibri"/>
            </a:endParaRPr>
          </a:p>
          <a:p>
            <a:pPr marL="313781" marR="155210" indent="-302575">
              <a:spcBef>
                <a:spcPts val="468"/>
              </a:spcBef>
              <a:buFont typeface="Wingdings"/>
              <a:buChar char=""/>
              <a:tabLst>
                <a:tab pos="313781" algn="l"/>
              </a:tabLst>
            </a:pPr>
            <a:r>
              <a:rPr sz="1941" dirty="0">
                <a:latin typeface="Calibri"/>
                <a:cs typeface="Calibri"/>
              </a:rPr>
              <a:t>When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1941" u="heavy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941" u="heavy" spc="-18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941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published</a:t>
            </a:r>
            <a:r>
              <a:rPr sz="1941" dirty="0">
                <a:latin typeface="Calibri"/>
                <a:cs typeface="Calibri"/>
              </a:rPr>
              <a:t>,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it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encrypted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published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by</a:t>
            </a:r>
            <a:r>
              <a:rPr sz="1941" spc="-22" dirty="0">
                <a:latin typeface="Calibri"/>
                <a:cs typeface="Calibri"/>
              </a:rPr>
              <a:t> the </a:t>
            </a:r>
            <a:r>
              <a:rPr sz="1941" spc="-9" dirty="0">
                <a:latin typeface="Calibri"/>
                <a:cs typeface="Calibri"/>
              </a:rPr>
              <a:t>broker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which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sends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it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1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18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subscribers,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which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finally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decrypted </a:t>
            </a:r>
            <a:r>
              <a:rPr sz="1941" dirty="0">
                <a:latin typeface="Calibri"/>
                <a:cs typeface="Calibri"/>
              </a:rPr>
              <a:t>at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subscriber</a:t>
            </a:r>
            <a:r>
              <a:rPr sz="1941" spc="-49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end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having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same</a:t>
            </a:r>
            <a:r>
              <a:rPr sz="1941" spc="-26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master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secret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18" dirty="0">
                <a:latin typeface="Calibri"/>
                <a:cs typeface="Calibri"/>
              </a:rPr>
              <a:t>key.</a:t>
            </a:r>
            <a:endParaRPr sz="1941" dirty="0">
              <a:latin typeface="Calibri"/>
              <a:cs typeface="Calibri"/>
            </a:endParaRPr>
          </a:p>
          <a:p>
            <a:pPr marL="313221" indent="-302015">
              <a:spcBef>
                <a:spcPts val="463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dirty="0">
                <a:latin typeface="Calibri"/>
                <a:cs typeface="Calibri"/>
              </a:rPr>
              <a:t>The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key</a:t>
            </a:r>
            <a:r>
              <a:rPr sz="1941" spc="-35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generation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and</a:t>
            </a:r>
            <a:r>
              <a:rPr sz="1941" spc="-53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encryption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algorithms</a:t>
            </a:r>
            <a:r>
              <a:rPr sz="1941" spc="-44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are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not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standardized.</a:t>
            </a:r>
            <a:endParaRPr sz="1941" dirty="0">
              <a:latin typeface="Calibri"/>
              <a:cs typeface="Calibri"/>
            </a:endParaRPr>
          </a:p>
          <a:p>
            <a:pPr marL="313221" indent="-302015">
              <a:spcBef>
                <a:spcPts val="468"/>
              </a:spcBef>
              <a:buFont typeface="Wingdings"/>
              <a:buChar char=""/>
              <a:tabLst>
                <a:tab pos="313221" algn="l"/>
              </a:tabLst>
            </a:pPr>
            <a:r>
              <a:rPr sz="1941" dirty="0">
                <a:latin typeface="Calibri"/>
                <a:cs typeface="Calibri"/>
              </a:rPr>
              <a:t>SMQTT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is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proposed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only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to</a:t>
            </a:r>
            <a:r>
              <a:rPr sz="1941" spc="-22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enhance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MQTT</a:t>
            </a:r>
            <a:r>
              <a:rPr sz="1941" spc="-31" dirty="0">
                <a:latin typeface="Calibri"/>
                <a:cs typeface="Calibri"/>
              </a:rPr>
              <a:t> </a:t>
            </a:r>
            <a:r>
              <a:rPr sz="1941" dirty="0">
                <a:latin typeface="Calibri"/>
                <a:cs typeface="Calibri"/>
              </a:rPr>
              <a:t>security</a:t>
            </a:r>
            <a:r>
              <a:rPr sz="1941" spc="-40" dirty="0">
                <a:latin typeface="Calibri"/>
                <a:cs typeface="Calibri"/>
              </a:rPr>
              <a:t> </a:t>
            </a:r>
            <a:r>
              <a:rPr sz="1941" spc="-9" dirty="0">
                <a:latin typeface="Calibri"/>
                <a:cs typeface="Calibri"/>
              </a:rPr>
              <a:t>features.</a:t>
            </a:r>
            <a:endParaRPr sz="1941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xfrm>
            <a:off x="6166358" y="6093259"/>
            <a:ext cx="257429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400" b="0" i="0">
                <a:solidFill>
                  <a:srgbClr val="FFFF00"/>
                </a:solidFill>
                <a:latin typeface="Arial MT"/>
                <a:cs typeface="Arial MT"/>
              </a:defRPr>
            </a:lvl1pPr>
          </a:lstStyle>
          <a:p>
            <a:pPr marL="11206">
              <a:lnSpc>
                <a:spcPts val="1452"/>
              </a:lnSpc>
            </a:pPr>
            <a:r>
              <a:rPr lang="en-US"/>
              <a:t>Introduction</a:t>
            </a:r>
            <a:r>
              <a:rPr lang="en-US" spc="-20"/>
              <a:t> </a:t>
            </a:r>
            <a:r>
              <a:rPr lang="en-US"/>
              <a:t>to</a:t>
            </a:r>
            <a:r>
              <a:rPr lang="en-US" spc="-5"/>
              <a:t> </a:t>
            </a:r>
            <a:r>
              <a:rPr lang="en-US"/>
              <a:t>Internet</a:t>
            </a:r>
            <a:r>
              <a:rPr lang="en-US" spc="-20"/>
              <a:t> </a:t>
            </a:r>
            <a:r>
              <a:rPr lang="en-US"/>
              <a:t>of</a:t>
            </a:r>
            <a:r>
              <a:rPr lang="en-US" spc="-35"/>
              <a:t> </a:t>
            </a:r>
            <a:r>
              <a:rPr lang="en-US" spc="-10"/>
              <a:t>Things</a:t>
            </a:r>
            <a:endParaRPr spc="-9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59773" y="6143496"/>
            <a:ext cx="243331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200" b="0" i="0">
                <a:solidFill>
                  <a:srgbClr val="898989"/>
                </a:solidFill>
                <a:latin typeface="Calibri"/>
                <a:cs typeface="Calibri"/>
              </a:defRPr>
            </a:lvl1pPr>
          </a:lstStyle>
          <a:p>
            <a:pPr marL="114935">
              <a:lnSpc>
                <a:spcPts val="1240"/>
              </a:lnSpc>
            </a:pPr>
            <a:fld id="{81D60167-4931-47E6-BA6A-407CBD079E47}" type="slidenum">
              <a:rPr lang="en-US" spc="-50" smtClean="0"/>
              <a:pPr marL="114935">
                <a:lnSpc>
                  <a:spcPts val="1240"/>
                </a:lnSpc>
              </a:pPr>
              <a:t>60</a:t>
            </a:fld>
            <a:endParaRPr spc="-22" dirty="0"/>
          </a:p>
        </p:txBody>
      </p:sp>
      <p:sp>
        <p:nvSpPr>
          <p:cNvPr id="3" name="object 3"/>
          <p:cNvSpPr txBox="1"/>
          <p:nvPr/>
        </p:nvSpPr>
        <p:spPr>
          <a:xfrm>
            <a:off x="2130443" y="4660301"/>
            <a:ext cx="7658660" cy="337302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>
              <a:spcBef>
                <a:spcPts val="88"/>
              </a:spcBef>
            </a:pPr>
            <a:r>
              <a:rPr sz="1059" b="1" dirty="0">
                <a:latin typeface="Calibri"/>
                <a:cs typeface="Calibri"/>
              </a:rPr>
              <a:t>Source:</a:t>
            </a:r>
            <a:r>
              <a:rPr sz="1059" b="1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M.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Singh,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M.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Rajan,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53" dirty="0">
                <a:latin typeface="Calibri"/>
                <a:cs typeface="Calibri"/>
              </a:rPr>
              <a:t>V.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Shivraj,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and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75" dirty="0">
                <a:latin typeface="Calibri"/>
                <a:cs typeface="Calibri"/>
              </a:rPr>
              <a:t>P.</a:t>
            </a:r>
            <a:r>
              <a:rPr sz="1059" spc="9" dirty="0">
                <a:latin typeface="Calibri"/>
                <a:cs typeface="Calibri"/>
              </a:rPr>
              <a:t> </a:t>
            </a:r>
            <a:r>
              <a:rPr sz="1059" spc="-18" dirty="0">
                <a:latin typeface="Calibri"/>
                <a:cs typeface="Calibri"/>
              </a:rPr>
              <a:t>Balamuralidhar, </a:t>
            </a:r>
            <a:r>
              <a:rPr sz="1059" dirty="0">
                <a:latin typeface="Calibri"/>
                <a:cs typeface="Calibri"/>
              </a:rPr>
              <a:t>"Secure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MQTT</a:t>
            </a:r>
            <a:r>
              <a:rPr sz="1059" spc="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for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Internet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of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Things (IoT),"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in</a:t>
            </a:r>
            <a:r>
              <a:rPr sz="1059" spc="-9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Fifth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International Conference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22" dirty="0">
                <a:latin typeface="Calibri"/>
                <a:cs typeface="Calibri"/>
              </a:rPr>
              <a:t>on </a:t>
            </a:r>
            <a:r>
              <a:rPr sz="1059" spc="-9" dirty="0">
                <a:latin typeface="Calibri"/>
                <a:cs typeface="Calibri"/>
              </a:rPr>
              <a:t>Communication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Systems</a:t>
            </a:r>
            <a:r>
              <a:rPr sz="1059" spc="-18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and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Network</a:t>
            </a:r>
            <a:r>
              <a:rPr sz="1059" spc="-13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Technologies</a:t>
            </a:r>
            <a:r>
              <a:rPr sz="1059" spc="-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(CSNT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2015), April</a:t>
            </a:r>
            <a:r>
              <a:rPr sz="1059" spc="-22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2015,</a:t>
            </a:r>
            <a:r>
              <a:rPr sz="1059" spc="4" dirty="0">
                <a:latin typeface="Calibri"/>
                <a:cs typeface="Calibri"/>
              </a:rPr>
              <a:t> </a:t>
            </a:r>
            <a:r>
              <a:rPr sz="1059" dirty="0">
                <a:latin typeface="Calibri"/>
                <a:cs typeface="Calibri"/>
              </a:rPr>
              <a:t>pp.</a:t>
            </a:r>
            <a:r>
              <a:rPr sz="1059" spc="-26" dirty="0">
                <a:latin typeface="Calibri"/>
                <a:cs typeface="Calibri"/>
              </a:rPr>
              <a:t> </a:t>
            </a:r>
            <a:r>
              <a:rPr sz="1059" spc="-9" dirty="0">
                <a:latin typeface="Calibri"/>
                <a:cs typeface="Calibri"/>
              </a:rPr>
              <a:t>746‐751</a:t>
            </a:r>
            <a:endParaRPr sz="1059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D54B8-4342-D7C9-9171-ECE880F65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36524"/>
            <a:ext cx="10157354" cy="6035676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en-US" sz="96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01DCF-269C-E012-BEDD-563CF007B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A5C78-C505-4C37-8276-4A615E5DBFD8}" type="datetime1">
              <a:rPr lang="en-US" smtClean="0"/>
              <a:t>26-Oct-25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606EC-FAE1-8900-664A-1CDC6A5C0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3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1129</TotalTime>
  <Words>3811</Words>
  <Application>Microsoft Office PowerPoint</Application>
  <PresentationFormat>Custom</PresentationFormat>
  <Paragraphs>644</Paragraphs>
  <Slides>61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71" baseType="lpstr">
      <vt:lpstr>굴림</vt:lpstr>
      <vt:lpstr>Arial</vt:lpstr>
      <vt:lpstr>Arial MT</vt:lpstr>
      <vt:lpstr>Calibri</vt:lpstr>
      <vt:lpstr>Calibri Light</vt:lpstr>
      <vt:lpstr>Century Gothic</vt:lpstr>
      <vt:lpstr>Tahoma</vt:lpstr>
      <vt:lpstr>Times New Roman</vt:lpstr>
      <vt:lpstr>Wingdings</vt:lpstr>
      <vt:lpstr>Retrospect</vt:lpstr>
      <vt:lpstr>Internet of Things</vt:lpstr>
      <vt:lpstr>Convergence of Domains</vt:lpstr>
      <vt:lpstr>IoT Components</vt:lpstr>
      <vt:lpstr>PowerPoint Presentation</vt:lpstr>
      <vt:lpstr>Functional Components of IoT</vt:lpstr>
      <vt:lpstr>An Example IoT Implementation</vt:lpstr>
      <vt:lpstr>IoT Interdependencies</vt:lpstr>
      <vt:lpstr>IoT Service Oriented Architecture</vt:lpstr>
      <vt:lpstr>IoT Categories</vt:lpstr>
      <vt:lpstr>IoT Gateways</vt:lpstr>
      <vt:lpstr>IoT and Associated Technologies</vt:lpstr>
      <vt:lpstr>Technical Deviations from Regular Web</vt:lpstr>
      <vt:lpstr>Key Technologies for IoT</vt:lpstr>
      <vt:lpstr>IoT Challenges</vt:lpstr>
      <vt:lpstr>Considerations</vt:lpstr>
      <vt:lpstr>Complexity of Networks</vt:lpstr>
      <vt:lpstr>Wireless Networks</vt:lpstr>
      <vt:lpstr>Scalability</vt:lpstr>
      <vt:lpstr>Introduction</vt:lpstr>
      <vt:lpstr>RFID Features</vt:lpstr>
      <vt:lpstr>Working Principle</vt:lpstr>
      <vt:lpstr>PowerPoint Presentation</vt:lpstr>
      <vt:lpstr>Applications</vt:lpstr>
      <vt:lpstr>ZigBee</vt:lpstr>
      <vt:lpstr>PowerPoint Presentation</vt:lpstr>
      <vt:lpstr>Bluetooth Low Energy (BLE)</vt:lpstr>
      <vt:lpstr>How much Energy does Traditional Bluetooth Use?</vt:lpstr>
      <vt:lpstr>What is Bluetooth Low Energy?</vt:lpstr>
      <vt:lpstr>Basic Concepts of Bluetooth 4.0</vt:lpstr>
      <vt:lpstr>Bluetooth Low Energy Factsheet</vt:lpstr>
      <vt:lpstr>PowerPoint Presentation</vt:lpstr>
      <vt:lpstr>Designed for Exposing State</vt:lpstr>
      <vt:lpstr>6LoWPAN</vt:lpstr>
      <vt:lpstr>Introduction</vt:lpstr>
      <vt:lpstr>Features of 6LoWPANs</vt:lpstr>
      <vt:lpstr>Addressing in 6LoWPAN</vt:lpstr>
      <vt:lpstr>6LowPAN Packet Format</vt:lpstr>
      <vt:lpstr>Header Type: Dispatch Header</vt:lpstr>
      <vt:lpstr>Header Type: Mesh Addressing Header</vt:lpstr>
      <vt:lpstr>Header Type: Fragmentation Header</vt:lpstr>
      <vt:lpstr>6LoWPAN Routing Considerations</vt:lpstr>
      <vt:lpstr>LOADng Routing</vt:lpstr>
      <vt:lpstr>PowerPoint Presentation</vt:lpstr>
      <vt:lpstr>Routing Protocol for Low Power and Lossy Networks  (RPL Routing)</vt:lpstr>
      <vt:lpstr>PowerPoint Presentation</vt:lpstr>
      <vt:lpstr>RFID</vt:lpstr>
      <vt:lpstr>Functionality-based IoT Protocol Organization</vt:lpstr>
      <vt:lpstr>MQTT</vt:lpstr>
      <vt:lpstr>Introduction</vt:lpstr>
      <vt:lpstr>PowerPoint Presentation</vt:lpstr>
      <vt:lpstr>MQTT Components</vt:lpstr>
      <vt:lpstr>MQTT Methods</vt:lpstr>
      <vt:lpstr>PowerPoint Presentation</vt:lpstr>
      <vt:lpstr>Communication</vt:lpstr>
      <vt:lpstr>PowerPoint Presentation</vt:lpstr>
      <vt:lpstr>MQTT Topics</vt:lpstr>
      <vt:lpstr>PowerPoint Presentation</vt:lpstr>
      <vt:lpstr>Applications</vt:lpstr>
      <vt:lpstr>SMQTT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Raihan Ul Islam</dc:creator>
  <cp:lastModifiedBy>Dr. Raihan Ul Islam</cp:lastModifiedBy>
  <cp:revision>57</cp:revision>
  <dcterms:created xsi:type="dcterms:W3CDTF">2023-11-06T21:34:41Z</dcterms:created>
  <dcterms:modified xsi:type="dcterms:W3CDTF">2025-10-26T07:25:57Z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